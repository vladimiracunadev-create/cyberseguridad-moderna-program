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169 — Ofuscación de payloads y bypass de AMSI</a:t>
            </a:r>
          </a:p>
          <a:p>
            <a:r>
              <a:rPr sz="1600">
                <a:solidFill>
                  <a:srgbClr val="2E8B57"/>
                </a:solidFill>
              </a:rPr>
              <a:t>parte 7 red team y operaciones ofensivas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Comprender AMSI (Antimalware Scan Interface) y las técnicas de ofuscación de payloads que lo evaden, entendiendo el mecanismo en profundidad. El alumno verá cómo AMSI inspecciona scripts en memoria (PowerShell, VBA, JScript), por qué la ofuscación simple ya no basta, y las estrategias de bypass responsables, con foco en cómo se detectan.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el funcionamiento de AMSI y qué motores lo consumen.</a:t>
            </a:r>
          </a:p>
          <a:p>
            <a:pPr>
              <a:spcAft>
                <a:spcPts val="600"/>
              </a:spcAft>
            </a:pPr>
            <a:r>
              <a:rPr sz="1500">
                <a:solidFill>
                  <a:srgbClr val="22282E"/>
                </a:solidFill>
              </a:rPr>
              <a:t>•  Aplicar ofuscación a scripts y evaluar su efectividad.</a:t>
            </a:r>
          </a:p>
          <a:p>
            <a:pPr>
              <a:spcAft>
                <a:spcPts val="600"/>
              </a:spcAft>
            </a:pPr>
            <a:r>
              <a:rPr sz="1500">
                <a:solidFill>
                  <a:srgbClr val="22282E"/>
                </a:solidFill>
              </a:rPr>
              <a:t>•  Describir las categorías de bypass de AMSI (memory patching, providers, downgrade).</a:t>
            </a:r>
          </a:p>
          <a:p>
            <a:pPr>
              <a:spcAft>
                <a:spcPts val="600"/>
              </a:spcAft>
            </a:pPr>
            <a:r>
              <a:rPr sz="1500">
                <a:solidFill>
                  <a:srgbClr val="22282E"/>
                </a:solidFill>
              </a:rPr>
              <a:t>•  Reconocer por qué un bypass "público" deja de funcionar.</a:t>
            </a:r>
          </a:p>
          <a:p>
            <a:pPr>
              <a:spcAft>
                <a:spcPts val="600"/>
              </a:spcAft>
            </a:pPr>
            <a:r>
              <a:rPr sz="1500">
                <a:solidFill>
                  <a:srgbClr val="22282E"/>
                </a:solidFill>
              </a:rPr>
              <a:t>•  Detectar los IOCs que deja un intento de bypass.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Qué es AMSI</a:t>
            </a:r>
          </a:p>
          <a:p>
            <a:pPr>
              <a:spcAft>
                <a:spcPts val="600"/>
              </a:spcAft>
            </a:pPr>
            <a:r>
              <a:rPr sz="1500">
                <a:solidFill>
                  <a:srgbClr val="22282E"/>
                </a:solidFill>
              </a:rPr>
              <a:t>•  2 — Integraciones (PowerShell, VBA, .NET)</a:t>
            </a:r>
          </a:p>
          <a:p>
            <a:pPr>
              <a:spcAft>
                <a:spcPts val="600"/>
              </a:spcAft>
            </a:pPr>
            <a:r>
              <a:rPr sz="1500">
                <a:solidFill>
                  <a:srgbClr val="22282E"/>
                </a:solidFill>
              </a:rPr>
              <a:t>•  3 — Ofuscación de scripts</a:t>
            </a:r>
          </a:p>
          <a:p>
            <a:pPr>
              <a:spcAft>
                <a:spcPts val="600"/>
              </a:spcAft>
            </a:pPr>
            <a:r>
              <a:rPr sz="1500">
                <a:solidFill>
                  <a:srgbClr val="22282E"/>
                </a:solidFill>
              </a:rPr>
              <a:t>•  4 — AMSI memory patch</a:t>
            </a:r>
          </a:p>
          <a:p>
            <a:pPr>
              <a:spcAft>
                <a:spcPts val="600"/>
              </a:spcAft>
            </a:pPr>
            <a:r>
              <a:rPr sz="1500">
                <a:solidFill>
                  <a:srgbClr val="22282E"/>
                </a:solidFill>
              </a:rPr>
              <a:t>•  5 — Downgrade y forzar errores</a:t>
            </a:r>
          </a:p>
          <a:p>
            <a:pPr>
              <a:spcAft>
                <a:spcPts val="600"/>
              </a:spcAft>
            </a:pPr>
            <a:r>
              <a:rPr sz="1500">
                <a:solidFill>
                  <a:srgbClr val="22282E"/>
                </a:solidFill>
              </a:rPr>
              <a:t>•  6 — Detección de bypass</a:t>
            </a:r>
          </a:p>
          <a:p>
            <a:pPr>
              <a:spcAft>
                <a:spcPts val="600"/>
              </a:spcAft>
            </a:pPr>
            <a:r>
              <a:rPr sz="1500">
                <a:solidFill>
                  <a:srgbClr val="22282E"/>
                </a:solidFill>
              </a:rPr>
              <a:t>•  7 — Ofuscación de binarios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AMSI: interfaz de Windows que permite a los antivirus escanear contenido (scripts, macros) justo antes de ejecutarse. Característica: ve el código ya "desofuscado" en memoria.</a:t>
            </a:r>
          </a:p>
          <a:p>
            <a:pPr>
              <a:spcAft>
                <a:spcPts val="600"/>
              </a:spcAft>
            </a:pPr>
            <a:r>
              <a:rPr sz="1500">
                <a:solidFill>
                  <a:srgbClr val="22282E"/>
                </a:solidFill>
              </a:rPr>
              <a:t>•  Ofuscación: transformar el código para romper firmas manteniendo la funcionalidad. Característica: derrota firmas, no comportamiento.</a:t>
            </a:r>
          </a:p>
          <a:p>
            <a:pPr>
              <a:spcAft>
                <a:spcPts val="600"/>
              </a:spcAft>
            </a:pPr>
            <a:r>
              <a:rPr sz="1500">
                <a:solidFill>
                  <a:srgbClr val="22282E"/>
                </a:solidFill>
              </a:rPr>
              <a:t>•  AMSI bypass (memory patch): modificar en memoria la función que devuelve el resultado del scan (ej. AmsiScanBuffer) para que siempre diga "limpio". Característica: muy usado y muy detectado.</a:t>
            </a:r>
          </a:p>
          <a:p>
            <a:pPr>
              <a:spcAft>
                <a:spcPts val="600"/>
              </a:spcAft>
            </a:pPr>
            <a:r>
              <a:rPr sz="1500">
                <a:solidFill>
                  <a:srgbClr val="22282E"/>
                </a:solidFill>
              </a:rPr>
              <a:t>•  Downgrade: forzar el uso de PowerShell v2 (sin AMSI). Característica: evita AMSI si la v2 está disponible.</a:t>
            </a:r>
          </a:p>
          <a:p>
            <a:pPr>
              <a:spcAft>
                <a:spcPts val="600"/>
              </a:spcAft>
            </a:pPr>
            <a:r>
              <a:rPr sz="1500">
                <a:solidFill>
                  <a:srgbClr val="22282E"/>
                </a:solidFill>
              </a:rPr>
              <a:t>•  Provider tampering: manipular el proveedor de AMSI registrado. Característica: técnica más sigilosa pero compleja.</a:t>
            </a:r>
          </a:p>
          <a:p>
            <a:pPr>
              <a:spcAft>
                <a:spcPts val="600"/>
              </a:spcAft>
            </a:pPr>
            <a:r>
              <a:rPr sz="1500">
                <a:solidFill>
                  <a:srgbClr val="22282E"/>
                </a:solidFill>
              </a:rPr>
              <a:t>•  String obfuscation / encoding: dividir y codificar cadenas sospechosas. Característica: primer nivel de evasión estática.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Windows con PowerShell 5+ y Microsoft Defender activo (en VM de laboratorio).</a:t>
            </a:r>
          </a:p>
          <a:p>
            <a:pPr>
              <a:spcAft>
                <a:spcPts val="600"/>
              </a:spcAft>
            </a:pPr>
            <a:r>
              <a:rPr sz="1500">
                <a:solidFill>
                  <a:srgbClr val="22282E"/>
                </a:solidFill>
              </a:rPr>
              <a:t>•  Herramientas de ofuscación de estudio (Invoke-Obfuscation como referencia histórica) y editores de scripts.</a:t>
            </a:r>
          </a:p>
          <a:p>
            <a:pPr>
              <a:spcAft>
                <a:spcPts val="600"/>
              </a:spcAft>
            </a:pPr>
            <a:r>
              <a:rPr sz="1500">
                <a:solidFill>
                  <a:srgbClr val="22282E"/>
                </a:solidFill>
              </a:rPr>
              <a:t>•  Sysmon + Script Block Logging (Parte 8) para observar la detección.</a:t>
            </a:r>
          </a:p>
          <a:p>
            <a:pPr>
              <a:spcAft>
                <a:spcPts val="600"/>
              </a:spcAft>
            </a:pPr>
            <a:r>
              <a:rPr sz="1500">
                <a:solidFill>
                  <a:srgbClr val="22282E"/>
                </a:solidFill>
              </a:rPr>
              <a:t>•  El C2 previo para probar la entrega de scripts evadidos.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Provoca una detección. En PowerShell del lab, ejecuta una cadena claramente maliciosa conocida (ej. la firma de prueba de AMSI) y observa que Defender la bloquea.</a:t>
            </a:r>
          </a:p>
          <a:p>
            <a:pPr>
              <a:spcAft>
                <a:spcPts val="600"/>
              </a:spcAft>
            </a:pPr>
            <a:r>
              <a:rPr sz="1500">
                <a:solidFill>
                  <a:srgbClr val="22282E"/>
                </a:solidFill>
              </a:rPr>
              <a:t>•  Entiende dónde escanea AMSI. Comprueba que la detección ocurre en memoria al ejecutar, no al guardar el archivo: AMSI ve el contenido tras la desofuscación superficial.</a:t>
            </a:r>
          </a:p>
          <a:p>
            <a:pPr>
              <a:spcAft>
                <a:spcPts val="600"/>
              </a:spcAft>
            </a:pPr>
            <a:r>
              <a:rPr sz="1500">
                <a:solidFill>
                  <a:srgbClr val="22282E"/>
                </a:solidFill>
              </a:rPr>
              <a:t>•  Ofuscación básica. Divide y concatena las cadenas sospechosas; observa si la firma estática deja de coincidir y por qué AMSI puede seguir viéndolo en runtime.</a:t>
            </a:r>
          </a:p>
          <a:p>
            <a:pPr>
              <a:spcAft>
                <a:spcPts val="600"/>
              </a:spcAft>
            </a:pPr>
            <a:r>
              <a:rPr sz="1500">
                <a:solidFill>
                  <a:srgbClr val="22282E"/>
                </a:solidFill>
              </a:rPr>
              <a:t>•  Estudia el memory patch. Analiza conceptualmente cómo un bypass parchea el retorno de AmsiScanBuffer; ejecútalo en el lab y verifica que un script antes bloqueado ahora corre.</a:t>
            </a:r>
          </a:p>
          <a:p>
            <a:pPr>
              <a:spcAft>
                <a:spcPts val="600"/>
              </a:spcAft>
            </a:pPr>
            <a:r>
              <a:rPr sz="1500">
                <a:solidFill>
                  <a:srgbClr val="22282E"/>
                </a:solidFill>
              </a:rPr>
              <a:t>•  Downgrade (si aplica). Prueba invocar powershell -version 2 en un sistema que lo permita y comprueba la ausencia de AMSI (documenta que en sistemas endurecidos v2 no está).</a:t>
            </a:r>
          </a:p>
          <a:p>
            <a:pPr>
              <a:spcAft>
                <a:spcPts val="600"/>
              </a:spcAft>
            </a:pPr>
            <a:r>
              <a:rPr sz="1500">
                <a:solidFill>
                  <a:srgbClr val="22282E"/>
                </a:solidFill>
              </a:rPr>
              <a:t>•  Observa la detección. Con Script Block Logging activo, revisa cómo el Blue Team ve el bypass (patrones de reflexión, [Ref].Assembly, strings característicos).</a:t>
            </a:r>
          </a:p>
          <a:p>
            <a:pPr>
              <a:spcAft>
                <a:spcPts val="600"/>
              </a:spcAft>
            </a:pPr>
            <a:r>
              <a:rPr sz="1500">
                <a:solidFill>
                  <a:srgbClr val="22282E"/>
                </a:solidFill>
              </a:rPr>
              <a:t>•  Ofuscación de binarios. Compara cómo un packer/cifrado cambia el hash del payload C2 sin cambiar su comportamiento, y por qué el EDR aún lo detecta.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tus palabras qué ventaja tiene AMSI sobre el escaneo de archivos en disco.</a:t>
            </a:r>
          </a:p>
          <a:p>
            <a:pPr>
              <a:spcAft>
                <a:spcPts val="600"/>
              </a:spcAft>
            </a:pPr>
            <a:r>
              <a:rPr sz="1500">
                <a:solidFill>
                  <a:srgbClr val="22282E"/>
                </a:solidFill>
              </a:rPr>
              <a:t>•  Ofusca un script de prueba y evalúa si evade la firma estática.</a:t>
            </a:r>
          </a:p>
          <a:p>
            <a:pPr>
              <a:spcAft>
                <a:spcPts val="600"/>
              </a:spcAft>
            </a:pPr>
            <a:r>
              <a:rPr sz="1500">
                <a:solidFill>
                  <a:srgbClr val="22282E"/>
                </a:solidFill>
              </a:rPr>
              <a:t>•  Describe paso a paso la lógica de un AMSI memory patch.</a:t>
            </a:r>
          </a:p>
          <a:p>
            <a:pPr>
              <a:spcAft>
                <a:spcPts val="600"/>
              </a:spcAft>
            </a:pPr>
            <a:r>
              <a:rPr sz="1500">
                <a:solidFill>
                  <a:srgbClr val="22282E"/>
                </a:solidFill>
              </a:rPr>
              <a:t>•  Explica por qué el downgrade a PS v2 evade AMSI y cómo mitigarlo.</a:t>
            </a:r>
          </a:p>
          <a:p>
            <a:pPr>
              <a:spcAft>
                <a:spcPts val="600"/>
              </a:spcAft>
            </a:pPr>
            <a:r>
              <a:rPr sz="1500">
                <a:solidFill>
                  <a:srgbClr val="22282E"/>
                </a:solidFill>
              </a:rPr>
              <a:t>•  Enumera 4 IOCs que deja un intento de bypass en los logs.</a:t>
            </a:r>
          </a:p>
          <a:p>
            <a:pPr>
              <a:spcAft>
                <a:spcPts val="600"/>
              </a:spcAft>
            </a:pPr>
            <a:r>
              <a:rPr sz="1500">
                <a:solidFill>
                  <a:srgbClr val="22282E"/>
                </a:solidFill>
              </a:rPr>
              <a:t>•  Investiga por qué los bypass públicos "caducan" rápido.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 tu laboratorio, toma un script que Defender bloquea y consigue ejecutarlo aplicando una técnica de bypass de AMSI, documentando cómo el Blue Team lo detectaría.</a:t>
            </a:r>
          </a:p>
          <a:p>
            <a:pPr>
              <a:spcAft>
                <a:spcPts val="600"/>
              </a:spcAft>
            </a:pPr>
            <a:r>
              <a:rPr sz="1500">
                <a:solidFill>
                  <a:srgbClr val="22282E"/>
                </a:solidFill>
              </a:rPr>
              <a:t>•  Criterio de aceptación: demuestras la ejecución del script tras el bypass (antes bloqueado) y entregas una regla o lista de indicadores (Script Block Logging, cadenas, comportamiento) con la que un defensor detectaría tu técnica. Todo en tu VM.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bypass público no funciona — Ya está firmado; entiende el mecanismo y adáptalo</a:t>
            </a:r>
          </a:p>
          <a:p>
            <a:pPr>
              <a:spcAft>
                <a:spcPts val="600"/>
              </a:spcAft>
            </a:pPr>
            <a:r>
              <a:rPr sz="1500">
                <a:solidFill>
                  <a:srgbClr val="22282E"/>
                </a:solidFill>
              </a:rPr>
              <a:t>•  Ofusco pero AMSI sigue detectando — AMSI ve el runtime; la ofuscación estática no basta</a:t>
            </a:r>
          </a:p>
          <a:p>
            <a:pPr>
              <a:spcAft>
                <a:spcPts val="600"/>
              </a:spcAft>
            </a:pPr>
            <a:r>
              <a:rPr sz="1500">
                <a:solidFill>
                  <a:srgbClr val="22282E"/>
                </a:solidFill>
              </a:rPr>
              <a:t>•  Downgrade falla — PS v2 deshabilitado (buen hardening); no hay atajo</a:t>
            </a:r>
          </a:p>
          <a:p>
            <a:pPr>
              <a:spcAft>
                <a:spcPts val="600"/>
              </a:spcAft>
            </a:pPr>
            <a:r>
              <a:rPr sz="1500">
                <a:solidFill>
                  <a:srgbClr val="22282E"/>
                </a:solidFill>
              </a:rPr>
              <a:t>•  El patch bloquea PowerShell — Offset/versión incorrectos; verifica la firma de la función</a:t>
            </a:r>
          </a:p>
          <a:p>
            <a:pPr>
              <a:spcAft>
                <a:spcPts val="600"/>
              </a:spcAft>
            </a:pPr>
            <a:r>
              <a:rPr sz="1500">
                <a:solidFill>
                  <a:srgbClr val="22282E"/>
                </a:solidFill>
              </a:rPr>
              <a:t>•  Script Block Logging te delata — Es telemetría rica; asume que el bypass es visible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¿Ofuscar es suficiente para evadir AMSI?</a:t>
            </a:r>
          </a:p>
          <a:p>
            <a:pPr>
              <a:spcAft>
                <a:spcPts val="600"/>
              </a:spcAft>
            </a:pPr>
            <a:r>
              <a:rPr sz="1500">
                <a:solidFill>
                  <a:srgbClr val="22282E"/>
                </a:solidFill>
              </a:rPr>
              <a:t>•  No. AMSI inspecciona el contenido en memoria tras la desofuscación superficial, así que la ofuscación estática por sí sola raramente basta contra motores actualizados.</a:t>
            </a:r>
          </a:p>
          <a:p>
            <a:pPr>
              <a:spcAft>
                <a:spcPts val="600"/>
              </a:spcAft>
            </a:pPr>
            <a:r>
              <a:rPr sz="1500">
                <a:solidFill>
                  <a:srgbClr val="22282E"/>
                </a:solidFill>
              </a:rPr>
              <a:t>•  ❓ ¿Por qué los bypass de GitHub dejan de funcionar?</a:t>
            </a:r>
          </a:p>
          <a:p>
            <a:pPr>
              <a:spcAft>
                <a:spcPts val="600"/>
              </a:spcAft>
            </a:pPr>
            <a:r>
              <a:rPr sz="1500">
                <a:solidFill>
                  <a:srgbClr val="22282E"/>
                </a:solidFill>
              </a:rPr>
              <a:t>•  Porque en cuanto se publican, Microsoft los firma. La comprensión del mecanismo es lo duradero; el snippet concreto, no.</a:t>
            </a:r>
          </a:p>
          <a:p>
            <a:pPr>
              <a:spcAft>
                <a:spcPts val="600"/>
              </a:spcAft>
            </a:pPr>
            <a:r>
              <a:rPr sz="1500">
                <a:solidFill>
                  <a:srgbClr val="22282E"/>
                </a:solidFill>
              </a:rPr>
              <a:t>•  ❓ ¿Deshabilitar AMSI es lo mismo que evadirlo?</a:t>
            </a:r>
          </a:p>
          <a:p>
            <a:pPr>
              <a:spcAft>
                <a:spcPts val="600"/>
              </a:spcAft>
            </a:pPr>
            <a:r>
              <a:rPr sz="1500">
                <a:solidFill>
                  <a:srgbClr val="22282E"/>
                </a:solidFill>
              </a:rPr>
              <a:t>•  No exactamente: evadir es lograr que no bloquee tu contenido concreto; los memory patches efectivamente lo neutralizan en el proceso, lo cual es muy detectable.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Microsoft — Antimalware Scan Interface (AMSI). &lt;https://learn.microsoft.com/windows/win32/amsi/&gt;</a:t>
            </a:r>
          </a:p>
          <a:p>
            <a:pPr>
              <a:spcAft>
                <a:spcPts val="600"/>
              </a:spcAft>
            </a:pPr>
            <a:r>
              <a:rPr sz="1500">
                <a:solidFill>
                  <a:srgbClr val="22282E"/>
                </a:solidFill>
              </a:rPr>
              <a:t>•  MITRE ATT&amp;CK — Impair Defenses (T1562). &lt;https://attack.mitre.org/techniques/T1562/&gt;</a:t>
            </a:r>
          </a:p>
          <a:p>
            <a:pPr>
              <a:spcAft>
                <a:spcPts val="600"/>
              </a:spcAft>
            </a:pPr>
            <a:r>
              <a:rPr sz="1500">
                <a:solidFill>
                  <a:srgbClr val="22282E"/>
                </a:solidFill>
              </a:rPr>
              <a:t>•  Red Canary / research sobre detección de AMSI bypass.</a:t>
            </a:r>
          </a:p>
          <a:p>
            <a:pPr>
              <a:spcAft>
                <a:spcPts val="600"/>
              </a:spcAft>
            </a:pPr>
            <a:r>
              <a:rPr sz="1500">
                <a:solidFill>
                  <a:srgbClr val="22282E"/>
                </a:solidFill>
              </a:rPr>
              <a:t>•  Clark, B. — RTFM: Red Team Field Manual v2.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