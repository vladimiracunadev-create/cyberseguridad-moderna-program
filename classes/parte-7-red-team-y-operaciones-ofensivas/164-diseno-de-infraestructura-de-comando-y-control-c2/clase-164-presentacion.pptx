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164 — Diseño de infraestructura de comando y control (C2)</a:t>
            </a:r>
          </a:p>
          <a:p>
            <a:r>
              <a:rPr sz="1600">
                <a:solidFill>
                  <a:srgbClr val="2E8B57"/>
                </a:solidFill>
              </a:rPr>
              <a:t>parte 7 red team y operaciones ofensivas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Diseñar infraestructura de C2 resiliente y sigilosa: la red de servidores, redirectores, dominios y canales que un operador usa para controlar sus implantes sin exponer el servidor de comando ni facilitar el bloqueo por parte del defensor. El alumno entenderá la arquitectura por capas, el uso de redirectores, la categorización de dominios y la separación de infraestructura por función.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la arquitectura por capas de una operación (team server, redirectores, dominios).</a:t>
            </a:r>
          </a:p>
          <a:p>
            <a:pPr>
              <a:spcAft>
                <a:spcPts val="600"/>
              </a:spcAft>
            </a:pPr>
            <a:r>
              <a:rPr sz="1500">
                <a:solidFill>
                  <a:srgbClr val="22282E"/>
                </a:solidFill>
              </a:rPr>
              <a:t>•  Configurar un redirector HTTP/HTTPS que oculte el team server.</a:t>
            </a:r>
          </a:p>
          <a:p>
            <a:pPr>
              <a:spcAft>
                <a:spcPts val="600"/>
              </a:spcAft>
            </a:pPr>
            <a:r>
              <a:rPr sz="1500">
                <a:solidFill>
                  <a:srgbClr val="22282E"/>
                </a:solidFill>
              </a:rPr>
              <a:t>•  Seleccionar y categorizar dominios para mimetizar tráfico legítimo.</a:t>
            </a:r>
          </a:p>
          <a:p>
            <a:pPr>
              <a:spcAft>
                <a:spcPts val="600"/>
              </a:spcAft>
            </a:pPr>
            <a:r>
              <a:rPr sz="1500">
                <a:solidFill>
                  <a:srgbClr val="22282E"/>
                </a:solidFill>
              </a:rPr>
              <a:t>•  Separar la infraestructura de staging, C2 de largo plazo y exfiltración.</a:t>
            </a:r>
          </a:p>
          <a:p>
            <a:pPr>
              <a:spcAft>
                <a:spcPts val="600"/>
              </a:spcAft>
            </a:pPr>
            <a:r>
              <a:rPr sz="1500">
                <a:solidFill>
                  <a:srgbClr val="22282E"/>
                </a:solidFill>
              </a:rPr>
              <a:t>•  Diseñar un plan de resiliencia ante bloqueos (rotación, canales alternativos).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Team server</a:t>
            </a:r>
          </a:p>
          <a:p>
            <a:pPr>
              <a:spcAft>
                <a:spcPts val="600"/>
              </a:spcAft>
            </a:pPr>
            <a:r>
              <a:rPr sz="1500">
                <a:solidFill>
                  <a:srgbClr val="22282E"/>
                </a:solidFill>
              </a:rPr>
              <a:t>•  2 — Redirectores</a:t>
            </a:r>
          </a:p>
          <a:p>
            <a:pPr>
              <a:spcAft>
                <a:spcPts val="600"/>
              </a:spcAft>
            </a:pPr>
            <a:r>
              <a:rPr sz="1500">
                <a:solidFill>
                  <a:srgbClr val="22282E"/>
                </a:solidFill>
              </a:rPr>
              <a:t>•  3 — Categorización de dominios</a:t>
            </a:r>
          </a:p>
          <a:p>
            <a:pPr>
              <a:spcAft>
                <a:spcPts val="600"/>
              </a:spcAft>
            </a:pPr>
            <a:r>
              <a:rPr sz="1500">
                <a:solidFill>
                  <a:srgbClr val="22282E"/>
                </a:solidFill>
              </a:rPr>
              <a:t>•  4 — Canales (HTTPS, DNS, SMB)</a:t>
            </a:r>
          </a:p>
          <a:p>
            <a:pPr>
              <a:spcAft>
                <a:spcPts val="600"/>
              </a:spcAft>
            </a:pPr>
            <a:r>
              <a:rPr sz="1500">
                <a:solidFill>
                  <a:srgbClr val="22282E"/>
                </a:solidFill>
              </a:rPr>
              <a:t>•  5 — Domain fronting / CDN</a:t>
            </a:r>
          </a:p>
          <a:p>
            <a:pPr>
              <a:spcAft>
                <a:spcPts val="600"/>
              </a:spcAft>
            </a:pPr>
            <a:r>
              <a:rPr sz="1500">
                <a:solidFill>
                  <a:srgbClr val="22282E"/>
                </a:solidFill>
              </a:rPr>
              <a:t>•  6 — Separación por función</a:t>
            </a:r>
          </a:p>
          <a:p>
            <a:pPr>
              <a:spcAft>
                <a:spcPts val="600"/>
              </a:spcAft>
            </a:pPr>
            <a:r>
              <a:rPr sz="1500">
                <a:solidFill>
                  <a:srgbClr val="22282E"/>
                </a:solidFill>
              </a:rPr>
              <a:t>•  7 — Resiliencia y rotación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Team server: servidor central que gestiona implantes y operadores. Característica: se protege tras redirectores, nunca recibe tráfico del objetivo directamente.</a:t>
            </a:r>
          </a:p>
          <a:p>
            <a:pPr>
              <a:spcAft>
                <a:spcPts val="600"/>
              </a:spcAft>
            </a:pPr>
            <a:r>
              <a:rPr sz="1500">
                <a:solidFill>
                  <a:srgbClr val="22282E"/>
                </a:solidFill>
              </a:rPr>
              <a:t>•  Redirector: proxy (socat, Apache modrewrite, Nginx) que reenvía tráfico válido al team server y descarta el resto. Característica: es sacrificable.</a:t>
            </a:r>
          </a:p>
          <a:p>
            <a:pPr>
              <a:spcAft>
                <a:spcPts val="600"/>
              </a:spcAft>
            </a:pPr>
            <a:r>
              <a:rPr sz="1500">
                <a:solidFill>
                  <a:srgbClr val="22282E"/>
                </a:solidFill>
              </a:rPr>
              <a:t>•  Long-haul vs short-haul C2: canales lentos y sigilosos (persistencia) vs rápidos (trabajo interactivo). Característica: se combinan para equilibrar sigilo y agilidad.</a:t>
            </a:r>
          </a:p>
          <a:p>
            <a:pPr>
              <a:spcAft>
                <a:spcPts val="600"/>
              </a:spcAft>
            </a:pPr>
            <a:r>
              <a:rPr sz="1500">
                <a:solidFill>
                  <a:srgbClr val="22282E"/>
                </a:solidFill>
              </a:rPr>
              <a:t>•  Domain fronting: usar el SNI/host de un CDN legítimo para ocultar el destino real. Característica: cada vez más limitado por los proveedores.</a:t>
            </a:r>
          </a:p>
          <a:p>
            <a:pPr>
              <a:spcAft>
                <a:spcPts val="600"/>
              </a:spcAft>
            </a:pPr>
            <a:r>
              <a:rPr sz="1500">
                <a:solidFill>
                  <a:srgbClr val="22282E"/>
                </a:solidFill>
              </a:rPr>
              <a:t>•  Malleable profile: configuración que define cómo se ve el tráfico C2 (headers, URIs, jitter). Característica: mimetiza aplicaciones legítimas.</a:t>
            </a:r>
          </a:p>
          <a:p>
            <a:pPr>
              <a:spcAft>
                <a:spcPts val="600"/>
              </a:spcAft>
            </a:pPr>
            <a:r>
              <a:rPr sz="1500">
                <a:solidFill>
                  <a:srgbClr val="22282E"/>
                </a:solidFill>
              </a:rPr>
              <a:t>•  Categorización de dominio: clasificar un dominio como "business/health" ante proxies web. Característica: evita bloqueos por reputación.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 VPS de laboratorio (o VMs locales) para team server y redirectores.</a:t>
            </a:r>
          </a:p>
          <a:p>
            <a:pPr>
              <a:spcAft>
                <a:spcPts val="600"/>
              </a:spcAft>
            </a:pPr>
            <a:r>
              <a:rPr sz="1500">
                <a:solidFill>
                  <a:srgbClr val="22282E"/>
                </a:solidFill>
              </a:rPr>
              <a:t>•  socat, nginx/apache2 para redirectores; certbot para TLS válido.</a:t>
            </a:r>
          </a:p>
          <a:p>
            <a:pPr>
              <a:spcAft>
                <a:spcPts val="600"/>
              </a:spcAft>
            </a:pPr>
            <a:r>
              <a:rPr sz="1500">
                <a:solidFill>
                  <a:srgbClr val="22282E"/>
                </a:solidFill>
              </a:rPr>
              <a:t>•  Un dominio de práctica (o /etc/hosts en el lab para simular resolución).</a:t>
            </a:r>
          </a:p>
          <a:p>
            <a:pPr>
              <a:spcAft>
                <a:spcPts val="600"/>
              </a:spcAft>
            </a:pPr>
            <a:r>
              <a:rPr sz="1500">
                <a:solidFill>
                  <a:srgbClr val="22282E"/>
                </a:solidFill>
              </a:rPr>
              <a:t>•  Frameworks C2 que veremos en la Clase 165 (Sliver/Mythic) como consumidores de esta infraestructura.</a:t>
            </a:r>
          </a:p>
          <a:p>
            <a:pPr>
              <a:spcAft>
                <a:spcPts val="600"/>
              </a:spcAft>
            </a:pPr>
            <a:r>
              <a:rPr sz="1500">
                <a:solidFill>
                  <a:srgbClr val="22282E"/>
                </a:solidFill>
              </a:rPr>
              <a:t>•  Terraform/Ansible (opcional) para automatizar el despliegue reproducible.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Levanta el team server en una VM aislada (lo poblaremos con Sliver en la próxima clase). Anota su IP interna.</a:t>
            </a:r>
          </a:p>
          <a:p>
            <a:pPr>
              <a:spcAft>
                <a:spcPts val="600"/>
              </a:spcAft>
            </a:pPr>
            <a:r>
              <a:rPr sz="1500">
                <a:solidFill>
                  <a:srgbClr val="22282E"/>
                </a:solidFill>
              </a:rPr>
              <a:t>•  Despliega un redirector HTTPS con socat:</a:t>
            </a:r>
          </a:p>
          <a:p>
            <a:pPr>
              <a:spcAft>
                <a:spcPts val="600"/>
              </a:spcAft>
            </a:pPr>
            <a:r>
              <a:rPr sz="1500">
                <a:solidFill>
                  <a:srgbClr val="22282E"/>
                </a:solidFill>
              </a:rPr>
              <a:t>•  socat TCP4-LISTEN:443,fork,reuseaddr TCP4:10.10.0.5:443</a:t>
            </a:r>
          </a:p>
          <a:p>
            <a:pPr>
              <a:spcAft>
                <a:spcPts val="600"/>
              </a:spcAft>
            </a:pPr>
            <a:r>
              <a:rPr sz="1500">
                <a:solidFill>
                  <a:srgbClr val="22282E"/>
                </a:solidFill>
              </a:rPr>
              <a:t>•  donde 10.10.0.5 es el team server. El objetivo solo verá el redirector.</a:t>
            </a:r>
          </a:p>
          <a:p>
            <a:pPr>
              <a:spcAft>
                <a:spcPts val="600"/>
              </a:spcAft>
            </a:pPr>
            <a:r>
              <a:rPr sz="1500">
                <a:solidFill>
                  <a:srgbClr val="22282E"/>
                </a:solidFill>
              </a:rPr>
              <a:t>•  Redirector filtrante con Nginx. Configura proxypass solo para las URIs de tu perfil C2 y devuelve un 302 a un sitio legítimo para todo lo demás:</a:t>
            </a:r>
          </a:p>
          <a:p>
            <a:pPr>
              <a:spcAft>
                <a:spcPts val="600"/>
              </a:spcAft>
            </a:pPr>
            <a:r>
              <a:rPr sz="1500">
                <a:solidFill>
                  <a:srgbClr val="22282E"/>
                </a:solidFill>
              </a:rPr>
              <a:t>•  location /api/v1/updates { proxypass https://10.10.0.5; }</a:t>
            </a:r>
          </a:p>
          <a:p>
            <a:pPr>
              <a:spcAft>
                <a:spcPts val="600"/>
              </a:spcAft>
            </a:pPr>
            <a:r>
              <a:rPr sz="1500">
                <a:solidFill>
                  <a:srgbClr val="22282E"/>
                </a:solidFill>
              </a:rPr>
              <a:t>•  location / { return 302 https://www.ejemplo-legitimo.com;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Dibuja la arquitectura de una operación con 2 redirectores y separación staging/C2.</a:t>
            </a:r>
          </a:p>
          <a:p>
            <a:pPr>
              <a:spcAft>
                <a:spcPts val="600"/>
              </a:spcAft>
            </a:pPr>
            <a:r>
              <a:rPr sz="1500">
                <a:solidFill>
                  <a:srgbClr val="22282E"/>
                </a:solidFill>
              </a:rPr>
              <a:t>•  Escribe la regla de Nginx que reenvía solo /jquery-3.6.0.min.js al team server.</a:t>
            </a:r>
          </a:p>
          <a:p>
            <a:pPr>
              <a:spcAft>
                <a:spcPts val="600"/>
              </a:spcAft>
            </a:pPr>
            <a:r>
              <a:rPr sz="1500">
                <a:solidFill>
                  <a:srgbClr val="22282E"/>
                </a:solidFill>
              </a:rPr>
              <a:t>•  Explica por qué un certificado autofirmado es un mal OPSEC.</a:t>
            </a:r>
          </a:p>
          <a:p>
            <a:pPr>
              <a:spcAft>
                <a:spcPts val="600"/>
              </a:spcAft>
            </a:pPr>
            <a:r>
              <a:rPr sz="1500">
                <a:solidFill>
                  <a:srgbClr val="22282E"/>
                </a:solidFill>
              </a:rPr>
              <a:t>•  Compara canales HTTPS, DNS y SMB en fiabilidad y sigilo.</a:t>
            </a:r>
          </a:p>
          <a:p>
            <a:pPr>
              <a:spcAft>
                <a:spcPts val="600"/>
              </a:spcAft>
            </a:pPr>
            <a:r>
              <a:rPr sz="1500">
                <a:solidFill>
                  <a:srgbClr val="22282E"/>
                </a:solidFill>
              </a:rPr>
              <a:t>•  Diseña un plan de rotación de dominios ante un bloqueo.</a:t>
            </a:r>
          </a:p>
          <a:p>
            <a:pPr>
              <a:spcAft>
                <a:spcPts val="600"/>
              </a:spcAft>
            </a:pPr>
            <a:r>
              <a:rPr sz="1500">
                <a:solidFill>
                  <a:srgbClr val="22282E"/>
                </a:solidFill>
              </a:rPr>
              <a:t>•  Investiga el estado actual del domain fronting en un CDN popular y resume por qué está limitado.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Despliega en tu lab una cadena objetivo → redirector (TLS válido) → team server donde el redirector solo reenvíe las URIs de tu perfil y redirija el resto a un sitio benigno.</a:t>
            </a:r>
          </a:p>
          <a:p>
            <a:pPr>
              <a:spcAft>
                <a:spcPts val="600"/>
              </a:spcAft>
            </a:pPr>
            <a:r>
              <a:rPr sz="1500">
                <a:solidFill>
                  <a:srgbClr val="22282E"/>
                </a:solidFill>
              </a:rPr>
              <a:t>•  Criterio de aceptación: desde una máquina "víctima" del lab, una petición a la URI válida llega al team server, pero navegar a la raíz del redirector devuelve el sitio benigno; el team server nunca es alcanzable directamente desde la víctima.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defensor bloquea todo de golpe — Sin separación por función; segmenta staging/C2/exfil</a:t>
            </a:r>
          </a:p>
          <a:p>
            <a:pPr>
              <a:spcAft>
                <a:spcPts val="600"/>
              </a:spcAft>
            </a:pPr>
            <a:r>
              <a:rPr sz="1500">
                <a:solidFill>
                  <a:srgbClr val="22282E"/>
                </a:solidFill>
              </a:rPr>
              <a:t>•  Certificado inválido en el navegador — Autofirmado; usa Let's Encrypt para TLS confiable</a:t>
            </a:r>
          </a:p>
          <a:p>
            <a:pPr>
              <a:spcAft>
                <a:spcPts val="600"/>
              </a:spcAft>
            </a:pPr>
            <a:r>
              <a:rPr sz="1500">
                <a:solidFill>
                  <a:srgbClr val="22282E"/>
                </a:solidFill>
              </a:rPr>
              <a:t>•  Team server aparece en logs del objetivo — No hay redirector o filtra mal; asegúrate de que solo el redirector es visible</a:t>
            </a:r>
          </a:p>
          <a:p>
            <a:pPr>
              <a:spcAft>
                <a:spcPts val="600"/>
              </a:spcAft>
            </a:pPr>
            <a:r>
              <a:rPr sz="1500">
                <a:solidFill>
                  <a:srgbClr val="22282E"/>
                </a:solidFill>
              </a:rPr>
              <a:t>•  Tráfico C2 evidente en el proxy web — Perfil por defecto; personaliza el malleable profile (Clase 165)</a:t>
            </a:r>
          </a:p>
          <a:p>
            <a:pPr>
              <a:spcAft>
                <a:spcPts val="600"/>
              </a:spcAft>
            </a:pPr>
            <a:r>
              <a:rPr sz="1500">
                <a:solidFill>
                  <a:srgbClr val="22282E"/>
                </a:solidFill>
              </a:rPr>
              <a:t>•  Redirector reenvía escaneos de bots — Falta filtrado por URI/User-Agent; añade reglas de descarte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no conectar el implante directo al team server?</a:t>
            </a:r>
          </a:p>
          <a:p>
            <a:pPr>
              <a:spcAft>
                <a:spcPts val="600"/>
              </a:spcAft>
            </a:pPr>
            <a:r>
              <a:rPr sz="1500">
                <a:solidFill>
                  <a:srgbClr val="22282E"/>
                </a:solidFill>
              </a:rPr>
              <a:t>•  Porque cuando el defensor descubre la IP, la bloquea y pierdes todos los implantes. Los redirectores son sacrificables y protegen el activo central.</a:t>
            </a:r>
          </a:p>
          <a:p>
            <a:pPr>
              <a:spcAft>
                <a:spcPts val="600"/>
              </a:spcAft>
            </a:pPr>
            <a:r>
              <a:rPr sz="1500">
                <a:solidFill>
                  <a:srgbClr val="22282E"/>
                </a:solidFill>
              </a:rPr>
              <a:t>•  ❓ ¿El domain fronting sigue siendo viable?</a:t>
            </a:r>
          </a:p>
          <a:p>
            <a:pPr>
              <a:spcAft>
                <a:spcPts val="600"/>
              </a:spcAft>
            </a:pPr>
            <a:r>
              <a:rPr sz="1500">
                <a:solidFill>
                  <a:srgbClr val="22282E"/>
                </a:solidFill>
              </a:rPr>
              <a:t>•  Muy limitado: la mayoría de CDNs lo han restringido. Hoy se prefieren dominios categorizados y perfiles maleables realistas.</a:t>
            </a:r>
          </a:p>
          <a:p>
            <a:pPr>
              <a:spcAft>
                <a:spcPts val="600"/>
              </a:spcAft>
            </a:pPr>
            <a:r>
              <a:rPr sz="1500">
                <a:solidFill>
                  <a:srgbClr val="22282E"/>
                </a:solidFill>
              </a:rPr>
              <a:t>•  ❓ ¿DNS C2 es mejor que HTTPS?</a:t>
            </a:r>
          </a:p>
          <a:p>
            <a:pPr>
              <a:spcAft>
                <a:spcPts val="600"/>
              </a:spcAft>
            </a:pPr>
            <a:r>
              <a:rPr sz="1500">
                <a:solidFill>
                  <a:srgbClr val="22282E"/>
                </a:solidFill>
              </a:rPr>
              <a:t>•  DNS es sigiloso y sobrevive a muchos filtros, pero es lento y ruidoso en volumen. Se usa como long-haul/backup, no como canal principal interactivo.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Vest &amp; Tubberville — Red Team Development and Operations (capítulo de infraestructura). &lt;https://redteam.guide/&gt;</a:t>
            </a:r>
          </a:p>
          <a:p>
            <a:pPr>
              <a:spcAft>
                <a:spcPts val="600"/>
              </a:spcAft>
            </a:pPr>
            <a:r>
              <a:rPr sz="1500">
                <a:solidFill>
                  <a:srgbClr val="22282E"/>
                </a:solidFill>
              </a:rPr>
              <a:t>•  Bishop Fox — Red Team infrastructure wiki. &lt;https://github.com/bluscreenofjeff/Red-Team-Infrastructure-Wiki&gt;</a:t>
            </a:r>
          </a:p>
          <a:p>
            <a:pPr>
              <a:spcAft>
                <a:spcPts val="600"/>
              </a:spcAft>
            </a:pPr>
            <a:r>
              <a:rPr sz="1500">
                <a:solidFill>
                  <a:srgbClr val="22282E"/>
                </a:solidFill>
              </a:rPr>
              <a:t>•  MITRE ATT&amp;CK — Command and Control (TA0011). &lt;https://attack.mitre.org/tactics/TA0011/&gt;</a:t>
            </a:r>
          </a:p>
          <a:p>
            <a:pPr>
              <a:spcAft>
                <a:spcPts val="600"/>
              </a:spcAft>
            </a:pPr>
            <a:r>
              <a:rPr sz="1500">
                <a:solidFill>
                  <a:srgbClr val="22282E"/>
                </a:solidFill>
              </a:rPr>
              <a:t>•  Nginx / socat documentación oficial.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