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050 — Criptografía de curva elíptica (ECC)</a:t>
            </a:r>
          </a:p>
          <a:p>
            <a:r>
              <a:rPr sz="1600">
                <a:solidFill>
                  <a:srgbClr val="2E8B57"/>
                </a:solidFill>
              </a:rPr>
              <a:t>parte 2 criptografia aplicada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por qué la criptografía de curva elíptica logra la misma seguridad que RSA con claves mucho más pequeñas, en qué consiste el problema del logaritmo discreto sobre curvas elípticas (ECDLP), y cómo se usan las curvas modernas (P-256, Curve25519) para intercambio de claves (ECDH/X25519) y firma (ECDSA/Ed25519). El alumno generará claves EC con OpenSSL y comparará tamaños y rendimiento.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intuitivamente la suma de puntos y la multiplicación escalar en una curva.</a:t>
            </a:r>
          </a:p>
          <a:p>
            <a:pPr>
              <a:spcAft>
                <a:spcPts val="600"/>
              </a:spcAft>
            </a:pPr>
            <a:r>
              <a:rPr sz="1500">
                <a:solidFill>
                  <a:srgbClr val="22282E"/>
                </a:solidFill>
              </a:rPr>
              <a:t>•  Justificar por qué ECC ofrece 128 bits de seguridad con claves de 256 bits.</a:t>
            </a:r>
          </a:p>
          <a:p>
            <a:pPr>
              <a:spcAft>
                <a:spcPts val="600"/>
              </a:spcAft>
            </a:pPr>
            <a:r>
              <a:rPr sz="1500">
                <a:solidFill>
                  <a:srgbClr val="22282E"/>
                </a:solidFill>
              </a:rPr>
              <a:t>•  Identificar las curvas recomendadas (P-256, Curve25519, Ed25519) y sus usos.</a:t>
            </a:r>
          </a:p>
          <a:p>
            <a:pPr>
              <a:spcAft>
                <a:spcPts val="600"/>
              </a:spcAft>
            </a:pPr>
            <a:r>
              <a:rPr sz="1500">
                <a:solidFill>
                  <a:srgbClr val="22282E"/>
                </a:solidFill>
              </a:rPr>
              <a:t>•  Generar claves EC y realizar un ECDH con OpenSSL/Python.</a:t>
            </a:r>
          </a:p>
          <a:p>
            <a:pPr>
              <a:spcAft>
                <a:spcPts val="600"/>
              </a:spcAft>
            </a:pPr>
            <a:r>
              <a:rPr sz="1500">
                <a:solidFill>
                  <a:srgbClr val="22282E"/>
                </a:solidFill>
              </a:rPr>
              <a:t>•  Comparar ECC frente a RSA en tamaño, velocidad y adopción.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Curvas elípticas sobre campos finitos</a:t>
            </a:r>
          </a:p>
          <a:p>
            <a:pPr>
              <a:spcAft>
                <a:spcPts val="600"/>
              </a:spcAft>
            </a:pPr>
            <a:r>
              <a:rPr sz="1500">
                <a:solidFill>
                  <a:srgbClr val="22282E"/>
                </a:solidFill>
              </a:rPr>
              <a:t>•  2 — Suma de puntos y multiplicación escalar</a:t>
            </a:r>
          </a:p>
          <a:p>
            <a:pPr>
              <a:spcAft>
                <a:spcPts val="600"/>
              </a:spcAft>
            </a:pPr>
            <a:r>
              <a:rPr sz="1500">
                <a:solidFill>
                  <a:srgbClr val="22282E"/>
                </a:solidFill>
              </a:rPr>
              <a:t>•  3 — ECDLP</a:t>
            </a:r>
          </a:p>
          <a:p>
            <a:pPr>
              <a:spcAft>
                <a:spcPts val="600"/>
              </a:spcAft>
            </a:pPr>
            <a:r>
              <a:rPr sz="1500">
                <a:solidFill>
                  <a:srgbClr val="22282E"/>
                </a:solidFill>
              </a:rPr>
              <a:t>•  4 — Curvas NIST vs Curve25519</a:t>
            </a:r>
          </a:p>
          <a:p>
            <a:pPr>
              <a:spcAft>
                <a:spcPts val="600"/>
              </a:spcAft>
            </a:pPr>
            <a:r>
              <a:rPr sz="1500">
                <a:solidFill>
                  <a:srgbClr val="22282E"/>
                </a:solidFill>
              </a:rPr>
              <a:t>•  5 — ECDH / X25519</a:t>
            </a:r>
          </a:p>
          <a:p>
            <a:pPr>
              <a:spcAft>
                <a:spcPts val="600"/>
              </a:spcAft>
            </a:pPr>
            <a:r>
              <a:rPr sz="1500">
                <a:solidFill>
                  <a:srgbClr val="22282E"/>
                </a:solidFill>
              </a:rPr>
              <a:t>•  6 — ECDSA / Ed25519</a:t>
            </a:r>
          </a:p>
          <a:p>
            <a:pPr>
              <a:spcAft>
                <a:spcPts val="600"/>
              </a:spcAft>
            </a:pPr>
            <a:r>
              <a:rPr sz="1500">
                <a:solidFill>
                  <a:srgbClr val="22282E"/>
                </a:solidFill>
              </a:rPr>
              <a:t>•  7 — ECC vs RSA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Curva elíptica: conjunto de puntos que satisfacen y² = x³ + ax + b sobre un campo finito, con una operación de grupo. Característica: permite cripto con claves pequeñas.</a:t>
            </a:r>
          </a:p>
          <a:p>
            <a:pPr>
              <a:spcAft>
                <a:spcPts val="600"/>
              </a:spcAft>
            </a:pPr>
            <a:r>
              <a:rPr sz="1500">
                <a:solidFill>
                  <a:srgbClr val="22282E"/>
                </a:solidFill>
              </a:rPr>
              <a:t>•  Multiplicación escalar: Q = k·P (sumar P consigo mismo k veces). Fácil hacia adelante, difícil de invertir (ECDLP).</a:t>
            </a:r>
          </a:p>
          <a:p>
            <a:pPr>
              <a:spcAft>
                <a:spcPts val="600"/>
              </a:spcAft>
            </a:pPr>
            <a:r>
              <a:rPr sz="1500">
                <a:solidFill>
                  <a:srgbClr val="22282E"/>
                </a:solidFill>
              </a:rPr>
              <a:t>•  ECDLP: dado P y Q = k·P, hallar k es computacionalmente inviable. Base de ECC.</a:t>
            </a:r>
          </a:p>
          <a:p>
            <a:pPr>
              <a:spcAft>
                <a:spcPts val="600"/>
              </a:spcAft>
            </a:pPr>
            <a:r>
              <a:rPr sz="1500">
                <a:solidFill>
                  <a:srgbClr val="22282E"/>
                </a:solidFill>
              </a:rPr>
              <a:t>•  Curve25519 / X25519: curva de Bernstein optimizada para ECDH; rápida, segura y resistente a errores de implementación.</a:t>
            </a:r>
          </a:p>
          <a:p>
            <a:pPr>
              <a:spcAft>
                <a:spcPts val="600"/>
              </a:spcAft>
            </a:pPr>
            <a:r>
              <a:rPr sz="1500">
                <a:solidFill>
                  <a:srgbClr val="22282E"/>
                </a:solidFill>
              </a:rPr>
              <a:t>•  Ed25519: esquema de firma sobre la curva Edwards25519; determinista y de alto rendimiento.</a:t>
            </a:r>
          </a:p>
          <a:p>
            <a:pPr>
              <a:spcAft>
                <a:spcPts val="600"/>
              </a:spcAft>
            </a:pPr>
            <a:r>
              <a:rPr sz="1500">
                <a:solidFill>
                  <a:srgbClr val="22282E"/>
                </a:solidFill>
              </a:rPr>
              <a:t>•  P-256 (secp256r1): curva NIST muy usada en TLS y certificados.</a:t>
            </a:r>
          </a:p>
          <a:p>
            <a:pPr>
              <a:spcAft>
                <a:spcPts val="600"/>
              </a:spcAft>
            </a:pPr>
            <a:r>
              <a:rPr sz="1500">
                <a:solidFill>
                  <a:srgbClr val="22282E"/>
                </a:solidFill>
              </a:rPr>
              <a:t>•  Cofactor y validación de puntos: verificar que un punto pertenece a la curva evita ataques de curva inválida.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openssl version</a:t>
            </a:r>
          </a:p>
          <a:p>
            <a:pPr>
              <a:spcAft>
                <a:spcPts val="600"/>
              </a:spcAft>
            </a:pPr>
            <a:r>
              <a:rPr sz="1500">
                <a:solidFill>
                  <a:srgbClr val="22282E"/>
                </a:solidFill>
              </a:rPr>
              <a:t>•  openssl ecparam -listcurves | head</a:t>
            </a:r>
          </a:p>
          <a:p>
            <a:pPr>
              <a:spcAft>
                <a:spcPts val="600"/>
              </a:spcAft>
            </a:pPr>
            <a:r>
              <a:rPr sz="1500">
                <a:solidFill>
                  <a:srgbClr val="22282E"/>
                </a:solidFill>
              </a:rPr>
              <a:t>•  pip install cryptography</a:t>
            </a:r>
          </a:p>
          <a:p>
            <a:pPr>
              <a:spcAft>
                <a:spcPts val="600"/>
              </a:spcAft>
            </a:pPr>
            <a:r>
              <a:rPr sz="1500">
                <a:solidFill>
                  <a:srgbClr val="22282E"/>
                </a:solidFill>
              </a:rPr>
              <a:t>•  Entorno de laboratorio propio. La generación de claves es local.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Genera una clave EC P-256:</a:t>
            </a:r>
          </a:p>
          <a:p>
            <a:pPr>
              <a:spcAft>
                <a:spcPts val="600"/>
              </a:spcAft>
            </a:pPr>
            <a:r>
              <a:rPr sz="1500">
                <a:solidFill>
                  <a:srgbClr val="22282E"/>
                </a:solidFill>
              </a:rPr>
              <a:t>•  openssl ecparam -name prime256v1 -genkey -noout -out ecpriv.pem</a:t>
            </a:r>
          </a:p>
          <a:p>
            <a:pPr>
              <a:spcAft>
                <a:spcPts val="600"/>
              </a:spcAft>
            </a:pPr>
            <a:r>
              <a:rPr sz="1500">
                <a:solidFill>
                  <a:srgbClr val="22282E"/>
                </a:solidFill>
              </a:rPr>
              <a:t>•  openssl ec -in ecpriv.pem -pubout -out ecpub.pem</a:t>
            </a:r>
          </a:p>
          <a:p>
            <a:pPr>
              <a:spcAft>
                <a:spcPts val="600"/>
              </a:spcAft>
            </a:pPr>
            <a:r>
              <a:rPr sz="1500">
                <a:solidFill>
                  <a:srgbClr val="22282E"/>
                </a:solidFill>
              </a:rPr>
              <a:t>•  openssl ec -in ecpriv.pem -text -noout | head</a:t>
            </a:r>
          </a:p>
          <a:p>
            <a:pPr>
              <a:spcAft>
                <a:spcPts val="600"/>
              </a:spcAft>
            </a:pPr>
            <a:r>
              <a:rPr sz="1500">
                <a:solidFill>
                  <a:srgbClr val="22282E"/>
                </a:solidFill>
              </a:rPr>
              <a:t>•  Compara tamaños: observa que una clave EC de 256 bits equivale en seguridad a una RSA de 3072 bits; la clave EC es mucho más compacta.</a:t>
            </a:r>
          </a:p>
          <a:p>
            <a:pPr>
              <a:spcAft>
                <a:spcPts val="600"/>
              </a:spcAft>
            </a:pPr>
            <a:r>
              <a:rPr sz="1500">
                <a:solidFill>
                  <a:srgbClr val="22282E"/>
                </a:solidFill>
              </a:rPr>
              <a:t>•  ECDH con X25519 en Python (dos partes derivan el mismo secreto):</a:t>
            </a:r>
          </a:p>
          <a:p>
            <a:pPr>
              <a:spcAft>
                <a:spcPts val="600"/>
              </a:spcAft>
            </a:pPr>
            <a:r>
              <a:rPr sz="1500">
                <a:solidFill>
                  <a:srgbClr val="22282E"/>
                </a:solidFill>
              </a:rPr>
              <a:t>•  from cryptography.hazmat.primitives.asymmetric.x25519 import X25519PrivateKey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 dibujo la suma de dos puntos en una curva sobre los reales.</a:t>
            </a:r>
          </a:p>
          <a:p>
            <a:pPr>
              <a:spcAft>
                <a:spcPts val="600"/>
              </a:spcAft>
            </a:pPr>
            <a:r>
              <a:rPr sz="1500">
                <a:solidFill>
                  <a:srgbClr val="22282E"/>
                </a:solidFill>
              </a:rPr>
              <a:t>•  ¿Por qué claves EC más pequeñas dan la misma seguridad que RSA grandes?</a:t>
            </a:r>
          </a:p>
          <a:p>
            <a:pPr>
              <a:spcAft>
                <a:spcPts val="600"/>
              </a:spcAft>
            </a:pPr>
            <a:r>
              <a:rPr sz="1500">
                <a:solidFill>
                  <a:srgbClr val="22282E"/>
                </a:solidFill>
              </a:rPr>
              <a:t>•  Genera un secreto compartido con X25519 entre dos pares y verifica que coinciden.</a:t>
            </a:r>
          </a:p>
          <a:p>
            <a:pPr>
              <a:spcAft>
                <a:spcPts val="600"/>
              </a:spcAft>
            </a:pPr>
            <a:r>
              <a:rPr sz="1500">
                <a:solidFill>
                  <a:srgbClr val="22282E"/>
                </a:solidFill>
              </a:rPr>
              <a:t>•  Investiga la polémica de la curva DualECDRBG y la confianza en parámetros.</a:t>
            </a:r>
          </a:p>
          <a:p>
            <a:pPr>
              <a:spcAft>
                <a:spcPts val="600"/>
              </a:spcAft>
            </a:pPr>
            <a:r>
              <a:rPr sz="1500">
                <a:solidFill>
                  <a:srgbClr val="22282E"/>
                </a:solidFill>
              </a:rPr>
              <a:t>•  Compara Ed25519 con ECDSA en cuanto a determinismo y riesgo de nonce.</a:t>
            </a:r>
          </a:p>
          <a:p>
            <a:pPr>
              <a:spcAft>
                <a:spcPts val="600"/>
              </a:spcAft>
            </a:pPr>
            <a:r>
              <a:rPr sz="1500">
                <a:solidFill>
                  <a:srgbClr val="22282E"/>
                </a:solidFill>
              </a:rPr>
              <a:t>•  ¿Por qué validar puntos recibidos evita ataques de curva inválida?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Implementa un mini protocolo de establecimiento de canal: dos partes hacen ECDH (X25519), derivan una clave con HKDF y la usan para cifrar un mensaje con AES-GCM. Criterio de aceptación: ambas partes descifran el mensaje del otro y un tercero que solo ve las claves públicas no puede.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Secretos ECDH distintos — Curvas o codificaciones distintas; usa la misma curva</a:t>
            </a:r>
          </a:p>
          <a:p>
            <a:pPr>
              <a:spcAft>
                <a:spcPts val="600"/>
              </a:spcAft>
            </a:pPr>
            <a:r>
              <a:rPr sz="1500">
                <a:solidFill>
                  <a:srgbClr val="22282E"/>
                </a:solidFill>
              </a:rPr>
              <a:t>•  ECDSA roto por nonce reutilizado — Nonce k repetido revela la clave; usa RFC 6979 o Ed25519</a:t>
            </a:r>
          </a:p>
          <a:p>
            <a:pPr>
              <a:spcAft>
                <a:spcPts val="600"/>
              </a:spcAft>
            </a:pPr>
            <a:r>
              <a:rPr sz="1500">
                <a:solidFill>
                  <a:srgbClr val="22282E"/>
                </a:solidFill>
              </a:rPr>
              <a:t>•  Punto público no validado — Riesgo de curva inválida; valida pertenencia a la curva</a:t>
            </a:r>
          </a:p>
          <a:p>
            <a:pPr>
              <a:spcAft>
                <a:spcPts val="600"/>
              </a:spcAft>
            </a:pPr>
            <a:r>
              <a:rPr sz="1500">
                <a:solidFill>
                  <a:srgbClr val="22282E"/>
                </a:solidFill>
              </a:rPr>
              <a:t>•  Uso de curvas débiles/obsoletas — Elige P-256, P-384 o Curve25519</a:t>
            </a:r>
          </a:p>
          <a:p>
            <a:pPr>
              <a:spcAft>
                <a:spcPts val="600"/>
              </a:spcAft>
            </a:pPr>
            <a:r>
              <a:rPr sz="1500">
                <a:solidFill>
                  <a:srgbClr val="22282E"/>
                </a:solidFill>
              </a:rPr>
              <a:t>•  Confundir clave de firma con clave de ECDH — Separa propósitos; no reutilices el par de claves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¿ECC o RSA?</a:t>
            </a:r>
          </a:p>
          <a:p>
            <a:pPr>
              <a:spcAft>
                <a:spcPts val="600"/>
              </a:spcAft>
            </a:pPr>
            <a:r>
              <a:rPr sz="1500">
                <a:solidFill>
                  <a:srgbClr val="22282E"/>
                </a:solidFill>
              </a:rPr>
              <a:t>•  ECC para nuevos diseños: claves pequeñas, rápido, adoptado por TLS 1.3. RSA persiste por compatibilidad.</a:t>
            </a:r>
          </a:p>
          <a:p>
            <a:pPr>
              <a:spcAft>
                <a:spcPts val="600"/>
              </a:spcAft>
            </a:pPr>
            <a:r>
              <a:rPr sz="1500">
                <a:solidFill>
                  <a:srgbClr val="22282E"/>
                </a:solidFill>
              </a:rPr>
              <a:t>•  ❓ ¿Curvas NIST o Curve25519?</a:t>
            </a:r>
          </a:p>
          <a:p>
            <a:pPr>
              <a:spcAft>
                <a:spcPts val="600"/>
              </a:spcAft>
            </a:pPr>
            <a:r>
              <a:rPr sz="1500">
                <a:solidFill>
                  <a:srgbClr val="22282E"/>
                </a:solidFill>
              </a:rPr>
              <a:t>•  Curve25519/Ed25519 minimizan errores de implementación y no dependen de constantes de origen dudoso; muy recomendadas.</a:t>
            </a:r>
          </a:p>
          <a:p>
            <a:pPr>
              <a:spcAft>
                <a:spcPts val="600"/>
              </a:spcAft>
            </a:pPr>
            <a:r>
              <a:rPr sz="1500">
                <a:solidFill>
                  <a:srgbClr val="22282E"/>
                </a:solidFill>
              </a:rPr>
              <a:t>•  ❓ ¿ECC resiste computación cuántica?</a:t>
            </a:r>
          </a:p>
          <a:p>
            <a:pPr>
              <a:spcAft>
                <a:spcPts val="600"/>
              </a:spcAft>
            </a:pPr>
            <a:r>
              <a:rPr sz="1500">
                <a:solidFill>
                  <a:srgbClr val="22282E"/>
                </a:solidFill>
              </a:rPr>
              <a:t>•  No; como RSA, cae ante Shor. Por eso existe la criptografía post-cuántica (clase 062).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Aumasson, Serious Cryptography, cap. 12.</a:t>
            </a:r>
          </a:p>
          <a:p>
            <a:pPr>
              <a:spcAft>
                <a:spcPts val="600"/>
              </a:spcAft>
            </a:pPr>
            <a:r>
              <a:rPr sz="1500">
                <a:solidFill>
                  <a:srgbClr val="22282E"/>
                </a:solidFill>
              </a:rPr>
              <a:t>•  Wong, Real-World Cryptography, cap. 5–7.</a:t>
            </a:r>
          </a:p>
          <a:p>
            <a:pPr>
              <a:spcAft>
                <a:spcPts val="600"/>
              </a:spcAft>
            </a:pPr>
            <a:r>
              <a:rPr sz="1500">
                <a:solidFill>
                  <a:srgbClr val="22282E"/>
                </a:solidFill>
              </a:rPr>
              <a:t>•  RFC 7748 (Curve25519/X25519) — &lt;https://www.rfc-editor.org/rfc/rfc7748&gt;</a:t>
            </a:r>
          </a:p>
          <a:p>
            <a:pPr>
              <a:spcAft>
                <a:spcPts val="600"/>
              </a:spcAft>
            </a:pPr>
            <a:r>
              <a:rPr sz="1500">
                <a:solidFill>
                  <a:srgbClr val="22282E"/>
                </a:solidFill>
              </a:rPr>
              <a:t>•  RFC 8032 (Ed25519) — &lt;https://www.rfc-editor.org/rfc/rfc8032&gt;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