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141 — Introducción al malware: tipos y taxonomía</a:t>
            </a:r>
          </a:p>
          <a:p>
            <a:r>
              <a:rPr sz="1600">
                <a:solidFill>
                  <a:srgbClr val="2E8B57"/>
                </a:solidFill>
              </a:rPr>
              <a:t>parte 6 analisis de malware</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Construir el vocabulario y el mapa mental del analista: qué es el malware, cómo se clasifica por comportamiento y por objetivo, qué distingue una familia de una variante, y cómo encaja cada tipo en el ciclo de vida de un ataque. Al final de la clase el alumno sabrá nombrar con precisión lo que observa, algo imprescindible antes de tocar una sola muestra.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Distinguir los grandes tipos de malware por propagación, persistencia y objetivo.</a:t>
            </a:r>
          </a:p>
          <a:p>
            <a:pPr>
              <a:spcAft>
                <a:spcPts val="600"/>
              </a:spcAft>
            </a:pPr>
            <a:r>
              <a:rPr sz="1500">
                <a:solidFill>
                  <a:srgbClr val="22282E"/>
                </a:solidFill>
              </a:rPr>
              <a:t>•  Clasificar una amenaza usando taxonomías por comportamiento y por familia.</a:t>
            </a:r>
          </a:p>
          <a:p>
            <a:pPr>
              <a:spcAft>
                <a:spcPts val="600"/>
              </a:spcAft>
            </a:pPr>
            <a:r>
              <a:rPr sz="1500">
                <a:solidFill>
                  <a:srgbClr val="22282E"/>
                </a:solidFill>
              </a:rPr>
              <a:t>•  Relacionar cada tipo con fases de MITRE ATT&amp;CK y del ciclo de intrusión.</a:t>
            </a:r>
          </a:p>
          <a:p>
            <a:pPr>
              <a:spcAft>
                <a:spcPts val="600"/>
              </a:spcAft>
            </a:pPr>
            <a:r>
              <a:rPr sz="1500">
                <a:solidFill>
                  <a:srgbClr val="22282E"/>
                </a:solidFill>
              </a:rPr>
              <a:t>•  Explicar la diferencia entre familia, variante, campaña y actor.</a:t>
            </a:r>
          </a:p>
          <a:p>
            <a:pPr>
              <a:spcAft>
                <a:spcPts val="600"/>
              </a:spcAft>
            </a:pPr>
            <a:r>
              <a:rPr sz="1500">
                <a:solidFill>
                  <a:srgbClr val="22282E"/>
                </a:solidFill>
              </a:rPr>
              <a:t>•  Interpretar nombres de detección de la industria (p. ej. Trojan:Win32/Emotet).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Definición de malware y de "código malicioso"</a:t>
            </a:r>
          </a:p>
          <a:p>
            <a:pPr>
              <a:spcAft>
                <a:spcPts val="600"/>
              </a:spcAft>
            </a:pPr>
            <a:r>
              <a:rPr sz="1500">
                <a:solidFill>
                  <a:srgbClr val="22282E"/>
                </a:solidFill>
              </a:rPr>
              <a:t>•  2 — Virus, gusanos y troyanos</a:t>
            </a:r>
          </a:p>
          <a:p>
            <a:pPr>
              <a:spcAft>
                <a:spcPts val="600"/>
              </a:spcAft>
            </a:pPr>
            <a:r>
              <a:rPr sz="1500">
                <a:solidFill>
                  <a:srgbClr val="22282E"/>
                </a:solidFill>
              </a:rPr>
              <a:t>•  3 — Backdoors, RATs y bots</a:t>
            </a:r>
          </a:p>
          <a:p>
            <a:pPr>
              <a:spcAft>
                <a:spcPts val="600"/>
              </a:spcAft>
            </a:pPr>
            <a:r>
              <a:rPr sz="1500">
                <a:solidFill>
                  <a:srgbClr val="22282E"/>
                </a:solidFill>
              </a:rPr>
              <a:t>•  4 — Ransomware, wipers e infostealers</a:t>
            </a:r>
          </a:p>
          <a:p>
            <a:pPr>
              <a:spcAft>
                <a:spcPts val="600"/>
              </a:spcAft>
            </a:pPr>
            <a:r>
              <a:rPr sz="1500">
                <a:solidFill>
                  <a:srgbClr val="22282E"/>
                </a:solidFill>
              </a:rPr>
              <a:t>•  5 — Rootkits, bootkits y downloaders/droppers</a:t>
            </a:r>
          </a:p>
          <a:p>
            <a:pPr>
              <a:spcAft>
                <a:spcPts val="600"/>
              </a:spcAft>
            </a:pPr>
            <a:r>
              <a:rPr sz="1500">
                <a:solidFill>
                  <a:srgbClr val="22282E"/>
                </a:solidFill>
              </a:rPr>
              <a:t>•  6 — Familia vs variante vs campaña</a:t>
            </a:r>
          </a:p>
          <a:p>
            <a:pPr>
              <a:spcAft>
                <a:spcPts val="600"/>
              </a:spcAft>
            </a:pPr>
            <a:r>
              <a:rPr sz="1500">
                <a:solidFill>
                  <a:srgbClr val="22282E"/>
                </a:solidFill>
              </a:rPr>
              <a:t>•  7 — Convenciones de nombres (CARO, vendors)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Virus: código que se inserta en otros archivos o programas y depende de que el usuario ejecute el huésped. Característica clave: infección de un portador.</a:t>
            </a:r>
          </a:p>
          <a:p>
            <a:pPr>
              <a:spcAft>
                <a:spcPts val="600"/>
              </a:spcAft>
            </a:pPr>
            <a:r>
              <a:rPr sz="1500">
                <a:solidFill>
                  <a:srgbClr val="22282E"/>
                </a:solidFill>
              </a:rPr>
              <a:t>•  Gusano (worm): se propaga solo por red explotando vulnerabilidades o credenciales, sin portador. Característica clave: auto-propagación.</a:t>
            </a:r>
          </a:p>
          <a:p>
            <a:pPr>
              <a:spcAft>
                <a:spcPts val="600"/>
              </a:spcAft>
            </a:pPr>
            <a:r>
              <a:rPr sz="1500">
                <a:solidFill>
                  <a:srgbClr val="22282E"/>
                </a:solidFill>
              </a:rPr>
              <a:t>•  Troyano: se disfraza de software legítimo para que el usuario lo ejecute. Característica clave: engaño de entrega.</a:t>
            </a:r>
          </a:p>
          <a:p>
            <a:pPr>
              <a:spcAft>
                <a:spcPts val="600"/>
              </a:spcAft>
            </a:pPr>
            <a:r>
              <a:rPr sz="1500">
                <a:solidFill>
                  <a:srgbClr val="22282E"/>
                </a:solidFill>
              </a:rPr>
              <a:t>•  RAT / backdoor: provee control remoto persistente al atacante. Característica clave: acceso interactivo.</a:t>
            </a:r>
          </a:p>
          <a:p>
            <a:pPr>
              <a:spcAft>
                <a:spcPts val="600"/>
              </a:spcAft>
            </a:pPr>
            <a:r>
              <a:rPr sz="1500">
                <a:solidFill>
                  <a:srgbClr val="22282E"/>
                </a:solidFill>
              </a:rPr>
              <a:t>•  Dropper / downloader: entrega o descarga la carga real en etapas. Característica clave: entrega multi-fase.</a:t>
            </a:r>
          </a:p>
          <a:p>
            <a:pPr>
              <a:spcAft>
                <a:spcPts val="600"/>
              </a:spcAft>
            </a:pPr>
            <a:r>
              <a:rPr sz="1500">
                <a:solidFill>
                  <a:srgbClr val="22282E"/>
                </a:solidFill>
              </a:rPr>
              <a:t>•  Ransomware: cifra o bloquea datos y exige rescate. Característica clave: extorsión.</a:t>
            </a:r>
          </a:p>
          <a:p>
            <a:pPr>
              <a:spcAft>
                <a:spcPts val="600"/>
              </a:spcAft>
            </a:pPr>
            <a:r>
              <a:rPr sz="1500">
                <a:solidFill>
                  <a:srgbClr val="22282E"/>
                </a:solidFill>
              </a:rPr>
              <a:t>•  Rootkit: oculta procesos, archivos o conexiones al sistema y al analista. Característica clave: sigilo.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No se ejecutan muestras en esta clase; es conceptual, pero se prepara el terreno:</a:t>
            </a:r>
          </a:p>
          <a:p>
            <a:pPr>
              <a:spcAft>
                <a:spcPts val="600"/>
              </a:spcAft>
            </a:pPr>
            <a:r>
              <a:rPr sz="1500">
                <a:solidFill>
                  <a:srgbClr val="22282E"/>
                </a:solidFill>
              </a:rPr>
              <a:t>•  Cuenta gratuita en VirusTotal y acceso de lectura a MalwareBazaar (abuse.ch) para consultar metadatos y familias (sin descargar binarios todavía).</a:t>
            </a:r>
          </a:p>
          <a:p>
            <a:pPr>
              <a:spcAft>
                <a:spcPts val="600"/>
              </a:spcAft>
            </a:pPr>
            <a:r>
              <a:rPr sz="1500">
                <a:solidFill>
                  <a:srgbClr val="22282E"/>
                </a:solidFill>
              </a:rPr>
              <a:t>•  La matriz MITRE ATT&amp;CK abierta en el navegador (attack.mitre.org).</a:t>
            </a:r>
          </a:p>
          <a:p>
            <a:pPr>
              <a:spcAft>
                <a:spcPts val="600"/>
              </a:spcAft>
            </a:pPr>
            <a:r>
              <a:rPr sz="1500">
                <a:solidFill>
                  <a:srgbClr val="22282E"/>
                </a:solidFill>
              </a:rPr>
              <a:t>•  Un cuaderno (Markdown/Obsidian) para tu glosario personal de familias.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Ejercicio de clasificación sin ejecutar nada (solo lectura de inteligencia pública):</a:t>
            </a:r>
          </a:p>
          <a:p>
            <a:pPr>
              <a:spcAft>
                <a:spcPts val="600"/>
              </a:spcAft>
            </a:pPr>
            <a:r>
              <a:rPr sz="1500">
                <a:solidFill>
                  <a:srgbClr val="22282E"/>
                </a:solidFill>
              </a:rPr>
              <a:t>•  Abre MalwareBazaar y filtra por tag:Emotet. Anota: tipo declarado, formato de archivo y familia.</a:t>
            </a:r>
          </a:p>
          <a:p>
            <a:pPr>
              <a:spcAft>
                <a:spcPts val="600"/>
              </a:spcAft>
            </a:pPr>
            <a:r>
              <a:rPr sz="1500">
                <a:solidFill>
                  <a:srgbClr val="22282E"/>
                </a:solidFill>
              </a:rPr>
              <a:t>•  Toma tres nombres de detección distintos del mismo hash en VirusTotal (p. ej. Microsoft, Kaspersky, ESET). Escribe qué parte del nombre indica plataforma, tipo y familia.</a:t>
            </a:r>
          </a:p>
          <a:p>
            <a:pPr>
              <a:spcAft>
                <a:spcPts val="600"/>
              </a:spcAft>
            </a:pPr>
            <a:r>
              <a:rPr sz="1500">
                <a:solidFill>
                  <a:srgbClr val="22282E"/>
                </a:solidFill>
              </a:rPr>
              <a:t>•  En MITRE ATT&amp;CK, localiza la página de Emotet (Software S0367) y lista 5 técnicas asociadas con su ID (p. ej. T1566 Phishing).</a:t>
            </a:r>
          </a:p>
          <a:p>
            <a:pPr>
              <a:spcAft>
                <a:spcPts val="600"/>
              </a:spcAft>
            </a:pPr>
            <a:r>
              <a:rPr sz="1500">
                <a:solidFill>
                  <a:srgbClr val="22282E"/>
                </a:solidFill>
              </a:rPr>
              <a:t>•  Repite el ejercicio con una familia de ransomware (p. ej. LockBit) y otra de infostealer (p. ej. RedLine).</a:t>
            </a:r>
          </a:p>
          <a:p>
            <a:pPr>
              <a:spcAft>
                <a:spcPts val="600"/>
              </a:spcAft>
            </a:pPr>
            <a:r>
              <a:rPr sz="1500">
                <a:solidFill>
                  <a:srgbClr val="22282E"/>
                </a:solidFill>
              </a:rPr>
              <a:t>•  Construye una tabla comparativa: familia · tipo · vector de entrada · objetivo · 3 TTPs.</a:t>
            </a:r>
          </a:p>
          <a:p>
            <a:pPr>
              <a:spcAft>
                <a:spcPts val="600"/>
              </a:spcAft>
            </a:pPr>
            <a:r>
              <a:rPr sz="1500">
                <a:solidFill>
                  <a:srgbClr val="22282E"/>
                </a:solidFill>
              </a:rPr>
              <a:t>•  Redacta un párrafo distinguiendo, para una de ellas, familia, variante y campaña.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Clasifica 8 descripciones cortas de amenazas en su tipo correcto.</a:t>
            </a:r>
          </a:p>
          <a:p>
            <a:pPr>
              <a:spcAft>
                <a:spcPts val="600"/>
              </a:spcAft>
            </a:pPr>
            <a:r>
              <a:rPr sz="1500">
                <a:solidFill>
                  <a:srgbClr val="22282E"/>
                </a:solidFill>
              </a:rPr>
              <a:t>•  Explica por qué un mismo malware puede ser "troyano" y "downloader" a la vez.</a:t>
            </a:r>
          </a:p>
          <a:p>
            <a:pPr>
              <a:spcAft>
                <a:spcPts val="600"/>
              </a:spcAft>
            </a:pPr>
            <a:r>
              <a:rPr sz="1500">
                <a:solidFill>
                  <a:srgbClr val="22282E"/>
                </a:solidFill>
              </a:rPr>
              <a:t>•  Traduce tres nombres de detección de vendors a lenguaje llano.</a:t>
            </a:r>
          </a:p>
          <a:p>
            <a:pPr>
              <a:spcAft>
                <a:spcPts val="600"/>
              </a:spcAft>
            </a:pPr>
            <a:r>
              <a:rPr sz="1500">
                <a:solidFill>
                  <a:srgbClr val="22282E"/>
                </a:solidFill>
              </a:rPr>
              <a:t>•  Dibuja el ciclo de intrusión y coloca cada tipo de malware en su fase típica.</a:t>
            </a:r>
          </a:p>
          <a:p>
            <a:pPr>
              <a:spcAft>
                <a:spcPts val="600"/>
              </a:spcAft>
            </a:pPr>
            <a:r>
              <a:rPr sz="1500">
                <a:solidFill>
                  <a:srgbClr val="22282E"/>
                </a:solidFill>
              </a:rPr>
              <a:t>•  Investiga y resume una campaña real reciente, indicando actor sospechado y familia.</a:t>
            </a:r>
          </a:p>
          <a:p>
            <a:pPr>
              <a:spcAft>
                <a:spcPts val="600"/>
              </a:spcAft>
            </a:pPr>
            <a:r>
              <a:rPr sz="1500">
                <a:solidFill>
                  <a:srgbClr val="22282E"/>
                </a:solidFill>
              </a:rPr>
              <a:t>•  Propón criterios para decidir si dos muestras pertenecen a la misma familia.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Elige una familia de malware activa y produce una ficha de una página con: tipo, vector, objetivo, 5 TTPs de ATT&amp;CK con ID, y 3 IOCs públicos.</a:t>
            </a:r>
          </a:p>
          <a:p>
            <a:pPr>
              <a:spcAft>
                <a:spcPts val="600"/>
              </a:spcAft>
            </a:pPr>
            <a:r>
              <a:rPr sz="1500">
                <a:solidFill>
                  <a:srgbClr val="22282E"/>
                </a:solidFill>
              </a:rPr>
              <a:t>•  Criterio de aceptación: la ficha permite a un compañero, sin conocer la familia, explicar qué hace y en qué fase del ataque interviene, y cada TTP tiene su ID Txxxx correcto.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Confundir gusano con virus — Revisa si necesita portador; el gusano se propaga solo</a:t>
            </a:r>
          </a:p>
          <a:p>
            <a:pPr>
              <a:spcAft>
                <a:spcPts val="600"/>
              </a:spcAft>
            </a:pPr>
            <a:r>
              <a:rPr sz="1500">
                <a:solidFill>
                  <a:srgbClr val="22282E"/>
                </a:solidFill>
              </a:rPr>
              <a:t>•  Tratar un nombre de AV como "la familia" — Los vendors no coinciden; usa el consenso y ATT&amp;CK</a:t>
            </a:r>
          </a:p>
          <a:p>
            <a:pPr>
              <a:spcAft>
                <a:spcPts val="600"/>
              </a:spcAft>
            </a:pPr>
            <a:r>
              <a:rPr sz="1500">
                <a:solidFill>
                  <a:srgbClr val="22282E"/>
                </a:solidFill>
              </a:rPr>
              <a:t>•  Llamar "virus" a todo — Reserva el término para código que infecta portadores</a:t>
            </a:r>
          </a:p>
          <a:p>
            <a:pPr>
              <a:spcAft>
                <a:spcPts val="600"/>
              </a:spcAft>
            </a:pPr>
            <a:r>
              <a:rPr sz="1500">
                <a:solidFill>
                  <a:srgbClr val="22282E"/>
                </a:solidFill>
              </a:rPr>
              <a:t>•  Mezclar variante y campaña — Variante = versión del código; campaña = operación en el tiempo</a:t>
            </a:r>
          </a:p>
          <a:p>
            <a:pPr>
              <a:spcAft>
                <a:spcPts val="600"/>
              </a:spcAft>
            </a:pPr>
            <a:r>
              <a:rPr sz="1500">
                <a:solidFill>
                  <a:srgbClr val="22282E"/>
                </a:solidFill>
              </a:rPr>
              <a:t>•  Descargar la muestra "para verla" — En esta clase NO se descarga; solo metadatos públicos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¿La taxonomía es exclusiva? No. El malware moderno es modular: un dropper entrega un RAT que despliega ransomware. Se clasifica por su rol dominante y sus capacidades.</a:t>
            </a:r>
          </a:p>
          <a:p>
            <a:pPr>
              <a:spcAft>
                <a:spcPts val="600"/>
              </a:spcAft>
            </a:pPr>
            <a:r>
              <a:rPr sz="1500">
                <a:solidFill>
                  <a:srgbClr val="22282E"/>
                </a:solidFill>
              </a:rPr>
              <a:t>•  ❓ ¿Por qué cada antivirus le pone un nombre distinto? No hay un estándar universal adoptado; existió CARO pero los vendors mantienen sus propias convenciones. Por eso el analista usa hashes e IDs de ATT&amp;CK.</a:t>
            </a:r>
          </a:p>
          <a:p>
            <a:pPr>
              <a:spcAft>
                <a:spcPts val="600"/>
              </a:spcAft>
            </a:pPr>
            <a:r>
              <a:rPr sz="1500">
                <a:solidFill>
                  <a:srgbClr val="22282E"/>
                </a:solidFill>
              </a:rPr>
              <a:t>•  ❓ ¿Necesito ejecutar la muestra para clasificarla? No para un triaje inicial. Metadatos, strings e inteligencia pública suelen bastar para una primera clasificación.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Sikorski &amp; Honig, Practical Malware Analysis, cap. 1.</a:t>
            </a:r>
          </a:p>
          <a:p>
            <a:pPr>
              <a:spcAft>
                <a:spcPts val="600"/>
              </a:spcAft>
            </a:pPr>
            <a:r>
              <a:rPr sz="1500">
                <a:solidFill>
                  <a:srgbClr val="22282E"/>
                </a:solidFill>
              </a:rPr>
              <a:t>•  MITRE ATT&amp;CK — Software. &lt;https://attack.mitre.org/software/&gt;</a:t>
            </a:r>
          </a:p>
          <a:p>
            <a:pPr>
              <a:spcAft>
                <a:spcPts val="600"/>
              </a:spcAft>
            </a:pPr>
            <a:r>
              <a:rPr sz="1500">
                <a:solidFill>
                  <a:srgbClr val="22282E"/>
                </a:solidFill>
              </a:rPr>
              <a:t>•  MalwareBazaar (abuse.ch). &lt;https://bazaar.abuse.ch&gt;</a:t>
            </a:r>
          </a:p>
          <a:p>
            <a:pPr>
              <a:spcAft>
                <a:spcPts val="600"/>
              </a:spcAft>
            </a:pPr>
            <a:r>
              <a:rPr sz="1500">
                <a:solidFill>
                  <a:srgbClr val="22282E"/>
                </a:solidFill>
              </a:rPr>
              <a:t>•  Microsoft — Malware naming. &lt;https://learn.microsoft.com/microsoft-365/security/intelligence/malware-naming&gt;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