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298 — IA aplicada a la defensa: detección y SOC</a:t>
            </a:r>
          </a:p>
          <a:p>
            <a:r>
              <a:rPr sz="1600">
                <a:solidFill>
                  <a:srgbClr val="2E8B57"/>
                </a:solidFill>
              </a:rPr>
              <a:t>parte 15 seguridad de ia y machine learning</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Usar la IA como herramienta defensiva de forma realista: detección de anomalías, priorización de alertas, triage y apoyo al analista en el SOC, sin caer en el "AI washing". El alumno construirá un detector de anomalías sobre logs propios, medirá su desempeño con métricas honestas (precisión, recall, falsos positivos) y entenderá su evadibilidad.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Seleccionar el enfoque adecuado (supervisado, no supervisado, reglas + ML) según el problema del SOC.</a:t>
            </a:r>
          </a:p>
          <a:p>
            <a:pPr>
              <a:spcAft>
                <a:spcPts val="600"/>
              </a:spcAft>
            </a:pPr>
            <a:r>
              <a:rPr sz="1500">
                <a:solidFill>
                  <a:srgbClr val="22282E"/>
                </a:solidFill>
              </a:rPr>
              <a:t>•  Construir un detector de anomalías sobre datos de seguridad propios.</a:t>
            </a:r>
          </a:p>
          <a:p>
            <a:pPr>
              <a:spcAft>
                <a:spcPts val="600"/>
              </a:spcAft>
            </a:pPr>
            <a:r>
              <a:rPr sz="1500">
                <a:solidFill>
                  <a:srgbClr val="22282E"/>
                </a:solidFill>
              </a:rPr>
              <a:t>•  Evaluar el modelo con métricas apropiadas para clases desbalanceadas.</a:t>
            </a:r>
          </a:p>
          <a:p>
            <a:pPr>
              <a:spcAft>
                <a:spcPts val="600"/>
              </a:spcAft>
            </a:pPr>
            <a:r>
              <a:rPr sz="1500">
                <a:solidFill>
                  <a:srgbClr val="22282E"/>
                </a:solidFill>
              </a:rPr>
              <a:t>•  Analizar el coste de los falsos positivos en la carga del analista.</a:t>
            </a:r>
          </a:p>
          <a:p>
            <a:pPr>
              <a:spcAft>
                <a:spcPts val="600"/>
              </a:spcAft>
            </a:pPr>
            <a:r>
              <a:rPr sz="1500">
                <a:solidFill>
                  <a:srgbClr val="22282E"/>
                </a:solidFill>
              </a:rPr>
              <a:t>•  Reconocer la evadibilidad de los detectores por adversarios (ver clase 292).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Casos de uso reales de IA en el SOC</a:t>
            </a:r>
          </a:p>
          <a:p>
            <a:pPr>
              <a:spcAft>
                <a:spcPts val="600"/>
              </a:spcAft>
            </a:pPr>
            <a:r>
              <a:rPr sz="1500">
                <a:solidFill>
                  <a:srgbClr val="22282E"/>
                </a:solidFill>
              </a:rPr>
              <a:t>•  2 — Detección de anomalías no supervisada</a:t>
            </a:r>
          </a:p>
          <a:p>
            <a:pPr>
              <a:spcAft>
                <a:spcPts val="600"/>
              </a:spcAft>
            </a:pPr>
            <a:r>
              <a:rPr sz="1500">
                <a:solidFill>
                  <a:srgbClr val="22282E"/>
                </a:solidFill>
              </a:rPr>
              <a:t>•  3 — Clasificación supervisada de eventos</a:t>
            </a:r>
          </a:p>
          <a:p>
            <a:pPr>
              <a:spcAft>
                <a:spcPts val="600"/>
              </a:spcAft>
            </a:pPr>
            <a:r>
              <a:rPr sz="1500">
                <a:solidFill>
                  <a:srgbClr val="22282E"/>
                </a:solidFill>
              </a:rPr>
              <a:t>•  4 — El problema del desbalance y la base rate</a:t>
            </a:r>
          </a:p>
          <a:p>
            <a:pPr>
              <a:spcAft>
                <a:spcPts val="600"/>
              </a:spcAft>
            </a:pPr>
            <a:r>
              <a:rPr sz="1500">
                <a:solidFill>
                  <a:srgbClr val="22282E"/>
                </a:solidFill>
              </a:rPr>
              <a:t>•  5 — Métricas: precisión, recall, F1, FPR</a:t>
            </a:r>
          </a:p>
          <a:p>
            <a:pPr>
              <a:spcAft>
                <a:spcPts val="600"/>
              </a:spcAft>
            </a:pPr>
            <a:r>
              <a:rPr sz="1500">
                <a:solidFill>
                  <a:srgbClr val="22282E"/>
                </a:solidFill>
              </a:rPr>
              <a:t>•  6 — Alert fatigue y triage asistido</a:t>
            </a:r>
          </a:p>
          <a:p>
            <a:pPr>
              <a:spcAft>
                <a:spcPts val="600"/>
              </a:spcAft>
            </a:pPr>
            <a:r>
              <a:rPr sz="1500">
                <a:solidFill>
                  <a:srgbClr val="22282E"/>
                </a:solidFill>
              </a:rPr>
              <a:t>•  7 — Evadibilidad y adversario adaptativo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Detección de anomalías: identificar eventos que se desvían del comportamiento normal. Característica: útil cuando los ataques son raros y no hay etiquetas; propensa a falsos positivos.</a:t>
            </a:r>
          </a:p>
          <a:p>
            <a:pPr>
              <a:spcAft>
                <a:spcPts val="600"/>
              </a:spcAft>
            </a:pPr>
            <a:r>
              <a:rPr sz="1500">
                <a:solidFill>
                  <a:srgbClr val="22282E"/>
                </a:solidFill>
              </a:rPr>
              <a:t>•  UEBA (User and Entity Behavior Analytics): perfilar el comportamiento de usuarios/entidades y alertar desviaciones. Característica: requiere baseline y manejo de deriva.</a:t>
            </a:r>
          </a:p>
          <a:p>
            <a:pPr>
              <a:spcAft>
                <a:spcPts val="600"/>
              </a:spcAft>
            </a:pPr>
            <a:r>
              <a:rPr sz="1500">
                <a:solidFill>
                  <a:srgbClr val="22282E"/>
                </a:solidFill>
              </a:rPr>
              <a:t>•  Base rate fallacy: con ataques muy raros, incluso un FPR bajo produce muchísimos falsos positivos. Característica: invalida la accuracy como métrica.</a:t>
            </a:r>
          </a:p>
          <a:p>
            <a:pPr>
              <a:spcAft>
                <a:spcPts val="600"/>
              </a:spcAft>
            </a:pPr>
            <a:r>
              <a:rPr sz="1500">
                <a:solidFill>
                  <a:srgbClr val="22282E"/>
                </a:solidFill>
              </a:rPr>
              <a:t>•  Precisión / Recall: precisión = de lo alertado, cuánto era real; recall = de lo real, cuánto detectaste. Característica: hay un compromiso entre ambas.</a:t>
            </a:r>
          </a:p>
          <a:p>
            <a:pPr>
              <a:spcAft>
                <a:spcPts val="600"/>
              </a:spcAft>
            </a:pPr>
            <a:r>
              <a:rPr sz="1500">
                <a:solidFill>
                  <a:srgbClr val="22282E"/>
                </a:solidFill>
              </a:rPr>
              <a:t>•  FPR (tasa de falsos positivos): proporción de eventos benignos marcados como maliciosos; motor del alert fatigue.</a:t>
            </a:r>
          </a:p>
          <a:p>
            <a:pPr>
              <a:spcAft>
                <a:spcPts val="600"/>
              </a:spcAft>
            </a:pPr>
            <a:r>
              <a:rPr sz="1500">
                <a:solidFill>
                  <a:srgbClr val="22282E"/>
                </a:solidFill>
              </a:rPr>
              <a:t>•  Concept drift: el comportamiento "normal" cambia con el tiempo; el modelo se degrada si no se reentrena.</a:t>
            </a:r>
          </a:p>
          <a:p>
            <a:pPr>
              <a:spcAft>
                <a:spcPts val="600"/>
              </a:spcAft>
            </a:pPr>
            <a:r>
              <a:rPr sz="1500">
                <a:solidFill>
                  <a:srgbClr val="22282E"/>
                </a:solidFill>
              </a:rPr>
              <a:t>•  Evadibilidad: un atacante puede modelar el detector y camuflar su actividad como normal (adversarial en el dominio de seguridad).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pip install scikit-learn pandas numpy matplotlib</a:t>
            </a:r>
          </a:p>
          <a:p>
            <a:pPr>
              <a:spcAft>
                <a:spcPts val="600"/>
              </a:spcAft>
            </a:pPr>
            <a:r>
              <a:rPr sz="1500">
                <a:solidFill>
                  <a:srgbClr val="22282E"/>
                </a:solidFill>
              </a:rPr>
              <a:t>•  scikit-learn (IsolationForest, LocalOutlierFactor) para anomalías.</a:t>
            </a:r>
          </a:p>
          <a:p>
            <a:pPr>
              <a:spcAft>
                <a:spcPts val="600"/>
              </a:spcAft>
            </a:pPr>
            <a:r>
              <a:rPr sz="1500">
                <a:solidFill>
                  <a:srgbClr val="22282E"/>
                </a:solidFill>
              </a:rPr>
              <a:t>•  Un dataset de seguridad propio o público bien conocido (p. ej. logs de autenticación sintéticos, o datasets de referencia como los de flujos de red que uses en laboratorio).</a:t>
            </a:r>
          </a:p>
          <a:p>
            <a:pPr>
              <a:spcAft>
                <a:spcPts val="600"/>
              </a:spcAft>
            </a:pPr>
            <a:r>
              <a:rPr sz="1500">
                <a:solidFill>
                  <a:srgbClr val="22282E"/>
                </a:solidFill>
              </a:rPr>
              <a:t>•  Opcional: un stack SIEM de laboratorio para contextualizar la integración.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Sobre datos propios o de laboratorio.</a:t>
            </a:r>
          </a:p>
          <a:p>
            <a:pPr>
              <a:spcAft>
                <a:spcPts val="600"/>
              </a:spcAft>
            </a:pPr>
            <a:r>
              <a:rPr sz="1500">
                <a:solidFill>
                  <a:srgbClr val="22282E"/>
                </a:solidFill>
              </a:rPr>
              <a:t>•  Define el problema. Ejemplo: detectar inicios de sesión anómalos a partir de logs (hora, geolocalización, dispositivo, frecuencia).</a:t>
            </a:r>
          </a:p>
          <a:p>
            <a:pPr>
              <a:spcAft>
                <a:spcPts val="600"/>
              </a:spcAft>
            </a:pPr>
            <a:r>
              <a:rPr sz="1500">
                <a:solidFill>
                  <a:srgbClr val="22282E"/>
                </a:solidFill>
              </a:rPr>
              <a:t>•  Explora y normaliza. Codifica variables categóricas, escala numéricas y separa un baseline de comportamiento "normal".</a:t>
            </a:r>
          </a:p>
          <a:p>
            <a:pPr>
              <a:spcAft>
                <a:spcPts val="600"/>
              </a:spcAft>
            </a:pPr>
            <a:r>
              <a:rPr sz="1500">
                <a:solidFill>
                  <a:srgbClr val="22282E"/>
                </a:solidFill>
              </a:rPr>
              <a:t>•  Entrena un detector no supervisado.</a:t>
            </a:r>
          </a:p>
          <a:p>
            <a:pPr>
              <a:spcAft>
                <a:spcPts val="600"/>
              </a:spcAft>
            </a:pPr>
            <a:r>
              <a:rPr sz="1500">
                <a:solidFill>
                  <a:srgbClr val="22282E"/>
                </a:solidFill>
              </a:rPr>
              <a:t>•  from sklearn.ensemble import IsolationForest</a:t>
            </a:r>
          </a:p>
          <a:p>
            <a:pPr>
              <a:spcAft>
                <a:spcPts val="600"/>
              </a:spcAft>
            </a:pPr>
            <a:r>
              <a:rPr sz="1500">
                <a:solidFill>
                  <a:srgbClr val="22282E"/>
                </a:solidFill>
              </a:rPr>
              <a:t>•  det = IsolationForest(contamination=0.01, randomstate=42).fit(Xtrain)</a:t>
            </a:r>
          </a:p>
          <a:p>
            <a:pPr>
              <a:spcAft>
                <a:spcPts val="600"/>
              </a:spcAft>
            </a:pPr>
            <a:r>
              <a:rPr sz="1500">
                <a:solidFill>
                  <a:srgbClr val="22282E"/>
                </a:solidFill>
              </a:rPr>
              <a:t>•  scores = det.decisionfunction(Xtest)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con números por qué la accuracy engaña en detección con clases desbalanceadas.</a:t>
            </a:r>
          </a:p>
          <a:p>
            <a:pPr>
              <a:spcAft>
                <a:spcPts val="600"/>
              </a:spcAft>
            </a:pPr>
            <a:r>
              <a:rPr sz="1500">
                <a:solidFill>
                  <a:srgbClr val="22282E"/>
                </a:solidFill>
              </a:rPr>
              <a:t>•  Traza la curva precision-recall de tu detector y elige un umbral operativo justificado.</a:t>
            </a:r>
          </a:p>
          <a:p>
            <a:pPr>
              <a:spcAft>
                <a:spcPts val="600"/>
              </a:spcAft>
            </a:pPr>
            <a:r>
              <a:rPr sz="1500">
                <a:solidFill>
                  <a:srgbClr val="22282E"/>
                </a:solidFill>
              </a:rPr>
              <a:t>•  Compara IsolationForest con LocalOutlierFactor en tu dataset.</a:t>
            </a:r>
          </a:p>
          <a:p>
            <a:pPr>
              <a:spcAft>
                <a:spcPts val="600"/>
              </a:spcAft>
            </a:pPr>
            <a:r>
              <a:rPr sz="1500">
                <a:solidFill>
                  <a:srgbClr val="22282E"/>
                </a:solidFill>
              </a:rPr>
              <a:t>•  Estima el coste diario en horas-analista de dos umbrales distintos.</a:t>
            </a:r>
          </a:p>
          <a:p>
            <a:pPr>
              <a:spcAft>
                <a:spcPts val="600"/>
              </a:spcAft>
            </a:pPr>
            <a:r>
              <a:rPr sz="1500">
                <a:solidFill>
                  <a:srgbClr val="22282E"/>
                </a:solidFill>
              </a:rPr>
              <a:t>•  Diseña 3 features de contexto que mejorarían el triage.</a:t>
            </a:r>
          </a:p>
          <a:p>
            <a:pPr>
              <a:spcAft>
                <a:spcPts val="600"/>
              </a:spcAft>
            </a:pPr>
            <a:r>
              <a:rPr sz="1500">
                <a:solidFill>
                  <a:srgbClr val="22282E"/>
                </a:solidFill>
              </a:rPr>
              <a:t>•  Describe un ataque de evasión realista contra tu detector y una contramedida.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Entrega un detector de anomalías evaluado honestamente: código reproducible, matriz de confusión, curva precision-recall, un umbral operativo justificado por el coste de falsos positivos, y una sección que discuta la evadibilidad.</a:t>
            </a:r>
          </a:p>
          <a:p>
            <a:pPr>
              <a:spcAft>
                <a:spcPts val="600"/>
              </a:spcAft>
            </a:pPr>
            <a:r>
              <a:rPr sz="1500">
                <a:solidFill>
                  <a:srgbClr val="22282E"/>
                </a:solidFill>
              </a:rPr>
              <a:t>•  Criterio de aceptación: el informe NO usa accuracy como métrica principal, justifica el umbral en términos de recall vs. carga de alertas, y contiene al menos un experimento de evasión que muestre la caída del recall. Un revisor debe entender por qué el modelo es útil pero no suficiente por sí solo.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"Mi detector tiene 99% de accuracy" — Base rate fallacy. Usa precisión, recall, F1 y FPR, no accuracy.</a:t>
            </a:r>
          </a:p>
          <a:p>
            <a:pPr>
              <a:spcAft>
                <a:spcPts val="600"/>
              </a:spcAft>
            </a:pPr>
            <a:r>
              <a:rPr sz="1500">
                <a:solidFill>
                  <a:srgbClr val="22282E"/>
                </a:solidFill>
              </a:rPr>
              <a:t>•  Miles de falsos positivos diarios — Umbral demasiado sensible. Ajusta el umbral y añade contexto para priorizar.</a:t>
            </a:r>
          </a:p>
          <a:p>
            <a:pPr>
              <a:spcAft>
                <a:spcPts val="600"/>
              </a:spcAft>
            </a:pPr>
            <a:r>
              <a:rPr sz="1500">
                <a:solidFill>
                  <a:srgbClr val="22282E"/>
                </a:solidFill>
              </a:rPr>
              <a:t>•  El modelo funcionó y luego dejó de detectar — Concept drift. Monitoriza distribución y reentrena periódicamente.</a:t>
            </a:r>
          </a:p>
          <a:p>
            <a:pPr>
              <a:spcAft>
                <a:spcPts val="600"/>
              </a:spcAft>
            </a:pPr>
            <a:r>
              <a:rPr sz="1500">
                <a:solidFill>
                  <a:srgbClr val="22282E"/>
                </a:solidFill>
              </a:rPr>
              <a:t>•  El atacante pasa desapercibido — Evasión adaptativa. Combina ML con reglas y correlación; no confíes en una sola señal.</a:t>
            </a:r>
          </a:p>
          <a:p>
            <a:pPr>
              <a:spcAft>
                <a:spcPts val="600"/>
              </a:spcAft>
            </a:pPr>
            <a:r>
              <a:rPr sz="1500">
                <a:solidFill>
                  <a:srgbClr val="22282E"/>
                </a:solidFill>
              </a:rPr>
              <a:t>•  Etiquetas de ataque escasas o sucias — Aprendizaje supervisado poco fiable. Considera enfoques no supervisados o semisupervisados.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 ¿La IA reemplaza al analista del SOC?</a:t>
            </a:r>
          </a:p>
          <a:p>
            <a:pPr>
              <a:spcAft>
                <a:spcPts val="600"/>
              </a:spcAft>
            </a:pPr>
            <a:r>
              <a:rPr sz="1500">
                <a:solidFill>
                  <a:srgbClr val="22282E"/>
                </a:solidFill>
              </a:rPr>
              <a:t>•  No. Reduce ruido y prioriza, pero la decisión y la investigación siguen siendo humanas. Mal calibrada, la IA aumenta la fatiga en vez de reducirla.</a:t>
            </a:r>
          </a:p>
          <a:p>
            <a:pPr>
              <a:spcAft>
                <a:spcPts val="600"/>
              </a:spcAft>
            </a:pPr>
            <a:r>
              <a:rPr sz="1500">
                <a:solidFill>
                  <a:srgbClr val="22282E"/>
                </a:solidFill>
              </a:rPr>
              <a:t>•  ❓ ¿Supervisado o no supervisado para detección?</a:t>
            </a:r>
          </a:p>
          <a:p>
            <a:pPr>
              <a:spcAft>
                <a:spcPts val="600"/>
              </a:spcAft>
            </a:pPr>
            <a:r>
              <a:rPr sz="1500">
                <a:solidFill>
                  <a:srgbClr val="22282E"/>
                </a:solidFill>
              </a:rPr>
              <a:t>•  Depende de los datos. Los ataques suelen ser raros y mal etiquetados, así que el no supervisado (anomalías) es común; el supervisado brilla cuando hay etiquetas abundantes y de calidad.</a:t>
            </a:r>
          </a:p>
          <a:p>
            <a:pPr>
              <a:spcAft>
                <a:spcPts val="600"/>
              </a:spcAft>
            </a:pPr>
            <a:r>
              <a:rPr sz="1500">
                <a:solidFill>
                  <a:srgbClr val="22282E"/>
                </a:solidFill>
              </a:rPr>
              <a:t>•  ❓ ¿Por qué tanto énfasis en los falsos positivos?</a:t>
            </a:r>
          </a:p>
          <a:p>
            <a:pPr>
              <a:spcAft>
                <a:spcPts val="600"/>
              </a:spcAft>
            </a:pPr>
            <a:r>
              <a:rPr sz="1500">
                <a:solidFill>
                  <a:srgbClr val="22282E"/>
                </a:solidFill>
              </a:rPr>
              <a:t>•  Porque con base rates bajísimas, un FPR pequeño inunda al SOC de alertas inútiles. La precisión operativa manda sobre la accuracy académica.</a:t>
            </a:r>
          </a:p>
          <a:p>
            <a:pPr>
              <a:spcAft>
                <a:spcPts val="600"/>
              </a:spcAft>
            </a:pPr>
            <a:r>
              <a:rPr sz="1500">
                <a:solidFill>
                  <a:srgbClr val="22282E"/>
                </a:solidFill>
              </a:rPr>
              <a:t>•  ❓ ¿Puede un atacante engañar a mi detector?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Chandola, Banerjee &amp; Kumar, "Anomaly Detection: A Survey", ACM Computing Surveys, 2009.</a:t>
            </a:r>
          </a:p>
          <a:p>
            <a:pPr>
              <a:spcAft>
                <a:spcPts val="600"/>
              </a:spcAft>
            </a:pPr>
            <a:r>
              <a:rPr sz="1500">
                <a:solidFill>
                  <a:srgbClr val="22282E"/>
                </a:solidFill>
              </a:rPr>
              <a:t>•  Sommer &amp; Paxson, "Outside the Closed World: On Using ML for Network Intrusion Detection", IEEE S&amp;P 2010.</a:t>
            </a:r>
          </a:p>
          <a:p>
            <a:pPr>
              <a:spcAft>
                <a:spcPts val="600"/>
              </a:spcAft>
            </a:pPr>
            <a:r>
              <a:rPr sz="1500">
                <a:solidFill>
                  <a:srgbClr val="22282E"/>
                </a:solidFill>
              </a:rPr>
              <a:t>•  scikit-learn, Outlier detection — &lt;https://scikit-learn.org/stable/modules/outlierdetection.html&gt;</a:t>
            </a:r>
          </a:p>
          <a:p>
            <a:pPr>
              <a:spcAft>
                <a:spcPts val="600"/>
              </a:spcAft>
            </a:pPr>
            <a:r>
              <a:rPr sz="1500">
                <a:solidFill>
                  <a:srgbClr val="22282E"/>
                </a:solidFill>
              </a:rPr>
              <a:t>•  NIST AI RMF — &lt;https://www.nist.gov/itl/ai-risk-management-framework&gt;</a:t>
            </a:r>
          </a:p>
          <a:p>
            <a:pPr>
              <a:spcAft>
                <a:spcPts val="600"/>
              </a:spcAft>
            </a:pPr>
            <a:r>
              <a:rPr sz="1500">
                <a:solidFill>
                  <a:srgbClr val="22282E"/>
                </a:solidFill>
              </a:rPr>
              <a:t>•  MITRE ATLAS — &lt;https://atlas.mitre.org/&gt;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