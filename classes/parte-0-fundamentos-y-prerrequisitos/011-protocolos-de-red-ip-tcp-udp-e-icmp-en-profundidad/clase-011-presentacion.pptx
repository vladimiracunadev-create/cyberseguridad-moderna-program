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011 — Protocolos de red: IP, TCP, UDP e ICMP en profundidad</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Conocer al detalle los protocolos que mueven Internet: cómo se estructuran sus cabeceras, cómo TCP establece y cierra conexiones, en qué se diferencia UDP y para qué sirve ICMP. Este conocimiento es la base del escaneo de puertos, la detección de intrusiones y muchos ataques de 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Interpretar los campos clave de las cabeceras IP, TCP, UDP e ICMP.</a:t>
            </a:r>
          </a:p>
          <a:p>
            <a:pPr>
              <a:spcAft>
                <a:spcPts val="600"/>
              </a:spcAft>
            </a:pPr>
            <a:r>
              <a:rPr sz="1500">
                <a:solidFill>
                  <a:srgbClr val="22282E"/>
                </a:solidFill>
              </a:rPr>
              <a:t>•  Explicar el three-way handshake y el cierre de conexión TCP.</a:t>
            </a:r>
          </a:p>
          <a:p>
            <a:pPr>
              <a:spcAft>
                <a:spcPts val="600"/>
              </a:spcAft>
            </a:pPr>
            <a:r>
              <a:rPr sz="1500">
                <a:solidFill>
                  <a:srgbClr val="22282E"/>
                </a:solidFill>
              </a:rPr>
              <a:t>•  Distinguir TCP de UDP y cuándo se usa cada uno.</a:t>
            </a:r>
          </a:p>
          <a:p>
            <a:pPr>
              <a:spcAft>
                <a:spcPts val="600"/>
              </a:spcAft>
            </a:pPr>
            <a:r>
              <a:rPr sz="1500">
                <a:solidFill>
                  <a:srgbClr val="22282E"/>
                </a:solidFill>
              </a:rPr>
              <a:t>•  Relacionar flags y estados TCP con técnicas de escaneo.</a:t>
            </a:r>
          </a:p>
          <a:p>
            <a:pPr>
              <a:spcAft>
                <a:spcPts val="600"/>
              </a:spcAft>
            </a:pPr>
            <a:r>
              <a:rPr sz="1500">
                <a:solidFill>
                  <a:srgbClr val="22282E"/>
                </a:solidFill>
              </a:rPr>
              <a:t>•  Analizar una conversación real en Wireshark.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Cabecera IP</a:t>
            </a:r>
          </a:p>
          <a:p>
            <a:pPr>
              <a:spcAft>
                <a:spcPts val="600"/>
              </a:spcAft>
            </a:pPr>
            <a:r>
              <a:rPr sz="1500">
                <a:solidFill>
                  <a:srgbClr val="22282E"/>
                </a:solidFill>
              </a:rPr>
              <a:t>•  2 — Three-way handshake</a:t>
            </a:r>
          </a:p>
          <a:p>
            <a:pPr>
              <a:spcAft>
                <a:spcPts val="600"/>
              </a:spcAft>
            </a:pPr>
            <a:r>
              <a:rPr sz="1500">
                <a:solidFill>
                  <a:srgbClr val="22282E"/>
                </a:solidFill>
              </a:rPr>
              <a:t>•  3 — Flags TCP</a:t>
            </a:r>
          </a:p>
          <a:p>
            <a:pPr>
              <a:spcAft>
                <a:spcPts val="600"/>
              </a:spcAft>
            </a:pPr>
            <a:r>
              <a:rPr sz="1500">
                <a:solidFill>
                  <a:srgbClr val="22282E"/>
                </a:solidFill>
              </a:rPr>
              <a:t>•  4 — Estados TCP</a:t>
            </a:r>
          </a:p>
          <a:p>
            <a:pPr>
              <a:spcAft>
                <a:spcPts val="600"/>
              </a:spcAft>
            </a:pPr>
            <a:r>
              <a:rPr sz="1500">
                <a:solidFill>
                  <a:srgbClr val="22282E"/>
                </a:solidFill>
              </a:rPr>
              <a:t>•  5 — Ventana y secuencia</a:t>
            </a:r>
          </a:p>
          <a:p>
            <a:pPr>
              <a:spcAft>
                <a:spcPts val="600"/>
              </a:spcAft>
            </a:pPr>
            <a:r>
              <a:rPr sz="1500">
                <a:solidFill>
                  <a:srgbClr val="22282E"/>
                </a:solidFill>
              </a:rPr>
              <a:t>•  6 — UDP</a:t>
            </a:r>
          </a:p>
          <a:p>
            <a:pPr>
              <a:spcAft>
                <a:spcPts val="600"/>
              </a:spcAft>
            </a:pPr>
            <a:r>
              <a:rPr sz="1500">
                <a:solidFill>
                  <a:srgbClr val="22282E"/>
                </a:solidFill>
              </a:rPr>
              <a:t>•  7 — ICMP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TTL (Time To Live): contador de saltos en la cabecera IP; cada router lo decrementa. Clave: a 0 se descarta y se usa en traceroute y para inferir el SO.</a:t>
            </a:r>
          </a:p>
          <a:p>
            <a:pPr>
              <a:spcAft>
                <a:spcPts val="600"/>
              </a:spcAft>
            </a:pPr>
            <a:r>
              <a:rPr sz="1500">
                <a:solidFill>
                  <a:srgbClr val="22282E"/>
                </a:solidFill>
              </a:rPr>
              <a:t>•  Three-way handshake: SYN → SYN-ACK → ACK que abre una conexión TCP. Clave: base del connect scan y del SYN flood.</a:t>
            </a:r>
          </a:p>
          <a:p>
            <a:pPr>
              <a:spcAft>
                <a:spcPts val="600"/>
              </a:spcAft>
            </a:pPr>
            <a:r>
              <a:rPr sz="1500">
                <a:solidFill>
                  <a:srgbClr val="22282E"/>
                </a:solidFill>
              </a:rPr>
              <a:t>•  Flag RST: reinicio abrupto de conexión. Clave: un puerto TCP cerrado responde con RST; así el escáner sabe que está cerrado.</a:t>
            </a:r>
          </a:p>
          <a:p>
            <a:pPr>
              <a:spcAft>
                <a:spcPts val="600"/>
              </a:spcAft>
            </a:pPr>
            <a:r>
              <a:rPr sz="1500">
                <a:solidFill>
                  <a:srgbClr val="22282E"/>
                </a:solidFill>
              </a:rPr>
              <a:t>•  UDP: transporte sin conexión ni garantías. Clave: rápido, sin handshake; DNS, DHCP, VoIP lo usan.</a:t>
            </a:r>
          </a:p>
          <a:p>
            <a:pPr>
              <a:spcAft>
                <a:spcPts val="600"/>
              </a:spcAft>
            </a:pPr>
            <a:r>
              <a:rPr sz="1500">
                <a:solidFill>
                  <a:srgbClr val="22282E"/>
                </a:solidFill>
              </a:rPr>
              <a:t>•  ICMP: protocolo de control/diagnóstico (echo request/reply, unreachable). Clave: ping y traceroute; también usado para túneles y exfiltración.</a:t>
            </a:r>
          </a:p>
          <a:p>
            <a:pPr>
              <a:spcAft>
                <a:spcPts val="600"/>
              </a:spcAft>
            </a:pPr>
            <a:r>
              <a:rPr sz="1500">
                <a:solidFill>
                  <a:srgbClr val="22282E"/>
                </a:solidFill>
              </a:rPr>
              <a:t>•  Número de secuencia: identifica la posición de los bytes en el flujo TCP. Clave: su predictibilidad histórica permitió ataques de spoofing.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Usa Wireshark, tcpdump, y nmap en tu laboratorio aislado. Para generar tráfico controlado, curl, ping, nc. Conviene tener a la vista los diagramas de cabecera de los RFC 791 (IP) y 793 (TCP).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Capturar un handshake. En Kali, arranca la captura y luego conéctate a un servicio de la víctima:</a:t>
            </a:r>
          </a:p>
          <a:p>
            <a:pPr>
              <a:spcAft>
                <a:spcPts val="600"/>
              </a:spcAft>
            </a:pPr>
            <a:r>
              <a:rPr sz="1500">
                <a:solidFill>
                  <a:srgbClr val="22282E"/>
                </a:solidFill>
              </a:rPr>
              <a:t>•  sudo tcpdump -i eth0 -n 'tcp and host 10.10.10.6' -w tcp.pcap &amp;</a:t>
            </a:r>
          </a:p>
          <a:p>
            <a:pPr>
              <a:spcAft>
                <a:spcPts val="600"/>
              </a:spcAft>
            </a:pPr>
            <a:r>
              <a:rPr sz="1500">
                <a:solidFill>
                  <a:srgbClr val="22282E"/>
                </a:solidFill>
              </a:rPr>
              <a:t>•  curl http://10.10.10.6/ ; sudo pkill tcpdump</a:t>
            </a:r>
          </a:p>
          <a:p>
            <a:pPr>
              <a:spcAft>
                <a:spcPts val="600"/>
              </a:spcAft>
            </a:pPr>
            <a:r>
              <a:rPr sz="1500">
                <a:solidFill>
                  <a:srgbClr val="22282E"/>
                </a:solidFill>
              </a:rPr>
              <a:t>•  Analiza en Wireshark el filtro tcp.flags.syn == 1. Identifica SYN, SYN-ACK y ACK y anota números de secuencia y puertos.</a:t>
            </a:r>
          </a:p>
          <a:p>
            <a:pPr>
              <a:spcAft>
                <a:spcPts val="600"/>
              </a:spcAft>
            </a:pPr>
            <a:r>
              <a:rPr sz="1500">
                <a:solidFill>
                  <a:srgbClr val="22282E"/>
                </a:solidFill>
              </a:rPr>
              <a:t>•  Cierre de conexión. Localiza los paquetes FIN/ACK (o RST) al final de la conversación.</a:t>
            </a:r>
          </a:p>
          <a:p>
            <a:pPr>
              <a:spcAft>
                <a:spcPts val="600"/>
              </a:spcAft>
            </a:pPr>
            <a:r>
              <a:rPr sz="1500">
                <a:solidFill>
                  <a:srgbClr val="22282E"/>
                </a:solidFill>
              </a:rPr>
              <a:t>•  Escaneo SYN (half-open) contra tu víctima:</a:t>
            </a:r>
          </a:p>
          <a:p>
            <a:pPr>
              <a:spcAft>
                <a:spcPts val="600"/>
              </a:spcAft>
            </a:pPr>
            <a:r>
              <a:rPr sz="1500">
                <a:solidFill>
                  <a:srgbClr val="22282E"/>
                </a:solidFill>
              </a:rPr>
              <a:t>•  sudo nmap -sS -p 1-1000 10.10.10.6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Dibuja el three-way handshake indicando qué flag lleva cada paquete.</a:t>
            </a:r>
          </a:p>
          <a:p>
            <a:pPr>
              <a:spcAft>
                <a:spcPts val="600"/>
              </a:spcAft>
            </a:pPr>
            <a:r>
              <a:rPr sz="1500">
                <a:solidFill>
                  <a:srgbClr val="22282E"/>
                </a:solidFill>
              </a:rPr>
              <a:t>•  Explica qué respuesta da un puerto TCP abierto, cerrado y filtrado ante un SYN scan.</a:t>
            </a:r>
          </a:p>
          <a:p>
            <a:pPr>
              <a:spcAft>
                <a:spcPts val="600"/>
              </a:spcAft>
            </a:pPr>
            <a:r>
              <a:rPr sz="1500">
                <a:solidFill>
                  <a:srgbClr val="22282E"/>
                </a:solidFill>
              </a:rPr>
              <a:t>•  ¿Por qué el escaneo UDP es más lento y menos fiable que el TCP?</a:t>
            </a:r>
          </a:p>
          <a:p>
            <a:pPr>
              <a:spcAft>
                <a:spcPts val="600"/>
              </a:spcAft>
            </a:pPr>
            <a:r>
              <a:rPr sz="1500">
                <a:solidFill>
                  <a:srgbClr val="22282E"/>
                </a:solidFill>
              </a:rPr>
              <a:t>•  Interpreta el campo TTL de tres capturas y estima el SO de origen.</a:t>
            </a:r>
          </a:p>
          <a:p>
            <a:pPr>
              <a:spcAft>
                <a:spcPts val="600"/>
              </a:spcAft>
            </a:pPr>
            <a:r>
              <a:rPr sz="1500">
                <a:solidFill>
                  <a:srgbClr val="22282E"/>
                </a:solidFill>
              </a:rPr>
              <a:t>•  Explica la diferencia entre -sS (SYN) y -sT (connect) en nmap y sus implicaciones de sigilo.</a:t>
            </a:r>
          </a:p>
          <a:p>
            <a:pPr>
              <a:spcAft>
                <a:spcPts val="600"/>
              </a:spcAft>
            </a:pPr>
            <a:r>
              <a:rPr sz="1500">
                <a:solidFill>
                  <a:srgbClr val="22282E"/>
                </a:solidFill>
              </a:rPr>
              <a:t>•  Describe cómo ICMP puede usarse para exfiltrar datos (túnel ICMP) y cómo detectarlo.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Realiza y documenta un escaneo comparativo contra tu VM víctima: un SYN scan y un connect scan sobre el mismo rango, capturando ambos en Wireshark. Entrega una tabla que muestre, para 3 puertos (uno abierto, uno cerrado, uno filtrado), qué paquetes se intercambiaron en cada tipo de escaneo.</a:t>
            </a:r>
          </a:p>
          <a:p>
            <a:pPr>
              <a:spcAft>
                <a:spcPts val="600"/>
              </a:spcAft>
            </a:pPr>
            <a:r>
              <a:rPr sz="1500">
                <a:solidFill>
                  <a:srgbClr val="22282E"/>
                </a:solidFill>
              </a:rPr>
              <a:t>•  Criterio de aceptación: la tabla refleja correctamente las respuestas (SYN-ACK/RST/sin respuesta) y explica por qué el SYN scan no completa el handshake mientras el connect sí. Las capturas adjuntas respaldan cada fila.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Todos los puertos aparecen "filtered" — Un firewall descarta los paquetes. Ajusta el escenario o usa -Pn/timing distinto.</a:t>
            </a:r>
          </a:p>
          <a:p>
            <a:pPr>
              <a:spcAft>
                <a:spcPts val="600"/>
              </a:spcAft>
            </a:pPr>
            <a:r>
              <a:rPr sz="1500">
                <a:solidFill>
                  <a:srgbClr val="22282E"/>
                </a:solidFill>
              </a:rPr>
              <a:t>•  nmap SYN scan requiere root — El SYN scan usa paquetes crudos. Ejecuta con sudo.</a:t>
            </a:r>
          </a:p>
          <a:p>
            <a:pPr>
              <a:spcAft>
                <a:spcPts val="600"/>
              </a:spcAft>
            </a:pPr>
            <a:r>
              <a:rPr sz="1500">
                <a:solidFill>
                  <a:srgbClr val="22282E"/>
                </a:solidFill>
              </a:rPr>
              <a:t>•  UDP scan tarda muchísimo — Es normal: sin respuesta, nmap espera y reintenta. Limita puertos.</a:t>
            </a:r>
          </a:p>
          <a:p>
            <a:pPr>
              <a:spcAft>
                <a:spcPts val="600"/>
              </a:spcAft>
            </a:pPr>
            <a:r>
              <a:rPr sz="1500">
                <a:solidFill>
                  <a:srgbClr val="22282E"/>
                </a:solidFill>
              </a:rPr>
              <a:t>•  Confundir puerto cerrado con filtrado — Cerrado responde (RST/ICMP); filtrado no responde. Distínguelos por la respuesta.</a:t>
            </a:r>
          </a:p>
          <a:p>
            <a:pPr>
              <a:spcAft>
                <a:spcPts val="600"/>
              </a:spcAft>
            </a:pPr>
            <a:r>
              <a:rPr sz="1500">
                <a:solidFill>
                  <a:srgbClr val="22282E"/>
                </a:solidFill>
              </a:rPr>
              <a:t>•  TTL no coincide con el esperado — Hubo saltos intermedios (routers). Cuenta relativo al valor inicial típico.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el SYN scan es "sigiloso"? Porque no completa el handshake (envía RST tras el SYN-ACK), por lo que muchas apps no registran la conexión. Aun así, los IDS modernos lo detectan.</a:t>
            </a:r>
          </a:p>
          <a:p>
            <a:pPr>
              <a:spcAft>
                <a:spcPts val="600"/>
              </a:spcAft>
            </a:pPr>
            <a:r>
              <a:rPr sz="1500">
                <a:solidFill>
                  <a:srgbClr val="22282E"/>
                </a:solidFill>
              </a:rPr>
              <a:t>•  ❓ ¿UDP es "inseguro" por no tener handshake? No es inseguro por sí mismo; simplemente no garantiza entrega ni orden. Protocolos sobre UDP (DNS, QUIC) añaden sus propias garantías o cifrado.</a:t>
            </a:r>
          </a:p>
          <a:p>
            <a:pPr>
              <a:spcAft>
                <a:spcPts val="600"/>
              </a:spcAft>
            </a:pPr>
            <a:r>
              <a:rPr sz="1500">
                <a:solidFill>
                  <a:srgbClr val="22282E"/>
                </a:solidFill>
              </a:rPr>
              <a:t>•  ❓ ¿Se puede bloquear todo ICMP sin consecuencias? No conviene: rompes diagnóstico (ping, PMTUD). Filtra selectivamente en lugar de bloquear ICMP por completo.</a:t>
            </a:r>
          </a:p>
          <a:p>
            <a:pPr>
              <a:spcAft>
                <a:spcPts val="600"/>
              </a:spcAft>
            </a:pPr>
            <a:r>
              <a:rPr sz="1500">
                <a:solidFill>
                  <a:srgbClr val="22282E"/>
                </a:solidFill>
              </a:rPr>
              <a:t>•  ❓ ¿Los números de secuencia siguen siendo predecibles? Los SO modernos los aleatorizan (ISN), mitigando el spoofing clásico. Es un buen ejemplo de cómo una debilidad de diseño se corrige con el tiempo.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RFC 791 (IP) — &lt;https://www.rfc-editor.org/rfc/rfc791&gt;</a:t>
            </a:r>
          </a:p>
          <a:p>
            <a:pPr>
              <a:spcAft>
                <a:spcPts val="600"/>
              </a:spcAft>
            </a:pPr>
            <a:r>
              <a:rPr sz="1500">
                <a:solidFill>
                  <a:srgbClr val="22282E"/>
                </a:solidFill>
              </a:rPr>
              <a:t>•  RFC 793 (TCP) — &lt;https://www.rfc-editor.org/rfc/rfc793&gt;</a:t>
            </a:r>
          </a:p>
          <a:p>
            <a:pPr>
              <a:spcAft>
                <a:spcPts val="600"/>
              </a:spcAft>
            </a:pPr>
            <a:r>
              <a:rPr sz="1500">
                <a:solidFill>
                  <a:srgbClr val="22282E"/>
                </a:solidFill>
              </a:rPr>
              <a:t>•  Nmap Reference Guide — &lt;https://nmap.org/book/man.html&gt;</a:t>
            </a:r>
          </a:p>
          <a:p>
            <a:pPr>
              <a:spcAft>
                <a:spcPts val="600"/>
              </a:spcAft>
            </a:pPr>
            <a:r>
              <a:rPr sz="1500">
                <a:solidFill>
                  <a:srgbClr val="22282E"/>
                </a:solidFill>
              </a:rPr>
              <a:t>•  W. R. Stevens, TCP/IP Illustrated, Vol.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