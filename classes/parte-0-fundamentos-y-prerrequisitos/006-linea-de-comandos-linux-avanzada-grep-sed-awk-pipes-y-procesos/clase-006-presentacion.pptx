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006 — Línea de comandos Linux avanzada: grep, sed, awk, pipes y procesos</a:t>
            </a:r>
          </a:p>
          <a:p>
            <a:r>
              <a:rPr sz="1600">
                <a:solidFill>
                  <a:srgbClr val="2E8B57"/>
                </a:solidFill>
              </a:rPr>
              <a:t>parte 0 fundamentos y prerrequisitos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Convertir la terminal en tu herramienta más rápida para procesar texto, logs y salidas de herramientas. Al terminar podrás encadenar comandos con pipes, filtrar con grep, transformar con sed, extraer campos con awk y controlar procesos, habilidades imprescindibles para el análisis de logs y la automatización.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Construir tuberías (pipes) que combinen varios comandos.</a:t>
            </a:r>
          </a:p>
          <a:p>
            <a:pPr>
              <a:spcAft>
                <a:spcPts val="600"/>
              </a:spcAft>
            </a:pPr>
            <a:r>
              <a:rPr sz="1500">
                <a:solidFill>
                  <a:srgbClr val="22282E"/>
                </a:solidFill>
              </a:rPr>
              <a:t>•  Filtrar texto con grep y expresiones regulares básicas.</a:t>
            </a:r>
          </a:p>
          <a:p>
            <a:pPr>
              <a:spcAft>
                <a:spcPts val="600"/>
              </a:spcAft>
            </a:pPr>
            <a:r>
              <a:rPr sz="1500">
                <a:solidFill>
                  <a:srgbClr val="22282E"/>
                </a:solidFill>
              </a:rPr>
              <a:t>•  Transformar flujos con sed (sustitución, borrado, rangos).</a:t>
            </a:r>
          </a:p>
          <a:p>
            <a:pPr>
              <a:spcAft>
                <a:spcPts val="600"/>
              </a:spcAft>
            </a:pPr>
            <a:r>
              <a:rPr sz="1500">
                <a:solidFill>
                  <a:srgbClr val="22282E"/>
                </a:solidFill>
              </a:rPr>
              <a:t>•  Extraer y agregar campos con awk.</a:t>
            </a:r>
          </a:p>
          <a:p>
            <a:pPr>
              <a:spcAft>
                <a:spcPts val="600"/>
              </a:spcAft>
            </a:pPr>
            <a:r>
              <a:rPr sz="1500">
                <a:solidFill>
                  <a:srgbClr val="22282E"/>
                </a:solidFill>
              </a:rPr>
              <a:t>•  Gestionar procesos: listar, priorizar, señales y jobs.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Streams y redirección</a:t>
            </a:r>
          </a:p>
          <a:p>
            <a:pPr>
              <a:spcAft>
                <a:spcPts val="600"/>
              </a:spcAft>
            </a:pPr>
            <a:r>
              <a:rPr sz="1500">
                <a:solidFill>
                  <a:srgbClr val="22282E"/>
                </a:solidFill>
              </a:rPr>
              <a:t>•  2 — Pipes</a:t>
            </a:r>
          </a:p>
          <a:p>
            <a:pPr>
              <a:spcAft>
                <a:spcPts val="600"/>
              </a:spcAft>
            </a:pPr>
            <a:r>
              <a:rPr sz="1500">
                <a:solidFill>
                  <a:srgbClr val="22282E"/>
                </a:solidFill>
              </a:rPr>
              <a:t>•  3 — grep</a:t>
            </a:r>
          </a:p>
          <a:p>
            <a:pPr>
              <a:spcAft>
                <a:spcPts val="600"/>
              </a:spcAft>
            </a:pPr>
            <a:r>
              <a:rPr sz="1500">
                <a:solidFill>
                  <a:srgbClr val="22282E"/>
                </a:solidFill>
              </a:rPr>
              <a:t>•  4 — sed</a:t>
            </a:r>
          </a:p>
          <a:p>
            <a:pPr>
              <a:spcAft>
                <a:spcPts val="600"/>
              </a:spcAft>
            </a:pPr>
            <a:r>
              <a:rPr sz="1500">
                <a:solidFill>
                  <a:srgbClr val="22282E"/>
                </a:solidFill>
              </a:rPr>
              <a:t>•  5 — awk</a:t>
            </a:r>
          </a:p>
          <a:p>
            <a:pPr>
              <a:spcAft>
                <a:spcPts val="600"/>
              </a:spcAft>
            </a:pPr>
            <a:r>
              <a:rPr sz="1500">
                <a:solidFill>
                  <a:srgbClr val="22282E"/>
                </a:solidFill>
              </a:rPr>
              <a:t>•  6 — Orden y unicidad</a:t>
            </a:r>
          </a:p>
          <a:p>
            <a:pPr>
              <a:spcAft>
                <a:spcPts val="600"/>
              </a:spcAft>
            </a:pPr>
            <a:r>
              <a:rPr sz="1500">
                <a:solidFill>
                  <a:srgbClr val="22282E"/>
                </a:solidFill>
              </a:rPr>
              <a:t>•  7 — Procesos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stdin/stdout/stderr: canales estándar (0, 1, 2). Clave: 2&gt; redirige errores; &gt; y &gt;&gt; escriben/anexan.</a:t>
            </a:r>
          </a:p>
          <a:p>
            <a:pPr>
              <a:spcAft>
                <a:spcPts val="600"/>
              </a:spcAft>
            </a:pPr>
            <a:r>
              <a:rPr sz="1500">
                <a:solidFill>
                  <a:srgbClr val="22282E"/>
                </a:solidFill>
              </a:rPr>
              <a:t>•  Pipe (|): conecta la salida de un comando con la entrada del siguiente. Clave: filosofía Unix de herramientas componibles.</a:t>
            </a:r>
          </a:p>
          <a:p>
            <a:pPr>
              <a:spcAft>
                <a:spcPts val="600"/>
              </a:spcAft>
            </a:pPr>
            <a:r>
              <a:rPr sz="1500">
                <a:solidFill>
                  <a:srgbClr val="22282E"/>
                </a:solidFill>
              </a:rPr>
              <a:t>•  grep: filtra líneas que coinciden con un patrón. Clave: -r recursivo, -i sin distinción de mayúsculas, -E regex extendida.</a:t>
            </a:r>
          </a:p>
          <a:p>
            <a:pPr>
              <a:spcAft>
                <a:spcPts val="600"/>
              </a:spcAft>
            </a:pPr>
            <a:r>
              <a:rPr sz="1500">
                <a:solidFill>
                  <a:srgbClr val="22282E"/>
                </a:solidFill>
              </a:rPr>
              <a:t>•  sed: editor de flujo orientado a líneas. Clave: s/patrón/reemplazo/g es su uso más común.</a:t>
            </a:r>
          </a:p>
          <a:p>
            <a:pPr>
              <a:spcAft>
                <a:spcPts val="600"/>
              </a:spcAft>
            </a:pPr>
            <a:r>
              <a:rPr sz="1500">
                <a:solidFill>
                  <a:srgbClr val="22282E"/>
                </a:solidFill>
              </a:rPr>
              <a:t>•  awk: lenguaje para procesar texto por campos. Clave: $1, $2... son las columnas; NR el número de línea.</a:t>
            </a:r>
          </a:p>
          <a:p>
            <a:pPr>
              <a:spcAft>
                <a:spcPts val="600"/>
              </a:spcAft>
            </a:pPr>
            <a:r>
              <a:rPr sz="1500">
                <a:solidFill>
                  <a:srgbClr val="22282E"/>
                </a:solidFill>
              </a:rPr>
              <a:t>•  Señal: mensaje al proceso (SIGTERM, SIGKILL, SIGHUP). Clave: kill -9 es forzado y no permite limpieza.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Todo viene de serie en Linux: grep, sed, awk (gawk), sort, uniq, cut, tr, wc, ps, top/htop, kill. Descarga un log de ejemplo (por ejemplo /var/log/auth.log o el access.log de un servidor web) para practicar sobre datos reales.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Redirección y streams:</a:t>
            </a:r>
          </a:p>
          <a:p>
            <a:pPr>
              <a:spcAft>
                <a:spcPts val="600"/>
              </a:spcAft>
            </a:pPr>
            <a:r>
              <a:rPr sz="1500">
                <a:solidFill>
                  <a:srgbClr val="22282E"/>
                </a:solidFill>
              </a:rPr>
              <a:t>•  ls /noexiste /etc 1&gt;salida.txt 2&gt;errores.txt ; cat errores.txt</a:t>
            </a:r>
          </a:p>
          <a:p>
            <a:pPr>
              <a:spcAft>
                <a:spcPts val="600"/>
              </a:spcAft>
            </a:pPr>
            <a:r>
              <a:rPr sz="1500">
                <a:solidFill>
                  <a:srgbClr val="22282E"/>
                </a:solidFill>
              </a:rPr>
              <a:t>•  Pipes básicas. Cuenta cuántos usuarios hay en el sistema:</a:t>
            </a:r>
          </a:p>
          <a:p>
            <a:pPr>
              <a:spcAft>
                <a:spcPts val="600"/>
              </a:spcAft>
            </a:pPr>
            <a:r>
              <a:rPr sz="1500">
                <a:solidFill>
                  <a:srgbClr val="22282E"/>
                </a:solidFill>
              </a:rPr>
              <a:t>•  cut -d: -f1 /etc/passwd | sort | wc -l</a:t>
            </a:r>
          </a:p>
          <a:p>
            <a:pPr>
              <a:spcAft>
                <a:spcPts val="600"/>
              </a:spcAft>
            </a:pPr>
            <a:r>
              <a:rPr sz="1500">
                <a:solidFill>
                  <a:srgbClr val="22282E"/>
                </a:solidFill>
              </a:rPr>
              <a:t>•  grep en logs. Busca intentos de login fallidos:</a:t>
            </a:r>
          </a:p>
          <a:p>
            <a:pPr>
              <a:spcAft>
                <a:spcPts val="600"/>
              </a:spcAft>
            </a:pPr>
            <a:r>
              <a:rPr sz="1500">
                <a:solidFill>
                  <a:srgbClr val="22282E"/>
                </a:solidFill>
              </a:rPr>
              <a:t>•  grep -i "failed password" /var/log/auth.log | head</a:t>
            </a:r>
          </a:p>
          <a:p>
            <a:pPr>
              <a:spcAft>
                <a:spcPts val="600"/>
              </a:spcAft>
            </a:pPr>
            <a:r>
              <a:rPr sz="1500">
                <a:solidFill>
                  <a:srgbClr val="22282E"/>
                </a:solidFill>
              </a:rPr>
              <a:t>•  Extraer IPs con awk. De esos fallos, saca la IP atacante (ajusta el campo):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 partir de un access.log, obtén el top 10 de IPs con más peticiones.</a:t>
            </a:r>
          </a:p>
          <a:p>
            <a:pPr>
              <a:spcAft>
                <a:spcPts val="600"/>
              </a:spcAft>
            </a:pPr>
            <a:r>
              <a:rPr sz="1500">
                <a:solidFill>
                  <a:srgbClr val="22282E"/>
                </a:solidFill>
              </a:rPr>
              <a:t>•  Cuenta cuántas peticiones devolvieron código 404 usando awk.</a:t>
            </a:r>
          </a:p>
          <a:p>
            <a:pPr>
              <a:spcAft>
                <a:spcPts val="600"/>
              </a:spcAft>
            </a:pPr>
            <a:r>
              <a:rPr sz="1500">
                <a:solidFill>
                  <a:srgbClr val="22282E"/>
                </a:solidFill>
              </a:rPr>
              <a:t>•  Con sed, cambia todas las apariciones de http:// por https:// en un archivo.</a:t>
            </a:r>
          </a:p>
          <a:p>
            <a:pPr>
              <a:spcAft>
                <a:spcPts val="600"/>
              </a:spcAft>
            </a:pPr>
            <a:r>
              <a:rPr sz="1500">
                <a:solidFill>
                  <a:srgbClr val="22282E"/>
                </a:solidFill>
              </a:rPr>
              <a:t>•  Extrae solo los nombres de usuario con shell /bin/bash de /etc/passwd.</a:t>
            </a:r>
          </a:p>
          <a:p>
            <a:pPr>
              <a:spcAft>
                <a:spcPts val="600"/>
              </a:spcAft>
            </a:pPr>
            <a:r>
              <a:rPr sz="1500">
                <a:solidFill>
                  <a:srgbClr val="22282E"/>
                </a:solidFill>
              </a:rPr>
              <a:t>•  Muestra los 5 procesos que más memoria consumen, con usuario y PID.</a:t>
            </a:r>
          </a:p>
          <a:p>
            <a:pPr>
              <a:spcAft>
                <a:spcPts val="600"/>
              </a:spcAft>
            </a:pPr>
            <a:r>
              <a:rPr sz="1500">
                <a:solidFill>
                  <a:srgbClr val="22282E"/>
                </a:solidFill>
              </a:rPr>
              <a:t>•  Combina grep, sort y uniq -c para contar user-agents distintos en un log web.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Escribe una única línea (one-liner) que, a partir de un log de acceso web, produzca un informe ordenado del top 10 de IPs por número de peticiones excluyendo las de tu propia red interna. Documenta cada comando de la tubería.</a:t>
            </a:r>
          </a:p>
          <a:p>
            <a:pPr>
              <a:spcAft>
                <a:spcPts val="600"/>
              </a:spcAft>
            </a:pPr>
            <a:r>
              <a:rPr sz="1500">
                <a:solidFill>
                  <a:srgbClr val="22282E"/>
                </a:solidFill>
              </a:rPr>
              <a:t>•  Criterio de aceptación: el one-liner ejecuta sin errores sobre un access.log real y su salida es una lista de exactamente hasta 10 IPs con su conteo, ordenadas de mayor a menor y sin incluir la subred interna filtrada. Otra persona puede explicar qué hace cada segmento del pipe.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grep no encuentra lo que ves en pantalla — Regex mal escrita o mayúsculas. Prueba -i y escapa caracteres especiales.</a:t>
            </a:r>
          </a:p>
          <a:p>
            <a:pPr>
              <a:spcAft>
                <a:spcPts val="600"/>
              </a:spcAft>
            </a:pPr>
            <a:r>
              <a:rPr sz="1500">
                <a:solidFill>
                  <a:srgbClr val="22282E"/>
                </a:solidFill>
              </a:rPr>
              <a:t>•  awk imprime campo vacío — El separador no es el esperado. Usa -F para fijar el delimitador (-F:).</a:t>
            </a:r>
          </a:p>
          <a:p>
            <a:pPr>
              <a:spcAft>
                <a:spcPts val="600"/>
              </a:spcAft>
            </a:pPr>
            <a:r>
              <a:rPr sz="1500">
                <a:solidFill>
                  <a:srgbClr val="22282E"/>
                </a:solidFill>
              </a:rPr>
              <a:t>•  sed -i corrompe o vacía el archivo — Editaste in-place sin copia. Prueba primero sin -i y guarda backup con -i.bak.</a:t>
            </a:r>
          </a:p>
          <a:p>
            <a:pPr>
              <a:spcAft>
                <a:spcPts val="600"/>
              </a:spcAft>
            </a:pPr>
            <a:r>
              <a:rPr sz="1500">
                <a:solidFill>
                  <a:srgbClr val="22282E"/>
                </a:solidFill>
              </a:rPr>
              <a:t>•  kill no mata el proceso — Ignora SIGTERM. Usa kill -9 (SIGKILL) como último recurso.</a:t>
            </a:r>
          </a:p>
          <a:p>
            <a:pPr>
              <a:spcAft>
                <a:spcPts val="600"/>
              </a:spcAft>
            </a:pPr>
            <a:r>
              <a:rPr sz="1500">
                <a:solidFill>
                  <a:srgbClr val="22282E"/>
                </a:solidFill>
              </a:rPr>
              <a:t>•  El pipe pierde los errores — stderr no viaja por el pipe; redirígelo con 2&gt;&amp;1 si lo necesitas.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¿grep, sed o awk? grep filtra, sed transforma línea a línea, awk procesa por columnas y agrega. Para contar/estadística por campos, awk; para sustituir texto, sed; para buscar, grep.</a:t>
            </a:r>
          </a:p>
          <a:p>
            <a:pPr>
              <a:spcAft>
                <a:spcPts val="600"/>
              </a:spcAft>
            </a:pPr>
            <a:r>
              <a:rPr sz="1500">
                <a:solidFill>
                  <a:srgbClr val="22282E"/>
                </a:solidFill>
              </a:rPr>
              <a:t>•  ❓ ¿kill -9 siempre es mejor? No. SIGKILL no deja al proceso limpiar (archivos temporales, sockets). Usa primero SIGTERM; reserva -9 para procesos colgados.</a:t>
            </a:r>
          </a:p>
          <a:p>
            <a:pPr>
              <a:spcAft>
                <a:spcPts val="600"/>
              </a:spcAft>
            </a:pPr>
            <a:r>
              <a:rPr sz="1500">
                <a:solidFill>
                  <a:srgbClr val="22282E"/>
                </a:solidFill>
              </a:rPr>
              <a:t>•  ❓ ¿Por qué mi one-liner es lento con archivos enormes? Ordenar y varias pasadas cuestan. Filtra pronto con grep, reduce datos antes de sort, y considera awk para hacerlo todo en una pasada.</a:t>
            </a:r>
          </a:p>
          <a:p>
            <a:pPr>
              <a:spcAft>
                <a:spcPts val="600"/>
              </a:spcAft>
            </a:pPr>
            <a:r>
              <a:rPr sz="1500">
                <a:solidFill>
                  <a:srgbClr val="22282E"/>
                </a:solidFill>
              </a:rPr>
              <a:t>•  ❓ ¿Necesito aprender regex a fondo? Lo básico ya multiplica tu productividad; en la Clase 019 profundizamos en expresiones regulares para logs y datos.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William Shotts, The Linux Command Line — &lt;https://linuxcommand.org/tlcl.php&gt;</a:t>
            </a:r>
          </a:p>
          <a:p>
            <a:pPr>
              <a:spcAft>
                <a:spcPts val="600"/>
              </a:spcAft>
            </a:pPr>
            <a:r>
              <a:rPr sz="1500">
                <a:solidFill>
                  <a:srgbClr val="22282E"/>
                </a:solidFill>
              </a:rPr>
              <a:t>•  man 1 grep, man 1 sed, man 1 awk</a:t>
            </a:r>
          </a:p>
          <a:p>
            <a:pPr>
              <a:spcAft>
                <a:spcPts val="600"/>
              </a:spcAft>
            </a:pPr>
            <a:r>
              <a:rPr sz="1500">
                <a:solidFill>
                  <a:srgbClr val="22282E"/>
                </a:solidFill>
              </a:rPr>
              <a:t>•  GNU Awk User's Guide — &lt;https://www.gnu.org/software/gawk/manual/&gt;</a:t>
            </a:r>
          </a:p>
          <a:p>
            <a:pPr>
              <a:spcAft>
                <a:spcPts val="600"/>
              </a:spcAft>
            </a:pPr>
            <a:r>
              <a:rPr sz="1500">
                <a:solidFill>
                  <a:srgbClr val="22282E"/>
                </a:solidFill>
              </a:rPr>
              <a:t>•  man 7 signal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