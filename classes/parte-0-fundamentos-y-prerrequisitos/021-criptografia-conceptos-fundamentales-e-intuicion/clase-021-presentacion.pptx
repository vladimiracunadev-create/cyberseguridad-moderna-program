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021 — Criptografía: conceptos fundamentales e intuición</a:t>
            </a:r>
          </a:p>
          <a:p>
            <a:r>
              <a:rPr sz="1600">
                <a:solidFill>
                  <a:srgbClr val="2E8B57"/>
                </a:solidFill>
              </a:rPr>
              <a:t>parte 0 fundamentos y prerrequisitos</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Construir la intuición criptográfica que sostiene TLS, firmas, autenticación y almacenamiento seguro de contraseñas. Al terminar entenderás cifrado simétrico y asimétrico, funciones hash, HMAC, firmas digitales y por qué "nunca inventes tu propia cripto". No se trata de matemáticas avanzadas, sino de saber usar las primitivas correctas.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Distinguir cifrado simétrico de asimétrico y sus usos.</a:t>
            </a:r>
          </a:p>
          <a:p>
            <a:pPr>
              <a:spcAft>
                <a:spcPts val="600"/>
              </a:spcAft>
            </a:pPr>
            <a:r>
              <a:rPr sz="1500">
                <a:solidFill>
                  <a:srgbClr val="22282E"/>
                </a:solidFill>
              </a:rPr>
              <a:t>•  Explicar funciones hash, colisiones y propiedades de seguridad.</a:t>
            </a:r>
          </a:p>
          <a:p>
            <a:pPr>
              <a:spcAft>
                <a:spcPts val="600"/>
              </a:spcAft>
            </a:pPr>
            <a:r>
              <a:rPr sz="1500">
                <a:solidFill>
                  <a:srgbClr val="22282E"/>
                </a:solidFill>
              </a:rPr>
              <a:t>•  Diferenciar hashing de contraseñas (bcrypt/argon2) de hash genérico.</a:t>
            </a:r>
          </a:p>
          <a:p>
            <a:pPr>
              <a:spcAft>
                <a:spcPts val="600"/>
              </a:spcAft>
            </a:pPr>
            <a:r>
              <a:rPr sz="1500">
                <a:solidFill>
                  <a:srgbClr val="22282E"/>
                </a:solidFill>
              </a:rPr>
              <a:t>•  Describir HMAC, firmas digitales e intercambio de claves.</a:t>
            </a:r>
          </a:p>
          <a:p>
            <a:pPr>
              <a:spcAft>
                <a:spcPts val="600"/>
              </a:spcAft>
            </a:pPr>
            <a:r>
              <a:rPr sz="1500">
                <a:solidFill>
                  <a:srgbClr val="22282E"/>
                </a:solidFill>
              </a:rPr>
              <a:t>•  Aplicar primitivas correctas con una librería confiable.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Terminología</a:t>
            </a:r>
          </a:p>
          <a:p>
            <a:pPr>
              <a:spcAft>
                <a:spcPts val="600"/>
              </a:spcAft>
            </a:pPr>
            <a:r>
              <a:rPr sz="1500">
                <a:solidFill>
                  <a:srgbClr val="22282E"/>
                </a:solidFill>
              </a:rPr>
              <a:t>•  2 — Cifrado simétrico</a:t>
            </a:r>
          </a:p>
          <a:p>
            <a:pPr>
              <a:spcAft>
                <a:spcPts val="600"/>
              </a:spcAft>
            </a:pPr>
            <a:r>
              <a:rPr sz="1500">
                <a:solidFill>
                  <a:srgbClr val="22282E"/>
                </a:solidFill>
              </a:rPr>
              <a:t>•  3 — Cifrado asimétrico</a:t>
            </a:r>
          </a:p>
          <a:p>
            <a:pPr>
              <a:spcAft>
                <a:spcPts val="600"/>
              </a:spcAft>
            </a:pPr>
            <a:r>
              <a:rPr sz="1500">
                <a:solidFill>
                  <a:srgbClr val="22282E"/>
                </a:solidFill>
              </a:rPr>
              <a:t>•  4 — Funciones hash</a:t>
            </a:r>
          </a:p>
          <a:p>
            <a:pPr>
              <a:spcAft>
                <a:spcPts val="600"/>
              </a:spcAft>
            </a:pPr>
            <a:r>
              <a:rPr sz="1500">
                <a:solidFill>
                  <a:srgbClr val="22282E"/>
                </a:solidFill>
              </a:rPr>
              <a:t>•  5 — Hash de contraseñas</a:t>
            </a:r>
          </a:p>
          <a:p>
            <a:pPr>
              <a:spcAft>
                <a:spcPts val="600"/>
              </a:spcAft>
            </a:pPr>
            <a:r>
              <a:rPr sz="1500">
                <a:solidFill>
                  <a:srgbClr val="22282E"/>
                </a:solidFill>
              </a:rPr>
              <a:t>•  6 — HMAC y MAC</a:t>
            </a:r>
          </a:p>
          <a:p>
            <a:pPr>
              <a:spcAft>
                <a:spcPts val="600"/>
              </a:spcAft>
            </a:pPr>
            <a:r>
              <a:rPr sz="1500">
                <a:solidFill>
                  <a:srgbClr val="22282E"/>
                </a:solidFill>
              </a:rPr>
              <a:t>•  7 — Firmas digitales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Cifrado simétrico: misma clave cifra y descifra (AES). Clave: rápido; problema = distribuir la clave de forma segura.</a:t>
            </a:r>
          </a:p>
          <a:p>
            <a:pPr>
              <a:spcAft>
                <a:spcPts val="600"/>
              </a:spcAft>
            </a:pPr>
            <a:r>
              <a:rPr sz="1500">
                <a:solidFill>
                  <a:srgbClr val="22282E"/>
                </a:solidFill>
              </a:rPr>
              <a:t>•  Cifrado asimétrico: par pública/privada (RSA, ECC). Clave: resuelve la distribución; más lento, se usa para intercambiar claves simétricas.</a:t>
            </a:r>
          </a:p>
          <a:p>
            <a:pPr>
              <a:spcAft>
                <a:spcPts val="600"/>
              </a:spcAft>
            </a:pPr>
            <a:r>
              <a:rPr sz="1500">
                <a:solidFill>
                  <a:srgbClr val="22282E"/>
                </a:solidFill>
              </a:rPr>
              <a:t>•  Función hash criptográfica: mapeo unidireccional resistente a colisiones (SHA-256). Clave: verifica integridad; MD5 y SHA-1 están rotos.</a:t>
            </a:r>
          </a:p>
          <a:p>
            <a:pPr>
              <a:spcAft>
                <a:spcPts val="600"/>
              </a:spcAft>
            </a:pPr>
            <a:r>
              <a:rPr sz="1500">
                <a:solidFill>
                  <a:srgbClr val="22282E"/>
                </a:solidFill>
              </a:rPr>
              <a:t>•  Sal (salt): valor aleatorio único por contraseña. Clave: impide tablas rainbow y que hashes iguales delaten contraseñas iguales.</a:t>
            </a:r>
          </a:p>
          <a:p>
            <a:pPr>
              <a:spcAft>
                <a:spcPts val="600"/>
              </a:spcAft>
            </a:pPr>
            <a:r>
              <a:rPr sz="1500">
                <a:solidFill>
                  <a:srgbClr val="22282E"/>
                </a:solidFill>
              </a:rPr>
              <a:t>•  HMAC: MAC basado en hash + clave secreta. Clave: garantiza integridad y autenticidad, a diferencia de un hash simple.</a:t>
            </a:r>
          </a:p>
          <a:p>
            <a:pPr>
              <a:spcAft>
                <a:spcPts val="600"/>
              </a:spcAft>
            </a:pPr>
            <a:r>
              <a:rPr sz="1500">
                <a:solidFill>
                  <a:srgbClr val="22282E"/>
                </a:solidFill>
              </a:rPr>
              <a:t>•  Firma digital: cifrar un hash con la clave privada. Clave: prueba autoría e integridad (no repudio).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Usa Python con la librería cryptography (de PyCA) y hashlib. Para contraseñas, bcrypt/argon2-cffi. Instala en tu venv:</a:t>
            </a:r>
          </a:p>
          <a:p>
            <a:pPr>
              <a:spcAft>
                <a:spcPts val="600"/>
              </a:spcAft>
            </a:pPr>
            <a:r>
              <a:rPr sz="1500">
                <a:solidFill>
                  <a:srgbClr val="22282E"/>
                </a:solidFill>
              </a:rPr>
              <a:t>•  pip install cryptography bcrypt argon2-cffi</a:t>
            </a:r>
          </a:p>
          <a:p>
            <a:pPr>
              <a:spcAft>
                <a:spcPts val="600"/>
              </a:spcAft>
            </a:pPr>
            <a:r>
              <a:rPr sz="1500">
                <a:solidFill>
                  <a:srgbClr val="22282E"/>
                </a:solidFill>
              </a:rPr>
              <a:t>•  También openssl en línea de comandos para experimentar. Regla de oro: usa librerías establecidas, nunca implementaciones caseras de primitivas.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Hash e integridad:</a:t>
            </a:r>
          </a:p>
          <a:p>
            <a:pPr>
              <a:spcAft>
                <a:spcPts val="600"/>
              </a:spcAft>
            </a:pPr>
            <a:r>
              <a:rPr sz="1500">
                <a:solidFill>
                  <a:srgbClr val="22282E"/>
                </a:solidFill>
              </a:rPr>
              <a:t>•  import hashlib</a:t>
            </a:r>
          </a:p>
          <a:p>
            <a:pPr>
              <a:spcAft>
                <a:spcPts val="600"/>
              </a:spcAft>
            </a:pPr>
            <a:r>
              <a:rPr sz="1500">
                <a:solidFill>
                  <a:srgbClr val="22282E"/>
                </a:solidFill>
              </a:rPr>
              <a:t>•  print(hashlib.sha256(b"mensaje").hexdigest())</a:t>
            </a:r>
          </a:p>
          <a:p>
            <a:pPr>
              <a:spcAft>
                <a:spcPts val="600"/>
              </a:spcAft>
            </a:pPr>
            <a:r>
              <a:rPr sz="1500">
                <a:solidFill>
                  <a:srgbClr val="22282E"/>
                </a:solidFill>
              </a:rPr>
              <a:t>•  Cambia un byte del mensaje y observa el efecto avalancha.</a:t>
            </a:r>
          </a:p>
          <a:p>
            <a:pPr>
              <a:spcAft>
                <a:spcPts val="600"/>
              </a:spcAft>
            </a:pPr>
            <a:r>
              <a:rPr sz="1500">
                <a:solidFill>
                  <a:srgbClr val="22282E"/>
                </a:solidFill>
              </a:rPr>
              <a:t>•  Por qué MD5/SHA-1 no valen. Investiga colisiones conocidas y razona por qué no deben usarse para integridad de seguridad.</a:t>
            </a:r>
          </a:p>
          <a:p>
            <a:pPr>
              <a:spcAft>
                <a:spcPts val="600"/>
              </a:spcAft>
            </a:pPr>
            <a:r>
              <a:rPr sz="1500">
                <a:solidFill>
                  <a:srgbClr val="22282E"/>
                </a:solidFill>
              </a:rPr>
              <a:t>•  Cifrado simétrico autenticado con AES-GCM (vía cryptography):</a:t>
            </a:r>
          </a:p>
          <a:p>
            <a:pPr>
              <a:spcAft>
                <a:spcPts val="600"/>
              </a:spcAft>
            </a:pPr>
            <a:r>
              <a:rPr sz="1500">
                <a:solidFill>
                  <a:srgbClr val="22282E"/>
                </a:solidFill>
              </a:rPr>
              <a:t>•  from cryptography.hazmat.primitives.ciphers.aead import AESGCM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Explica con un ejemplo cuándo usarías cifrado simétrico y cuándo asimétrico (y por qué se combinan).</a:t>
            </a:r>
          </a:p>
          <a:p>
            <a:pPr>
              <a:spcAft>
                <a:spcPts val="600"/>
              </a:spcAft>
            </a:pPr>
            <a:r>
              <a:rPr sz="1500">
                <a:solidFill>
                  <a:srgbClr val="22282E"/>
                </a:solidFill>
              </a:rPr>
              <a:t>•  Da tres propiedades que debe cumplir una función hash criptográfica.</a:t>
            </a:r>
          </a:p>
          <a:p>
            <a:pPr>
              <a:spcAft>
                <a:spcPts val="600"/>
              </a:spcAft>
            </a:pPr>
            <a:r>
              <a:rPr sz="1500">
                <a:solidFill>
                  <a:srgbClr val="22282E"/>
                </a:solidFill>
              </a:rPr>
              <a:t>•  Justifica por qué SHA-256 no es adecuado para almacenar contraseñas y qué usar en su lugar.</a:t>
            </a:r>
          </a:p>
          <a:p>
            <a:pPr>
              <a:spcAft>
                <a:spcPts val="600"/>
              </a:spcAft>
            </a:pPr>
            <a:r>
              <a:rPr sz="1500">
                <a:solidFill>
                  <a:srgbClr val="22282E"/>
                </a:solidFill>
              </a:rPr>
              <a:t>•  Describe cómo una firma digital aporta integridad, autenticidad y no repudio.</a:t>
            </a:r>
          </a:p>
          <a:p>
            <a:pPr>
              <a:spcAft>
                <a:spcPts val="600"/>
              </a:spcAft>
            </a:pPr>
            <a:r>
              <a:rPr sz="1500">
                <a:solidFill>
                  <a:srgbClr val="22282E"/>
                </a:solidFill>
              </a:rPr>
              <a:t>•  Explica el papel del IV/nonce y qué ocurre si se reutiliza en algunos modos.</a:t>
            </a:r>
          </a:p>
          <a:p>
            <a:pPr>
              <a:spcAft>
                <a:spcPts val="600"/>
              </a:spcAft>
            </a:pPr>
            <a:r>
              <a:rPr sz="1500">
                <a:solidFill>
                  <a:srgbClr val="22282E"/>
                </a:solidFill>
              </a:rPr>
              <a:t>•  Investiga qué es Diffie-Hellman y cómo permite acordar una clave sin transmitirla.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Implementa securebox.py, una herramienta que cifre y descifre un archivo con AES-GCM (clave derivada de una contraseña mediante un KDF adecuado como scrypt/argon2 con sal), verificando integridad al descifrar. Debe fallar de forma clara si el archivo fue manipulado o la contraseña es incorrecta.</a:t>
            </a:r>
          </a:p>
          <a:p>
            <a:pPr>
              <a:spcAft>
                <a:spcPts val="600"/>
              </a:spcAft>
            </a:pPr>
            <a:r>
              <a:rPr sz="1500">
                <a:solidFill>
                  <a:srgbClr val="22282E"/>
                </a:solidFill>
              </a:rPr>
              <a:t>•  Criterio de aceptación: un archivo cifrado y luego descifrado con la contraseña correcta se recupera idéntico (mismo SHA-256); alterar un byte del cifrado o usar contraseña errónea produce un error de autenticación explícito, no datos corruptos silenciosos. Usa una librería establecida (PyCA cryptography), sin cripto casera.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Almacenar contraseñas con SHA-256 sin sal — Vulnerable a rainbow tables y GPU cracking. Usa bcrypt/argon2 con sal.</a:t>
            </a:r>
          </a:p>
          <a:p>
            <a:pPr>
              <a:spcAft>
                <a:spcPts val="600"/>
              </a:spcAft>
            </a:pPr>
            <a:r>
              <a:rPr sz="1500">
                <a:solidFill>
                  <a:srgbClr val="22282E"/>
                </a:solidFill>
              </a:rPr>
              <a:t>•  Reutilizar el nonce en AES-GCM — Rompe la seguridad del cifrado. Genera un nonce único por mensaje.</a:t>
            </a:r>
          </a:p>
          <a:p>
            <a:pPr>
              <a:spcAft>
                <a:spcPts val="600"/>
              </a:spcAft>
            </a:pPr>
            <a:r>
              <a:rPr sz="1500">
                <a:solidFill>
                  <a:srgbClr val="22282E"/>
                </a:solidFill>
              </a:rPr>
              <a:t>•  Implementar AES "a mano" — Errores sutiles = inseguro. Usa librerías auditadas.</a:t>
            </a:r>
          </a:p>
          <a:p>
            <a:pPr>
              <a:spcAft>
                <a:spcPts val="600"/>
              </a:spcAft>
            </a:pPr>
            <a:r>
              <a:rPr sz="1500">
                <a:solidFill>
                  <a:srgbClr val="22282E"/>
                </a:solidFill>
              </a:rPr>
              <a:t>•  Usar MD5/SHA-1 para firmas o integridad — Están rotos por colisiones. Migra a SHA-256/SHA-3.</a:t>
            </a:r>
          </a:p>
          <a:p>
            <a:pPr>
              <a:spcAft>
                <a:spcPts val="600"/>
              </a:spcAft>
            </a:pPr>
            <a:r>
              <a:rPr sz="1500">
                <a:solidFill>
                  <a:srgbClr val="22282E"/>
                </a:solidFill>
              </a:rPr>
              <a:t>•  Cifrar sin autenticar (solo AES-CBC) — Permite manipulación. Usa modos autenticados (GCM) o "encrypt-then-MAC".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¿Por qué "no inventes tu propia cripto"? Porque las primitivas son fáciles de implementar mal de formas invisibles pero catastróficas (timing, padding, nonces). Las librerías establecidas han sido auditadas por expertos durante años.</a:t>
            </a:r>
          </a:p>
          <a:p>
            <a:pPr>
              <a:spcAft>
                <a:spcPts val="600"/>
              </a:spcAft>
            </a:pPr>
            <a:r>
              <a:rPr sz="1500">
                <a:solidFill>
                  <a:srgbClr val="22282E"/>
                </a:solidFill>
              </a:rPr>
              <a:t>•  ❓ ¿Cifrado o hashing para contraseñas? Ninguno de los dos "a secas": se usa un hash de contraseñas lento y con sal (bcrypt/scrypt/argon2), diseñado para resistir fuerza bruta.</a:t>
            </a:r>
          </a:p>
          <a:p>
            <a:pPr>
              <a:spcAft>
                <a:spcPts val="600"/>
              </a:spcAft>
            </a:pPr>
            <a:r>
              <a:rPr sz="1500">
                <a:solidFill>
                  <a:srgbClr val="22282E"/>
                </a:solidFill>
              </a:rPr>
              <a:t>•  ❓ ¿RSA está obsoleto? No, pero la criptografía de curva elíptica (ECC) ofrece la misma seguridad con claves más pequeñas y es preferida hoy. Ambos conviven.</a:t>
            </a:r>
          </a:p>
          <a:p>
            <a:pPr>
              <a:spcAft>
                <a:spcPts val="600"/>
              </a:spcAft>
            </a:pPr>
            <a:r>
              <a:rPr sz="1500">
                <a:solidFill>
                  <a:srgbClr val="22282E"/>
                </a:solidFill>
              </a:rPr>
              <a:t>•  ❓ ¿Qué es la criptografía post-cuántica? Algoritmos resistentes a computadores cuánticos, que amenazan RSA/ECC. El NIST ya estandariza esquemas PQC; es un tema emergente que solo introducimos aquí.</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Ferguson, Schneier &amp; Kohno, Cryptography Engineering.</a:t>
            </a:r>
          </a:p>
          <a:p>
            <a:pPr>
              <a:spcAft>
                <a:spcPts val="600"/>
              </a:spcAft>
            </a:pPr>
            <a:r>
              <a:rPr sz="1500">
                <a:solidFill>
                  <a:srgbClr val="22282E"/>
                </a:solidFill>
              </a:rPr>
              <a:t>•  PyCA cryptography — &lt;https://cryptography.io/&gt;</a:t>
            </a:r>
          </a:p>
          <a:p>
            <a:pPr>
              <a:spcAft>
                <a:spcPts val="600"/>
              </a:spcAft>
            </a:pPr>
            <a:r>
              <a:rPr sz="1500">
                <a:solidFill>
                  <a:srgbClr val="22282E"/>
                </a:solidFill>
              </a:rPr>
              <a:t>•  NIST Cryptographic Standards — &lt;https://csrc.nist.gov/projects/cryptographic-standards-and-guidelines&gt;</a:t>
            </a:r>
          </a:p>
          <a:p>
            <a:pPr>
              <a:spcAft>
                <a:spcPts val="600"/>
              </a:spcAft>
            </a:pPr>
            <a:r>
              <a:rPr sz="1500">
                <a:solidFill>
                  <a:srgbClr val="22282E"/>
                </a:solidFill>
              </a:rPr>
              <a:t>•  OWASP Password Storage Cheat Sheet — &lt;https://cheatsheetseries.owasp.org/cheatsheets/PasswordStorageCheatSheet.html&gt;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