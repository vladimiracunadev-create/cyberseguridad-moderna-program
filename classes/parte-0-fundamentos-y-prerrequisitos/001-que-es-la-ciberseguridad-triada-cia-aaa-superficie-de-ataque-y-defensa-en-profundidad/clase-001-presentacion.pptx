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001 — Qué es la ciberseguridad: tríada CIA, AAA, superficie de ataque y defensa en profundidad</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Construir el vocabulario y los modelos mentales sobre los que descansa todo el programa. Al terminar sabrás qué protege realmente la ciberseguridad (no "los hackers malos", sino propiedades concretas de la información), cómo se controla el acceso a los sistemas, qué es la superficie de ataque de un activo y por qué ninguna defensa aislada es suficiente.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Definir las tres propiedades de la tríada CIA y dar un ejemplo de ataque contra cada una.</a:t>
            </a:r>
          </a:p>
          <a:p>
            <a:pPr>
              <a:spcAft>
                <a:spcPts val="600"/>
              </a:spcAft>
            </a:pPr>
            <a:r>
              <a:rPr sz="1500">
                <a:solidFill>
                  <a:srgbClr val="22282E"/>
                </a:solidFill>
              </a:rPr>
              <a:t>•  Distinguir las tres A del modelo AAA (autenticación, autorización, accounting) y ubicarlas en un flujo de acceso.</a:t>
            </a:r>
          </a:p>
          <a:p>
            <a:pPr>
              <a:spcAft>
                <a:spcPts val="600"/>
              </a:spcAft>
            </a:pPr>
            <a:r>
              <a:rPr sz="1500">
                <a:solidFill>
                  <a:srgbClr val="22282E"/>
                </a:solidFill>
              </a:rPr>
              <a:t>•  Enumerar los componentes de la superficie de ataque de un sistema y proponer cómo reducirla.</a:t>
            </a:r>
          </a:p>
          <a:p>
            <a:pPr>
              <a:spcAft>
                <a:spcPts val="600"/>
              </a:spcAft>
            </a:pPr>
            <a:r>
              <a:rPr sz="1500">
                <a:solidFill>
                  <a:srgbClr val="22282E"/>
                </a:solidFill>
              </a:rPr>
              <a:t>•  Explicar el principio de defensa en profundidad con capas concretas.</a:t>
            </a:r>
          </a:p>
          <a:p>
            <a:pPr>
              <a:spcAft>
                <a:spcPts val="600"/>
              </a:spcAft>
            </a:pPr>
            <a:r>
              <a:rPr sz="1500">
                <a:solidFill>
                  <a:srgbClr val="22282E"/>
                </a:solidFill>
              </a:rPr>
              <a:t>•  Relacionar cada concepto con controles reales (cifrado, MFA, logs, segmentación).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Tríada CIA</a:t>
            </a:r>
          </a:p>
          <a:p>
            <a:pPr>
              <a:spcAft>
                <a:spcPts val="600"/>
              </a:spcAft>
            </a:pPr>
            <a:r>
              <a:rPr sz="1500">
                <a:solidFill>
                  <a:srgbClr val="22282E"/>
                </a:solidFill>
              </a:rPr>
              <a:t>•  2 — Propiedades extendidas</a:t>
            </a:r>
          </a:p>
          <a:p>
            <a:pPr>
              <a:spcAft>
                <a:spcPts val="600"/>
              </a:spcAft>
            </a:pPr>
            <a:r>
              <a:rPr sz="1500">
                <a:solidFill>
                  <a:srgbClr val="22282E"/>
                </a:solidFill>
              </a:rPr>
              <a:t>•  3 — Modelo AAA</a:t>
            </a:r>
          </a:p>
          <a:p>
            <a:pPr>
              <a:spcAft>
                <a:spcPts val="600"/>
              </a:spcAft>
            </a:pPr>
            <a:r>
              <a:rPr sz="1500">
                <a:solidFill>
                  <a:srgbClr val="22282E"/>
                </a:solidFill>
              </a:rPr>
              <a:t>•  4 — Superficie de ataque</a:t>
            </a:r>
          </a:p>
          <a:p>
            <a:pPr>
              <a:spcAft>
                <a:spcPts val="600"/>
              </a:spcAft>
            </a:pPr>
            <a:r>
              <a:rPr sz="1500">
                <a:solidFill>
                  <a:srgbClr val="22282E"/>
                </a:solidFill>
              </a:rPr>
              <a:t>•  5 — Vectores y amenazas</a:t>
            </a:r>
          </a:p>
          <a:p>
            <a:pPr>
              <a:spcAft>
                <a:spcPts val="600"/>
              </a:spcAft>
            </a:pPr>
            <a:r>
              <a:rPr sz="1500">
                <a:solidFill>
                  <a:srgbClr val="22282E"/>
                </a:solidFill>
              </a:rPr>
              <a:t>•  6 — Defensa en profundidad</a:t>
            </a:r>
          </a:p>
          <a:p>
            <a:pPr>
              <a:spcAft>
                <a:spcPts val="600"/>
              </a:spcAft>
            </a:pPr>
            <a:r>
              <a:rPr sz="1500">
                <a:solidFill>
                  <a:srgbClr val="22282E"/>
                </a:solidFill>
              </a:rPr>
              <a:t>•  7 — Principio de mínimo privilegio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Confidencialidad: garantía de que la información solo es accesible a quien está autorizado. Característica clave: se rompe con una fuga/disclosure; se protege con cifrado y control de acceso.</a:t>
            </a:r>
          </a:p>
          <a:p>
            <a:pPr>
              <a:spcAft>
                <a:spcPts val="600"/>
              </a:spcAft>
            </a:pPr>
            <a:r>
              <a:rPr sz="1500">
                <a:solidFill>
                  <a:srgbClr val="22282E"/>
                </a:solidFill>
              </a:rPr>
              <a:t>•  Integridad: garantía de que los datos no se alteran de forma no autorizada. Se verifica con hashes y firmas; se rompe con manipulación (tampering).</a:t>
            </a:r>
          </a:p>
          <a:p>
            <a:pPr>
              <a:spcAft>
                <a:spcPts val="600"/>
              </a:spcAft>
            </a:pPr>
            <a:r>
              <a:rPr sz="1500">
                <a:solidFill>
                  <a:srgbClr val="22282E"/>
                </a:solidFill>
              </a:rPr>
              <a:t>•  Disponibilidad: garantía de que el servicio está accesible cuando se necesita. Se ataca con DoS/DDoS; se protege con redundancia y capacidad.</a:t>
            </a:r>
          </a:p>
          <a:p>
            <a:pPr>
              <a:spcAft>
                <a:spcPts val="600"/>
              </a:spcAft>
            </a:pPr>
            <a:r>
              <a:rPr sz="1500">
                <a:solidFill>
                  <a:srgbClr val="22282E"/>
                </a:solidFill>
              </a:rPr>
              <a:t>•  Autenticación: probar que eres quien dices ser (algo que sabes/tienes/eres). Sin ella no hay identidad fiable.</a:t>
            </a:r>
          </a:p>
          <a:p>
            <a:pPr>
              <a:spcAft>
                <a:spcPts val="600"/>
              </a:spcAft>
            </a:pPr>
            <a:r>
              <a:rPr sz="1500">
                <a:solidFill>
                  <a:srgbClr val="22282E"/>
                </a:solidFill>
              </a:rPr>
              <a:t>•  Autorización: decidir qué puede hacer una identidad ya autenticada. Se implementa con RBAC/ABAC.</a:t>
            </a:r>
          </a:p>
          <a:p>
            <a:pPr>
              <a:spcAft>
                <a:spcPts val="600"/>
              </a:spcAft>
            </a:pPr>
            <a:r>
              <a:rPr sz="1500">
                <a:solidFill>
                  <a:srgbClr val="22282E"/>
                </a:solidFill>
              </a:rPr>
              <a:t>•  Accounting/Auditoría: registrar quién hizo qué y cuándo. Habilita la trazabilidad y el forense.</a:t>
            </a:r>
          </a:p>
          <a:p>
            <a:pPr>
              <a:spcAft>
                <a:spcPts val="600"/>
              </a:spcAft>
            </a:pPr>
            <a:r>
              <a:rPr sz="1500">
                <a:solidFill>
                  <a:srgbClr val="22282E"/>
                </a:solidFill>
              </a:rPr>
              <a:t>•  Superficie de ataque: suma de todos los puntos donde un atacante puede intentar entrar (puertos, APIs, formularios, personas). Menos superficie = menos riesgo.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Esta clase es conceptual, pero conviene tener papel/pizarra digital para diagramar. Instala draw.io (o usa &lt;https://app.diagrams.net&gt;) para dibujar diagramas de flujo de acceso y capas de defensa. Ten a mano el navegador para consultar el NIST CSF 2.0 y el glosario NIST 800-160. No hace falta laboratorio ofensivo todavía; se prepara en la Clase 004.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(ejercicio aplicado)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Elige un sistema real que conozcas (tu correo personal, un servidor web, un cajero). Anótalo.</a:t>
            </a:r>
          </a:p>
          <a:p>
            <a:pPr>
              <a:spcAft>
                <a:spcPts val="600"/>
              </a:spcAft>
            </a:pPr>
            <a:r>
              <a:rPr sz="1500">
                <a:solidFill>
                  <a:srgbClr val="22282E"/>
                </a:solidFill>
              </a:rPr>
              <a:t>•  CIA por activo: para ese sistema, escribe un ejemplo concreto de ataque que rompa (a) confidencialidad, (b) integridad, (c) disponibilidad.</a:t>
            </a:r>
          </a:p>
          <a:p>
            <a:pPr>
              <a:spcAft>
                <a:spcPts val="600"/>
              </a:spcAft>
            </a:pPr>
            <a:r>
              <a:rPr sz="1500">
                <a:solidFill>
                  <a:srgbClr val="22282E"/>
                </a:solidFill>
              </a:rPr>
              <a:t>•  Flujo AAA: dibuja en draw.io el recorrido de un login: identidad → autenticación (¿factor?) → autorización (¿qué permisos?) → accounting (¿qué se registra?).</a:t>
            </a:r>
          </a:p>
          <a:p>
            <a:pPr>
              <a:spcAft>
                <a:spcPts val="600"/>
              </a:spcAft>
            </a:pPr>
            <a:r>
              <a:rPr sz="1500">
                <a:solidFill>
                  <a:srgbClr val="22282E"/>
                </a:solidFill>
              </a:rPr>
              <a:t>•  Mapa de superficie de ataque: lista todos los puntos de entrada del sistema. Para un servidor web típico: puertos 80/443, SSH 22, panel de admin, formularios, dependencias, y el propio administrador (ingeniería social).</a:t>
            </a:r>
          </a:p>
          <a:p>
            <a:pPr>
              <a:spcAft>
                <a:spcPts val="600"/>
              </a:spcAft>
            </a:pPr>
            <a:r>
              <a:rPr sz="1500">
                <a:solidFill>
                  <a:srgbClr val="22282E"/>
                </a:solidFill>
              </a:rPr>
              <a:t>•  Reducción: junto a cada punto, escribe una medida de hardening (cerrar puerto, MFA, WAF, parcheo, formación).</a:t>
            </a:r>
          </a:p>
          <a:p>
            <a:pPr>
              <a:spcAft>
                <a:spcPts val="600"/>
              </a:spcAft>
            </a:pPr>
            <a:r>
              <a:rPr sz="1500">
                <a:solidFill>
                  <a:srgbClr val="22282E"/>
                </a:solidFill>
              </a:rPr>
              <a:t>•  Capas de defensa: reorganiza tus controles en capas: perímetro (firewall) → red (segmentación) → host (EDR, parches) → aplicación (validación) → datos (cifrado) → humano (concienciación).</a:t>
            </a:r>
          </a:p>
          <a:p>
            <a:pPr>
              <a:spcAft>
                <a:spcPts val="600"/>
              </a:spcAft>
            </a:pPr>
            <a:r>
              <a:rPr sz="1500">
                <a:solidFill>
                  <a:srgbClr val="22282E"/>
                </a:solidFill>
              </a:rPr>
              <a:t>•  Contrasta: si cae una capa, ¿qué otra frena al atacante? Esa es la esencia de la defensa en profundidad.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Clasifica estos incidentes según qué propiedad CIA violan: ransomware, defacement de una web, robo de base de datos, ataque de amplificación DNS.</a:t>
            </a:r>
          </a:p>
          <a:p>
            <a:pPr>
              <a:spcAft>
                <a:spcPts val="600"/>
              </a:spcAft>
            </a:pPr>
            <a:r>
              <a:rPr sz="1500">
                <a:solidFill>
                  <a:srgbClr val="22282E"/>
                </a:solidFill>
              </a:rPr>
              <a:t>•  Explica con un ejemplo la diferencia entre amenaza, vulnerabilidad y riesgo.</a:t>
            </a:r>
          </a:p>
          <a:p>
            <a:pPr>
              <a:spcAft>
                <a:spcPts val="600"/>
              </a:spcAft>
            </a:pPr>
            <a:r>
              <a:rPr sz="1500">
                <a:solidFill>
                  <a:srgbClr val="22282E"/>
                </a:solidFill>
              </a:rPr>
              <a:t>•  Diseña un esquema AAA para una app bancaria: ¿qué factores de autenticación y qué niveles de autorización usarías?</a:t>
            </a:r>
          </a:p>
          <a:p>
            <a:pPr>
              <a:spcAft>
                <a:spcPts val="600"/>
              </a:spcAft>
            </a:pPr>
            <a:r>
              <a:rPr sz="1500">
                <a:solidFill>
                  <a:srgbClr val="22282E"/>
                </a:solidFill>
              </a:rPr>
              <a:t>•  Toma un dispositivo IoT doméstico y enumera su superficie de ataque completa.</a:t>
            </a:r>
          </a:p>
          <a:p>
            <a:pPr>
              <a:spcAft>
                <a:spcPts val="600"/>
              </a:spcAft>
            </a:pPr>
            <a:r>
              <a:rPr sz="1500">
                <a:solidFill>
                  <a:srgbClr val="22282E"/>
                </a:solidFill>
              </a:rPr>
              <a:t>•  Un servidor tiene un único control: un firewall perimetral. Argumenta por qué es insuficiente y propón tres capas más.</a:t>
            </a:r>
          </a:p>
          <a:p>
            <a:pPr>
              <a:spcAft>
                <a:spcPts val="600"/>
              </a:spcAft>
            </a:pPr>
            <a:r>
              <a:rPr sz="1500">
                <a:solidFill>
                  <a:srgbClr val="22282E"/>
                </a:solidFill>
              </a:rPr>
              <a:t>•  Investiga y resume en 5 líneas qué cambia el modelo zero trust respecto al perímetro clásico.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Redacta una ficha de una página para un activo de tu elección que contenga: (1) su clasificación CIA con justificación, (2) su matriz AAA, (3) su mapa de superficie de ataque con al menos 6 puntos, y (4) un diagrama de defensa en profundidad con 4 capas mínimo.</a:t>
            </a:r>
          </a:p>
          <a:p>
            <a:pPr>
              <a:spcAft>
                <a:spcPts val="600"/>
              </a:spcAft>
            </a:pPr>
            <a:r>
              <a:rPr sz="1500">
                <a:solidFill>
                  <a:srgbClr val="22282E"/>
                </a:solidFill>
              </a:rPr>
              <a:t>•  Criterio de aceptación: la ficha vincula cada punto de la superficie de ataque a al menos un control, y cada control queda asignado a una capa de la defensa en profundidad. Un revisor debe poder señalar qué falla se contiene en qué capa.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Confundir autenticación con autorización — Autenticar = ¿quién eres?; autorizar = ¿qué puedes hacer?. Recuerda el orden: primero autenticas, luego autorizas.</a:t>
            </a:r>
          </a:p>
          <a:p>
            <a:pPr>
              <a:spcAft>
                <a:spcPts val="600"/>
              </a:spcAft>
            </a:pPr>
            <a:r>
              <a:rPr sz="1500">
                <a:solidFill>
                  <a:srgbClr val="22282E"/>
                </a:solidFill>
              </a:rPr>
              <a:t>•  Tratar disponibilidad como algo "de infraestructura" y no de seguridad — Un DoS es un ataque de seguridad; la A de CIA es tan importante como las otras dos.</a:t>
            </a:r>
          </a:p>
          <a:p>
            <a:pPr>
              <a:spcAft>
                <a:spcPts val="600"/>
              </a:spcAft>
            </a:pPr>
            <a:r>
              <a:rPr sz="1500">
                <a:solidFill>
                  <a:srgbClr val="22282E"/>
                </a:solidFill>
              </a:rPr>
              <a:t>•  Creer que cifrar lo resuelve todo — El cifrado protege confidencialidad, no integridad ni disponibilidad; hacen falta firmas y redundancia.</a:t>
            </a:r>
          </a:p>
          <a:p>
            <a:pPr>
              <a:spcAft>
                <a:spcPts val="600"/>
              </a:spcAft>
            </a:pPr>
            <a:r>
              <a:rPr sz="1500">
                <a:solidFill>
                  <a:srgbClr val="22282E"/>
                </a:solidFill>
              </a:rPr>
              <a:t>•  Confundir riesgo con vulnerabilidad — Riesgo = probabilidad × impacto sobre un activo; la vulnerabilidad es solo un ingrediente.</a:t>
            </a:r>
          </a:p>
          <a:p>
            <a:pPr>
              <a:spcAft>
                <a:spcPts val="600"/>
              </a:spcAft>
            </a:pPr>
            <a:r>
              <a:rPr sz="1500">
                <a:solidFill>
                  <a:srgbClr val="22282E"/>
                </a:solidFill>
              </a:rPr>
              <a:t>•  Diseñar una sola línea de defensa "perfecta" — Asume que fallará; por eso se apilan capas.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¿La tríada CIA está desactualizada? No, sigue siendo el marco base. Se ha extendido con autenticidad, no repudio y trazabilidad (modelos como Parkerian Hexad), pero CIA sigue siendo el punto de partida obligatorio.</a:t>
            </a:r>
          </a:p>
          <a:p>
            <a:pPr>
              <a:spcAft>
                <a:spcPts val="600"/>
              </a:spcAft>
            </a:pPr>
            <a:r>
              <a:rPr sz="1500">
                <a:solidFill>
                  <a:srgbClr val="22282E"/>
                </a:solidFill>
              </a:rPr>
              <a:t>•  ❓ ¿AAA es lo mismo que MFA? No. AAA es el modelo completo (autenticación, autorización, accounting). MFA es solo una forma de reforzar la primera A usando varios factores.</a:t>
            </a:r>
          </a:p>
          <a:p>
            <a:pPr>
              <a:spcAft>
                <a:spcPts val="600"/>
              </a:spcAft>
            </a:pPr>
            <a:r>
              <a:rPr sz="1500">
                <a:solidFill>
                  <a:srgbClr val="22282E"/>
                </a:solidFill>
              </a:rPr>
              <a:t>•  ❓ ¿Reducir la superficie de ataque no limita la funcionalidad? A veces sí, y ahí está el equilibrio: se desactiva lo que no se usa. Un servicio apagado no tiene vulnerabilidades explotables.</a:t>
            </a:r>
          </a:p>
          <a:p>
            <a:pPr>
              <a:spcAft>
                <a:spcPts val="600"/>
              </a:spcAft>
            </a:pPr>
            <a:r>
              <a:rPr sz="1500">
                <a:solidFill>
                  <a:srgbClr val="22282E"/>
                </a:solidFill>
              </a:rPr>
              <a:t>•  ❓ ¿Zero trust reemplaza la defensa en profundidad? No, la complementa: zero trust elimina la confianza implícita por ubicación de red, pero sigue apilando controles en capas.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SP 800-12 Rev. 1, An Introduction to Information Security — &lt;https://csrc.nist.gov/pubs/sp/800/12/r1/final&gt;</a:t>
            </a:r>
          </a:p>
          <a:p>
            <a:pPr>
              <a:spcAft>
                <a:spcPts val="600"/>
              </a:spcAft>
            </a:pPr>
            <a:r>
              <a:rPr sz="1500">
                <a:solidFill>
                  <a:srgbClr val="22282E"/>
                </a:solidFill>
              </a:rPr>
              <a:t>•  NIST Cybersecurity Framework 2.0 — &lt;https://www.nist.gov/cyberframework&gt;</a:t>
            </a:r>
          </a:p>
          <a:p>
            <a:pPr>
              <a:spcAft>
                <a:spcPts val="600"/>
              </a:spcAft>
            </a:pPr>
            <a:r>
              <a:rPr sz="1500">
                <a:solidFill>
                  <a:srgbClr val="22282E"/>
                </a:solidFill>
              </a:rPr>
              <a:t>•  NIST SP 800-207, Zero Trust Architecture — &lt;https://csrc.nist.gov/pubs/sp/800/207/final&gt;</a:t>
            </a:r>
          </a:p>
          <a:p>
            <a:pPr>
              <a:spcAft>
                <a:spcPts val="600"/>
              </a:spcAft>
            </a:pPr>
            <a:r>
              <a:rPr sz="1500">
                <a:solidFill>
                  <a:srgbClr val="22282E"/>
                </a:solidFill>
              </a:rPr>
              <a:t>•  OWASP, Attack Surface Analysis Cheat Sheet — &lt;https://cheatsheetseries.owasp.org/&gt;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