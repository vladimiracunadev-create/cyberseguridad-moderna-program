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008 — Windows esencial para seguridad: arquitectura, registro y servicios</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Comprender cómo funciona Windows por dentro lo suficiente para atacarlo y defenderlo: su arquitectura, el modelo de seguridad (SID, tokens, UAC), el Registro y los servicios. Windows domina el parque corporativo, así que estos fundamentos son indispensables para el resto del programa.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Describir la arquitectura de Windows (user mode vs. kernel mode).</a:t>
            </a:r>
          </a:p>
          <a:p>
            <a:pPr>
              <a:spcAft>
                <a:spcPts val="600"/>
              </a:spcAft>
            </a:pPr>
            <a:r>
              <a:rPr sz="1500">
                <a:solidFill>
                  <a:srgbClr val="22282E"/>
                </a:solidFill>
              </a:rPr>
              <a:t>•  Explicar el modelo de seguridad: SID, tokens de acceso y UAC.</a:t>
            </a:r>
          </a:p>
          <a:p>
            <a:pPr>
              <a:spcAft>
                <a:spcPts val="600"/>
              </a:spcAft>
            </a:pPr>
            <a:r>
              <a:rPr sz="1500">
                <a:solidFill>
                  <a:srgbClr val="22282E"/>
                </a:solidFill>
              </a:rPr>
              <a:t>•  Navegar y consultar el Registro de Windows con criterio de seguridad.</a:t>
            </a:r>
          </a:p>
          <a:p>
            <a:pPr>
              <a:spcAft>
                <a:spcPts val="600"/>
              </a:spcAft>
            </a:pPr>
            <a:r>
              <a:rPr sz="1500">
                <a:solidFill>
                  <a:srgbClr val="22282E"/>
                </a:solidFill>
              </a:rPr>
              <a:t>•  Gestionar servicios y detectar los mal configurados.</a:t>
            </a:r>
          </a:p>
          <a:p>
            <a:pPr>
              <a:spcAft>
                <a:spcPts val="600"/>
              </a:spcAft>
            </a:pPr>
            <a:r>
              <a:rPr sz="1500">
                <a:solidFill>
                  <a:srgbClr val="22282E"/>
                </a:solidFill>
              </a:rPr>
              <a:t>•  Identificar rutas comunes de persistencia y escalada en Windows.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Arquitectura NT</a:t>
            </a:r>
          </a:p>
          <a:p>
            <a:pPr>
              <a:spcAft>
                <a:spcPts val="600"/>
              </a:spcAft>
            </a:pPr>
            <a:r>
              <a:rPr sz="1500">
                <a:solidFill>
                  <a:srgbClr val="22282E"/>
                </a:solidFill>
              </a:rPr>
              <a:t>•  2 — SID y cuentas</a:t>
            </a:r>
          </a:p>
          <a:p>
            <a:pPr>
              <a:spcAft>
                <a:spcPts val="600"/>
              </a:spcAft>
            </a:pPr>
            <a:r>
              <a:rPr sz="1500">
                <a:solidFill>
                  <a:srgbClr val="22282E"/>
                </a:solidFill>
              </a:rPr>
              <a:t>•  3 — Tokens y UAC</a:t>
            </a:r>
          </a:p>
          <a:p>
            <a:pPr>
              <a:spcAft>
                <a:spcPts val="600"/>
              </a:spcAft>
            </a:pPr>
            <a:r>
              <a:rPr sz="1500">
                <a:solidFill>
                  <a:srgbClr val="22282E"/>
                </a:solidFill>
              </a:rPr>
              <a:t>•  4 — Registro</a:t>
            </a:r>
          </a:p>
          <a:p>
            <a:pPr>
              <a:spcAft>
                <a:spcPts val="600"/>
              </a:spcAft>
            </a:pPr>
            <a:r>
              <a:rPr sz="1500">
                <a:solidFill>
                  <a:srgbClr val="22282E"/>
                </a:solidFill>
              </a:rPr>
              <a:t>•  5 — Servicios</a:t>
            </a:r>
          </a:p>
          <a:p>
            <a:pPr>
              <a:spcAft>
                <a:spcPts val="600"/>
              </a:spcAft>
            </a:pPr>
            <a:r>
              <a:rPr sz="1500">
                <a:solidFill>
                  <a:srgbClr val="22282E"/>
                </a:solidFill>
              </a:rPr>
              <a:t>•  6 — Procesos y DLLs</a:t>
            </a:r>
          </a:p>
          <a:p>
            <a:pPr>
              <a:spcAft>
                <a:spcPts val="600"/>
              </a:spcAft>
            </a:pPr>
            <a:r>
              <a:rPr sz="1500">
                <a:solidFill>
                  <a:srgbClr val="22282E"/>
                </a:solidFill>
              </a:rPr>
              <a:t>•  7 — Logs de eventos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User mode / Kernel mode: separación de privilegios de ejecución. Clave: el kernel accede a todo; un fallo ahí compromete el sistema.</a:t>
            </a:r>
          </a:p>
          <a:p>
            <a:pPr>
              <a:spcAft>
                <a:spcPts val="600"/>
              </a:spcAft>
            </a:pPr>
            <a:r>
              <a:rPr sz="1500">
                <a:solidFill>
                  <a:srgbClr val="22282E"/>
                </a:solidFill>
              </a:rPr>
              <a:t>•  SID (Security Identifier): identificador único de cuentas/grupos. Clave: S-1-5-...; S-1-5-32-544 es Administradores.</a:t>
            </a:r>
          </a:p>
          <a:p>
            <a:pPr>
              <a:spcAft>
                <a:spcPts val="600"/>
              </a:spcAft>
            </a:pPr>
            <a:r>
              <a:rPr sz="1500">
                <a:solidFill>
                  <a:srgbClr val="22282E"/>
                </a:solidFill>
              </a:rPr>
              <a:t>•  Token de acceso: estructura que porta la identidad y privilegios de un proceso. Clave: base de la suplantación y el robo de tokens.</a:t>
            </a:r>
          </a:p>
          <a:p>
            <a:pPr>
              <a:spcAft>
                <a:spcPts val="600"/>
              </a:spcAft>
            </a:pPr>
            <a:r>
              <a:rPr sz="1500">
                <a:solidFill>
                  <a:srgbClr val="22282E"/>
                </a:solidFill>
              </a:rPr>
              <a:t>•  UAC (User Account Control): mecanismo que separa privilegios estándar de los de administrador. Clave: la elevación no es una frontera de seguridad infalible.</a:t>
            </a:r>
          </a:p>
          <a:p>
            <a:pPr>
              <a:spcAft>
                <a:spcPts val="600"/>
              </a:spcAft>
            </a:pPr>
            <a:r>
              <a:rPr sz="1500">
                <a:solidFill>
                  <a:srgbClr val="22282E"/>
                </a:solidFill>
              </a:rPr>
              <a:t>•  Registro: base de datos jerárquica de configuración (HKLM, HKCU...). Clave: Run/RunOnce son persistencia clásica.</a:t>
            </a:r>
          </a:p>
          <a:p>
            <a:pPr>
              <a:spcAft>
                <a:spcPts val="600"/>
              </a:spcAft>
            </a:pPr>
            <a:r>
              <a:rPr sz="1500">
                <a:solidFill>
                  <a:srgbClr val="22282E"/>
                </a:solidFill>
              </a:rPr>
              <a:t>•  Servicio: proceso de fondo gestionado por el SCM, a menudo con privilegios altos (SYSTEM). Clave: rutas sin comillas o permisos débiles = escalada.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Usa una VM Windows de evaluación en tu laboratorio. Instala Sysinternals Suite (Process Explorer, Autoruns, Process Monitor) desde &lt;https://learn.microsoft.com/sysinternals/&gt;. Herramientas nativas: regedit, services.msc, sc.exe, whoami /all, wevtutil, Visor de eventos. Trabaja siempre en la VM aislada.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Identidad y privilegios. En una consola:</a:t>
            </a:r>
          </a:p>
          <a:p>
            <a:pPr>
              <a:spcAft>
                <a:spcPts val="600"/>
              </a:spcAft>
            </a:pPr>
            <a:r>
              <a:rPr sz="1500">
                <a:solidFill>
                  <a:srgbClr val="22282E"/>
                </a:solidFill>
              </a:rPr>
              <a:t>•  whoami /all</a:t>
            </a:r>
          </a:p>
          <a:p>
            <a:pPr>
              <a:spcAft>
                <a:spcPts val="600"/>
              </a:spcAft>
            </a:pPr>
            <a:r>
              <a:rPr sz="1500">
                <a:solidFill>
                  <a:srgbClr val="22282E"/>
                </a:solidFill>
              </a:rPr>
              <a:t>•  Localiza tu SID, grupos y la lista de privilegios (SeDebugPrivilege, etc.).</a:t>
            </a:r>
          </a:p>
          <a:p>
            <a:pPr>
              <a:spcAft>
                <a:spcPts val="600"/>
              </a:spcAft>
            </a:pPr>
            <a:r>
              <a:rPr sz="1500">
                <a:solidFill>
                  <a:srgbClr val="22282E"/>
                </a:solidFill>
              </a:rPr>
              <a:t>•  Explorar procesos con Process Explorer: observa el árbol, el usuario de cada proceso y las DLLs cargadas de uno.</a:t>
            </a:r>
          </a:p>
          <a:p>
            <a:pPr>
              <a:spcAft>
                <a:spcPts val="600"/>
              </a:spcAft>
            </a:pPr>
            <a:r>
              <a:rPr sz="1500">
                <a:solidFill>
                  <a:srgbClr val="22282E"/>
                </a:solidFill>
              </a:rPr>
              <a:t>•  Registro y persistencia. Abre regedit y navega a:</a:t>
            </a:r>
          </a:p>
          <a:p>
            <a:pPr>
              <a:spcAft>
                <a:spcPts val="600"/>
              </a:spcAft>
            </a:pPr>
            <a:r>
              <a:rPr sz="1500">
                <a:solidFill>
                  <a:srgbClr val="22282E"/>
                </a:solidFill>
              </a:rPr>
              <a:t>•  HKCU\Software\Microsoft\Windows\CurrentVersion\Run</a:t>
            </a:r>
          </a:p>
          <a:p>
            <a:pPr>
              <a:spcAft>
                <a:spcPts val="600"/>
              </a:spcAft>
            </a:pPr>
            <a:r>
              <a:rPr sz="1500">
                <a:solidFill>
                  <a:srgbClr val="22282E"/>
                </a:solidFill>
              </a:rPr>
              <a:t>•  HKLM\Software\Microsoft\Windows\CurrentVersion\Run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la diferencia entre HKLM y HKCU y qué implica para persistencia por usuario vs. por máquina.</a:t>
            </a:r>
          </a:p>
          <a:p>
            <a:pPr>
              <a:spcAft>
                <a:spcPts val="600"/>
              </a:spcAft>
            </a:pPr>
            <a:r>
              <a:rPr sz="1500">
                <a:solidFill>
                  <a:srgbClr val="22282E"/>
                </a:solidFill>
              </a:rPr>
              <a:t>•  Investiga qué es SeImpersonatePrivilege y por qué es relevante para escalada.</a:t>
            </a:r>
          </a:p>
          <a:p>
            <a:pPr>
              <a:spcAft>
                <a:spcPts val="600"/>
              </a:spcAft>
            </a:pPr>
            <a:r>
              <a:rPr sz="1500">
                <a:solidFill>
                  <a:srgbClr val="22282E"/>
                </a:solidFill>
              </a:rPr>
              <a:t>•  Encuentra en tu VM un servicio con "unquoted service path" o razona por qué no hay ninguno.</a:t>
            </a:r>
          </a:p>
          <a:p>
            <a:pPr>
              <a:spcAft>
                <a:spcPts val="600"/>
              </a:spcAft>
            </a:pPr>
            <a:r>
              <a:rPr sz="1500">
                <a:solidFill>
                  <a:srgbClr val="22282E"/>
                </a:solidFill>
              </a:rPr>
              <a:t>•  Documenta 3 ubicaciones de persistencia distintas y cómo detectarlas con Autoruns.</a:t>
            </a:r>
          </a:p>
          <a:p>
            <a:pPr>
              <a:spcAft>
                <a:spcPts val="600"/>
              </a:spcAft>
            </a:pPr>
            <a:r>
              <a:rPr sz="1500">
                <a:solidFill>
                  <a:srgbClr val="22282E"/>
                </a:solidFill>
              </a:rPr>
              <a:t>•  Compara UAC con sudo de Linux: similitudes y diferencias de modelo.</a:t>
            </a:r>
          </a:p>
          <a:p>
            <a:pPr>
              <a:spcAft>
                <a:spcPts val="600"/>
              </a:spcAft>
            </a:pPr>
            <a:r>
              <a:rPr sz="1500">
                <a:solidFill>
                  <a:srgbClr val="22282E"/>
                </a:solidFill>
              </a:rPr>
              <a:t>•  Con el Visor de eventos, distingue un login interactivo (tipo 2) de uno de red (tipo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Realiza una mini auditoría de hardening de tu VM Windows: enumera cuentas y privilegios, identifica todas las entradas de auto-inicio con Autoruns marcando las no firmadas, y revisa servicios en busca de rutas sin comillas o binarios en carpetas escribibles. Entrega un informe con hallazgos y recomendaciones.</a:t>
            </a:r>
          </a:p>
          <a:p>
            <a:pPr>
              <a:spcAft>
                <a:spcPts val="600"/>
              </a:spcAft>
            </a:pPr>
            <a:r>
              <a:rPr sz="1500">
                <a:solidFill>
                  <a:srgbClr val="22282E"/>
                </a:solidFill>
              </a:rPr>
              <a:t>•  Criterio de aceptación: el informe lista al menos 5 puntos de auto-inicio clasificados por riesgo, indica si existe algún servicio vulnerable (con evidencia del comando usado) y propone una mitigación por hallazgo. Reproducible por otro alumno en una VM equivalente.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"Access is denied" al editar el Registro — Falta elevación. Abre la consola/regedit como administrador.</a:t>
            </a:r>
          </a:p>
          <a:p>
            <a:pPr>
              <a:spcAft>
                <a:spcPts val="600"/>
              </a:spcAft>
            </a:pPr>
            <a:r>
              <a:rPr sz="1500">
                <a:solidFill>
                  <a:srgbClr val="22282E"/>
                </a:solidFill>
              </a:rPr>
              <a:t>•  UAC no pide confirmación al elevar — Nivel de UAC bajo o cuenta ya admin con auto-elevación. Revísalo en configuración.</a:t>
            </a:r>
          </a:p>
          <a:p>
            <a:pPr>
              <a:spcAft>
                <a:spcPts val="600"/>
              </a:spcAft>
            </a:pPr>
            <a:r>
              <a:rPr sz="1500">
                <a:solidFill>
                  <a:srgbClr val="22282E"/>
                </a:solidFill>
              </a:rPr>
              <a:t>•  No ves procesos de otros usuarios — Falta privilegio. Ejecuta Process Explorer elevado.</a:t>
            </a:r>
          </a:p>
          <a:p>
            <a:pPr>
              <a:spcAft>
                <a:spcPts val="600"/>
              </a:spcAft>
            </a:pPr>
            <a:r>
              <a:rPr sz="1500">
                <a:solidFill>
                  <a:srgbClr val="22282E"/>
                </a:solidFill>
              </a:rPr>
              <a:t>•  sc no encuentra el servicio — Nombre corto vs. nombre visible. Usa sc query para el nombre real.</a:t>
            </a:r>
          </a:p>
          <a:p>
            <a:pPr>
              <a:spcAft>
                <a:spcPts val="600"/>
              </a:spcAft>
            </a:pPr>
            <a:r>
              <a:rPr sz="1500">
                <a:solidFill>
                  <a:srgbClr val="22282E"/>
                </a:solidFill>
              </a:rPr>
              <a:t>•  Logs de seguridad vacíos — La auditoría no está habilitada. Configúrala en directiva de auditoría.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¿UAC es una frontera de seguridad? Microsoft afirma que UAC no es un límite de seguridad estricto: existen técnicas de bypass. Es una barrera de conveniencia que reduce ejecución accidental con privilegios.</a:t>
            </a:r>
          </a:p>
          <a:p>
            <a:pPr>
              <a:spcAft>
                <a:spcPts val="600"/>
              </a:spcAft>
            </a:pPr>
            <a:r>
              <a:rPr sz="1500">
                <a:solidFill>
                  <a:srgbClr val="22282E"/>
                </a:solidFill>
              </a:rPr>
              <a:t>•  ❓ ¿Por qué SYSTEM es tan codiciado? Es la cuenta de mayor privilegio local, por encima incluso del administrador para ciertas operaciones. Muchos servicios corren como SYSTEM, de ahí que sus fallos permitan escalada total.</a:t>
            </a:r>
          </a:p>
          <a:p>
            <a:pPr>
              <a:spcAft>
                <a:spcPts val="600"/>
              </a:spcAft>
            </a:pPr>
            <a:r>
              <a:rPr sz="1500">
                <a:solidFill>
                  <a:srgbClr val="22282E"/>
                </a:solidFill>
              </a:rPr>
              <a:t>•  ❓ ¿El Registro sustituye a los archivos de configuración? En gran medida sí para Windows: centraliza configuración de SO y apps. Por eso es un objetivo tanto de persistencia como de análisis forense.</a:t>
            </a:r>
          </a:p>
          <a:p>
            <a:pPr>
              <a:spcAft>
                <a:spcPts val="600"/>
              </a:spcAft>
            </a:pPr>
            <a:r>
              <a:rPr sz="1500">
                <a:solidFill>
                  <a:srgbClr val="22282E"/>
                </a:solidFill>
              </a:rPr>
              <a:t>•  ❓ ¿Necesito programar en Windows para esto? No aquí; en la Clase 009 usaremos PowerShell. Ahora basta con entender la arquitectura y saber enumerar con herramientas.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Russinovich, Solomon &amp; Ionescu, Windows Internals (Microsoft Press).</a:t>
            </a:r>
          </a:p>
          <a:p>
            <a:pPr>
              <a:spcAft>
                <a:spcPts val="600"/>
              </a:spcAft>
            </a:pPr>
            <a:r>
              <a:rPr sz="1500">
                <a:solidFill>
                  <a:srgbClr val="22282E"/>
                </a:solidFill>
              </a:rPr>
              <a:t>•  Microsoft Sysinternals — &lt;https://learn.microsoft.com/sysinternals/&gt;</a:t>
            </a:r>
          </a:p>
          <a:p>
            <a:pPr>
              <a:spcAft>
                <a:spcPts val="600"/>
              </a:spcAft>
            </a:pPr>
            <a:r>
              <a:rPr sz="1500">
                <a:solidFill>
                  <a:srgbClr val="22282E"/>
                </a:solidFill>
              </a:rPr>
              <a:t>•  Windows Registry reference — &lt;https://learn.microsoft.com/windows/win32/sysinfo/registry&gt;</a:t>
            </a:r>
          </a:p>
          <a:p>
            <a:pPr>
              <a:spcAft>
                <a:spcPts val="600"/>
              </a:spcAft>
            </a:pPr>
            <a:r>
              <a:rPr sz="1500">
                <a:solidFill>
                  <a:srgbClr val="22282E"/>
                </a:solidFill>
              </a:rPr>
              <a:t>•  MITRE ATT&amp;CK, técnica T1547 (Boot or Logon Autostart) — &lt;https://attack.mitre.org/techniques/T1547/&gt;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