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023 — Sistemas operativos: procesos, memoria y syscalls</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Comprender cómo un sistema operativo gestiona procesos, memoria y la frontera entre modo usuario y modo kernel a través de las llamadas al sistema. Este es el sustrato sobre el que ocurren la explotación de memoria, la inyección de código y la evasión, y es imprescindible para las partes de explotación y forense.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el ciclo de vida y estados de un proceso.</a:t>
            </a:r>
          </a:p>
          <a:p>
            <a:pPr>
              <a:spcAft>
                <a:spcPts val="600"/>
              </a:spcAft>
            </a:pPr>
            <a:r>
              <a:rPr sz="1500">
                <a:solidFill>
                  <a:srgbClr val="22282E"/>
                </a:solidFill>
              </a:rPr>
              <a:t>•  Describir el layout de memoria de un proceso (stack, heap, code, data).</a:t>
            </a:r>
          </a:p>
          <a:p>
            <a:pPr>
              <a:spcAft>
                <a:spcPts val="600"/>
              </a:spcAft>
            </a:pPr>
            <a:r>
              <a:rPr sz="1500">
                <a:solidFill>
                  <a:srgbClr val="22282E"/>
                </a:solidFill>
              </a:rPr>
              <a:t>•  Diferenciar modo usuario de modo kernel y el papel de las syscalls.</a:t>
            </a:r>
          </a:p>
          <a:p>
            <a:pPr>
              <a:spcAft>
                <a:spcPts val="600"/>
              </a:spcAft>
            </a:pPr>
            <a:r>
              <a:rPr sz="1500">
                <a:solidFill>
                  <a:srgbClr val="22282E"/>
                </a:solidFill>
              </a:rPr>
              <a:t>•  Rastrear las llamadas al sistema de un programa.</a:t>
            </a:r>
          </a:p>
          <a:p>
            <a:pPr>
              <a:spcAft>
                <a:spcPts val="600"/>
              </a:spcAft>
            </a:pPr>
            <a:r>
              <a:rPr sz="1500">
                <a:solidFill>
                  <a:srgbClr val="22282E"/>
                </a:solidFill>
              </a:rPr>
              <a:t>•  Relacionar estos mecanismos con técnicas de ataque y detección.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Procesos e hilos</a:t>
            </a:r>
          </a:p>
          <a:p>
            <a:pPr>
              <a:spcAft>
                <a:spcPts val="600"/>
              </a:spcAft>
            </a:pPr>
            <a:r>
              <a:rPr sz="1500">
                <a:solidFill>
                  <a:srgbClr val="22282E"/>
                </a:solidFill>
              </a:rPr>
              <a:t>•  2 — Estados y planificación</a:t>
            </a:r>
          </a:p>
          <a:p>
            <a:pPr>
              <a:spcAft>
                <a:spcPts val="600"/>
              </a:spcAft>
            </a:pPr>
            <a:r>
              <a:rPr sz="1500">
                <a:solidFill>
                  <a:srgbClr val="22282E"/>
                </a:solidFill>
              </a:rPr>
              <a:t>•  3 — Layout de memoria</a:t>
            </a:r>
          </a:p>
          <a:p>
            <a:pPr>
              <a:spcAft>
                <a:spcPts val="600"/>
              </a:spcAft>
            </a:pPr>
            <a:r>
              <a:rPr sz="1500">
                <a:solidFill>
                  <a:srgbClr val="22282E"/>
                </a:solidFill>
              </a:rPr>
              <a:t>•  4 — Memoria virtual</a:t>
            </a:r>
          </a:p>
          <a:p>
            <a:pPr>
              <a:spcAft>
                <a:spcPts val="600"/>
              </a:spcAft>
            </a:pPr>
            <a:r>
              <a:rPr sz="1500">
                <a:solidFill>
                  <a:srgbClr val="22282E"/>
                </a:solidFill>
              </a:rPr>
              <a:t>•  5 — Modo usuario/kernel</a:t>
            </a:r>
          </a:p>
          <a:p>
            <a:pPr>
              <a:spcAft>
                <a:spcPts val="600"/>
              </a:spcAft>
            </a:pPr>
            <a:r>
              <a:rPr sz="1500">
                <a:solidFill>
                  <a:srgbClr val="22282E"/>
                </a:solidFill>
              </a:rPr>
              <a:t>•  6 — Syscalls</a:t>
            </a:r>
          </a:p>
          <a:p>
            <a:pPr>
              <a:spcAft>
                <a:spcPts val="600"/>
              </a:spcAft>
            </a:pPr>
            <a:r>
              <a:rPr sz="1500">
                <a:solidFill>
                  <a:srgbClr val="22282E"/>
                </a:solidFill>
              </a:rPr>
              <a:t>•  7 — Herramientas de traza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Proceso: programa en ejecución con su propio espacio de memoria. Clave: aislado de otros por memoria virtual.</a:t>
            </a:r>
          </a:p>
          <a:p>
            <a:pPr>
              <a:spcAft>
                <a:spcPts val="600"/>
              </a:spcAft>
            </a:pPr>
            <a:r>
              <a:rPr sz="1500">
                <a:solidFill>
                  <a:srgbClr val="22282E"/>
                </a:solidFill>
              </a:rPr>
              <a:t>•  Hilo (thread): flujo de ejecución dentro de un proceso; comparten memoria. Clave: concurrencia con estado compartido.</a:t>
            </a:r>
          </a:p>
          <a:p>
            <a:pPr>
              <a:spcAft>
                <a:spcPts val="600"/>
              </a:spcAft>
            </a:pPr>
            <a:r>
              <a:rPr sz="1500">
                <a:solidFill>
                  <a:srgbClr val="22282E"/>
                </a:solidFill>
              </a:rPr>
              <a:t>•  Stack: memoria LIFO para llamadas y variables locales. Clave: objetivo de desbordamientos (buffer overflow).</a:t>
            </a:r>
          </a:p>
          <a:p>
            <a:pPr>
              <a:spcAft>
                <a:spcPts val="600"/>
              </a:spcAft>
            </a:pPr>
            <a:r>
              <a:rPr sz="1500">
                <a:solidFill>
                  <a:srgbClr val="22282E"/>
                </a:solidFill>
              </a:rPr>
              <a:t>•  Heap: memoria dinámica gestionada por el programa. Clave: objetivo de vulnerabilidades tipo use-after-free.</a:t>
            </a:r>
          </a:p>
          <a:p>
            <a:pPr>
              <a:spcAft>
                <a:spcPts val="600"/>
              </a:spcAft>
            </a:pPr>
            <a:r>
              <a:rPr sz="1500">
                <a:solidFill>
                  <a:srgbClr val="22282E"/>
                </a:solidFill>
              </a:rPr>
              <a:t>•  Syscall: interfaz para pedir servicios al kernel (open, read, execve). Clave: única vía legítima de un proceso para tocar el hardware/recursos.</a:t>
            </a:r>
          </a:p>
          <a:p>
            <a:pPr>
              <a:spcAft>
                <a:spcPts val="600"/>
              </a:spcAft>
            </a:pPr>
            <a:r>
              <a:rPr sz="1500">
                <a:solidFill>
                  <a:srgbClr val="22282E"/>
                </a:solidFill>
              </a:rPr>
              <a:t>•  Modo usuario/kernel: niveles de privilegio de la CPU (rings). Clave: la separación evita que un proceso comprometa el sistema directamente.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 Linux/Kali: ps, top/htop, /proc, strace, ltrace, pmap, cat /proc/&lt;pid&gt;/maps. Necesitas permisos para trazar procesos propios. Un programa C mínimo o cualquier binario servirá de sujeto de estudio. Trabaja en tu VM de laboratorio.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Explorar un proceso vivo. Lanza sleep 1000 &amp; y examina:</a:t>
            </a:r>
          </a:p>
          <a:p>
            <a:pPr>
              <a:spcAft>
                <a:spcPts val="600"/>
              </a:spcAft>
            </a:pPr>
            <a:r>
              <a:rPr sz="1500">
                <a:solidFill>
                  <a:srgbClr val="22282E"/>
                </a:solidFill>
              </a:rPr>
              <a:t>•  ps -o pid,ppid,state,cmd -p $!</a:t>
            </a:r>
          </a:p>
          <a:p>
            <a:pPr>
              <a:spcAft>
                <a:spcPts val="600"/>
              </a:spcAft>
            </a:pPr>
            <a:r>
              <a:rPr sz="1500">
                <a:solidFill>
                  <a:srgbClr val="22282E"/>
                </a:solidFill>
              </a:rPr>
              <a:t>•  cat /proc/$!/status | head</a:t>
            </a:r>
          </a:p>
          <a:p>
            <a:pPr>
              <a:spcAft>
                <a:spcPts val="600"/>
              </a:spcAft>
            </a:pPr>
            <a:r>
              <a:rPr sz="1500">
                <a:solidFill>
                  <a:srgbClr val="22282E"/>
                </a:solidFill>
              </a:rPr>
              <a:t>•  Layout de memoria. Observa las regiones del proceso:</a:t>
            </a:r>
          </a:p>
          <a:p>
            <a:pPr>
              <a:spcAft>
                <a:spcPts val="600"/>
              </a:spcAft>
            </a:pPr>
            <a:r>
              <a:rPr sz="1500">
                <a:solidFill>
                  <a:srgbClr val="22282E"/>
                </a:solidFill>
              </a:rPr>
              <a:t>•  pmap $!    # o: cat /proc/$!/maps</a:t>
            </a:r>
          </a:p>
          <a:p>
            <a:pPr>
              <a:spcAft>
                <a:spcPts val="600"/>
              </a:spcAft>
            </a:pPr>
            <a:r>
              <a:rPr sz="1500">
                <a:solidFill>
                  <a:srgbClr val="22282E"/>
                </a:solidFill>
              </a:rPr>
              <a:t>•  Identifica stack, heap y las bibliotecas mapeadas.</a:t>
            </a:r>
          </a:p>
          <a:p>
            <a:pPr>
              <a:spcAft>
                <a:spcPts val="600"/>
              </a:spcAft>
            </a:pPr>
            <a:r>
              <a:rPr sz="1500">
                <a:solidFill>
                  <a:srgbClr val="22282E"/>
                </a:solidFill>
              </a:rPr>
              <a:t>•  Trazar syscalls. Mira qué llamadas hace un comando: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Dibuja el layout de memoria de un proceso e indica en qué región vive cada tipo de dato.</a:t>
            </a:r>
          </a:p>
          <a:p>
            <a:pPr>
              <a:spcAft>
                <a:spcPts val="600"/>
              </a:spcAft>
            </a:pPr>
            <a:r>
              <a:rPr sz="1500">
                <a:solidFill>
                  <a:srgbClr val="22282E"/>
                </a:solidFill>
              </a:rPr>
              <a:t>•  Explica la diferencia entre proceso e hilo y una implicación de seguridad de cada uno.</a:t>
            </a:r>
          </a:p>
          <a:p>
            <a:pPr>
              <a:spcAft>
                <a:spcPts val="600"/>
              </a:spcAft>
            </a:pPr>
            <a:r>
              <a:rPr sz="1500">
                <a:solidFill>
                  <a:srgbClr val="22282E"/>
                </a:solidFill>
              </a:rPr>
              <a:t>•  Con strace, identifica todas las syscalls que usa un programa para leer un archivo.</a:t>
            </a:r>
          </a:p>
          <a:p>
            <a:pPr>
              <a:spcAft>
                <a:spcPts val="600"/>
              </a:spcAft>
            </a:pPr>
            <a:r>
              <a:rPr sz="1500">
                <a:solidFill>
                  <a:srgbClr val="22282E"/>
                </a:solidFill>
              </a:rPr>
              <a:t>•  Investiga qué es una interrupción/trap y cómo transfiere el control al kernel.</a:t>
            </a:r>
          </a:p>
          <a:p>
            <a:pPr>
              <a:spcAft>
                <a:spcPts val="600"/>
              </a:spcAft>
            </a:pPr>
            <a:r>
              <a:rPr sz="1500">
                <a:solidFill>
                  <a:srgbClr val="22282E"/>
                </a:solidFill>
              </a:rPr>
              <a:t>•  Compara strace y ltrace: ¿qué observa cada uno y para qué sirve en análisis de malware?</a:t>
            </a:r>
          </a:p>
          <a:p>
            <a:pPr>
              <a:spcAft>
                <a:spcPts val="600"/>
              </a:spcAft>
            </a:pPr>
            <a:r>
              <a:rPr sz="1500">
                <a:solidFill>
                  <a:srgbClr val="22282E"/>
                </a:solidFill>
              </a:rPr>
              <a:t>•  Explica por qué la separación usuario/kernel es una frontera de seguridad y qué es una "elevación a kernel".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Analiza un binario desconocido (inofensivo, de tu laboratorio) usando solo herramientas de observación de SO: describe su comportamiento a partir de sus syscalls (archivos que abre, red que usa, procesos que lanza) sin ejecutar nada peligroso fuera del entorno aislado. Entrega un informe con el "perfil de comportamiento" del programa.</a:t>
            </a:r>
          </a:p>
          <a:p>
            <a:pPr>
              <a:spcAft>
                <a:spcPts val="600"/>
              </a:spcAft>
            </a:pPr>
            <a:r>
              <a:rPr sz="1500">
                <a:solidFill>
                  <a:srgbClr val="22282E"/>
                </a:solidFill>
              </a:rPr>
              <a:t>•  Criterio de aceptación: el informe lista las syscalls relevantes observadas con strace (E/S de archivos, red, execve) y deduce a partir de ellas qué hace el programa, distinguiendo actividad benigna de indicios sospechosos. Reproducible ejecutando el mismo strace sobre el binario.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strace: Operation not permitted — Restricciones de ptrace o proceso ajeno. Traza procesos propios o ajusta ptracescope.</a:t>
            </a:r>
          </a:p>
          <a:p>
            <a:pPr>
              <a:spcAft>
                <a:spcPts val="600"/>
              </a:spcAft>
            </a:pPr>
            <a:r>
              <a:rPr sz="1500">
                <a:solidFill>
                  <a:srgbClr val="22282E"/>
                </a:solidFill>
              </a:rPr>
              <a:t>•  ltrace no muestra nada — Binario estático o sin símbolos. ltrace necesita enlace dinámico.</a:t>
            </a:r>
          </a:p>
          <a:p>
            <a:pPr>
              <a:spcAft>
                <a:spcPts val="600"/>
              </a:spcAft>
            </a:pPr>
            <a:r>
              <a:rPr sz="1500">
                <a:solidFill>
                  <a:srgbClr val="22282E"/>
                </a:solidFill>
              </a:rPr>
              <a:t>•  /proc/&lt;pid&gt;/maps vacío o denegado — Permisos o el proceso terminó. Usa un PID vivo y propio.</a:t>
            </a:r>
          </a:p>
          <a:p>
            <a:pPr>
              <a:spcAft>
                <a:spcPts val="600"/>
              </a:spcAft>
            </a:pPr>
            <a:r>
              <a:rPr sz="1500">
                <a:solidFill>
                  <a:srgbClr val="22282E"/>
                </a:solidFill>
              </a:rPr>
              <a:t>•  Confundir stack con heap — Stack = automático/LIFO; heap = dinámico (malloc). Revisa el layout.</a:t>
            </a:r>
          </a:p>
          <a:p>
            <a:pPr>
              <a:spcAft>
                <a:spcPts val="600"/>
              </a:spcAft>
            </a:pPr>
            <a:r>
              <a:rPr sz="1500">
                <a:solidFill>
                  <a:srgbClr val="22282E"/>
                </a:solidFill>
              </a:rPr>
              <a:t>•  strace ralentiza mucho el programa — Es normal: intercepta cada syscall. Filtra con -e trace= para reducir ruido.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un pentester necesita entender syscalls? Porque la explotación de memoria, la inyección de shellcode y la evasión operan justo en esta capa. Y en defensa, EDRs y sandboxes se basan en observar syscalls.</a:t>
            </a:r>
          </a:p>
          <a:p>
            <a:pPr>
              <a:spcAft>
                <a:spcPts val="600"/>
              </a:spcAft>
            </a:pPr>
            <a:r>
              <a:rPr sz="1500">
                <a:solidFill>
                  <a:srgbClr val="22282E"/>
                </a:solidFill>
              </a:rPr>
              <a:t>•  ❓ ¿Qué relación hay con los buffer overflows? Un overflow corrompe estructuras en el stack o heap para desviar el flujo de ejecución. Sin entender el layout de memoria, esos ataques (y sus mitigaciones: ASLR, DEP, canarios) no tienen sentido.</a:t>
            </a:r>
          </a:p>
          <a:p>
            <a:pPr>
              <a:spcAft>
                <a:spcPts val="600"/>
              </a:spcAft>
            </a:pPr>
            <a:r>
              <a:rPr sz="1500">
                <a:solidFill>
                  <a:srgbClr val="22282E"/>
                </a:solidFill>
              </a:rPr>
              <a:t>•  ❓ ¿strace sirve para analizar malware? Sí, es una herramienta clave de análisis dinámico: revela qué archivos toca, con qué se conecta y qué procesos lanza, siempre en un entorno aislado.</a:t>
            </a:r>
          </a:p>
          <a:p>
            <a:pPr>
              <a:spcAft>
                <a:spcPts val="600"/>
              </a:spcAft>
            </a:pPr>
            <a:r>
              <a:rPr sz="1500">
                <a:solidFill>
                  <a:srgbClr val="22282E"/>
                </a:solidFill>
              </a:rPr>
              <a:t>•  ❓ ¿Windows tiene equivalentes? Sí: Process Monitor, ETW y API monitors cumplen un papel análogo observando llamadas y actividad del sistema.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Tanenbaum &amp; Bos, Modern Operating Systems.</a:t>
            </a:r>
          </a:p>
          <a:p>
            <a:pPr>
              <a:spcAft>
                <a:spcPts val="600"/>
              </a:spcAft>
            </a:pPr>
            <a:r>
              <a:rPr sz="1500">
                <a:solidFill>
                  <a:srgbClr val="22282E"/>
                </a:solidFill>
              </a:rPr>
              <a:t>•  man 1 strace, man 5 proc</a:t>
            </a:r>
          </a:p>
          <a:p>
            <a:pPr>
              <a:spcAft>
                <a:spcPts val="600"/>
              </a:spcAft>
            </a:pPr>
            <a:r>
              <a:rPr sz="1500">
                <a:solidFill>
                  <a:srgbClr val="22282E"/>
                </a:solidFill>
              </a:rPr>
              <a:t>•  Linux syscall reference — &lt;https://man7.org/linux/man-pages/man2/syscalls.2.html&gt;</a:t>
            </a:r>
          </a:p>
          <a:p>
            <a:pPr>
              <a:spcAft>
                <a:spcPts val="600"/>
              </a:spcAft>
            </a:pPr>
            <a:r>
              <a:rPr sz="1500">
                <a:solidFill>
                  <a:srgbClr val="22282E"/>
                </a:solidFill>
              </a:rPr>
              <a:t>•  Michael Kerrisk, The Linux Programming Interface.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