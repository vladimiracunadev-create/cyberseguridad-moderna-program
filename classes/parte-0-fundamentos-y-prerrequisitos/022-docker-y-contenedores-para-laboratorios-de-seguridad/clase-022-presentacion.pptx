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022 — Docker y contenedores para laboratorios de seguridad</a:t>
            </a:r>
          </a:p>
          <a:p>
            <a:r>
              <a:rPr sz="1600">
                <a:solidFill>
                  <a:srgbClr val="2E8B57"/>
                </a:solidFill>
              </a:rPr>
              <a:t>parte 0 fundamentos y prerrequisitos</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Usar contenedores para desplegar entornos vulnerables y herramientas de forma rápida, reproducible y desechable. Al terminar sabrás construir imágenes, ejecutar contenedores, orquestar con Docker Compose y comprender las nociones básicas de seguridad de contenedores, incluido su aislamiento respecto a una VM.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Ejecutar y gestionar contenedores con la CLI de Docker.</a:t>
            </a:r>
          </a:p>
          <a:p>
            <a:pPr>
              <a:spcAft>
                <a:spcPts val="600"/>
              </a:spcAft>
            </a:pPr>
            <a:r>
              <a:rPr sz="1500">
                <a:solidFill>
                  <a:srgbClr val="22282E"/>
                </a:solidFill>
              </a:rPr>
              <a:t>•  Construir imágenes con un Dockerfile.</a:t>
            </a:r>
          </a:p>
          <a:p>
            <a:pPr>
              <a:spcAft>
                <a:spcPts val="600"/>
              </a:spcAft>
            </a:pPr>
            <a:r>
              <a:rPr sz="1500">
                <a:solidFill>
                  <a:srgbClr val="22282E"/>
                </a:solidFill>
              </a:rPr>
              <a:t>•  Orquestar varios servicios con Docker Compose.</a:t>
            </a:r>
          </a:p>
          <a:p>
            <a:pPr>
              <a:spcAft>
                <a:spcPts val="600"/>
              </a:spcAft>
            </a:pPr>
            <a:r>
              <a:rPr sz="1500">
                <a:solidFill>
                  <a:srgbClr val="22282E"/>
                </a:solidFill>
              </a:rPr>
              <a:t>•  Desplegar laboratorios vulnerables (DVWA, Juice Shop) en contenedores.</a:t>
            </a:r>
          </a:p>
          <a:p>
            <a:pPr>
              <a:spcAft>
                <a:spcPts val="600"/>
              </a:spcAft>
            </a:pPr>
            <a:r>
              <a:rPr sz="1500">
                <a:solidFill>
                  <a:srgbClr val="22282E"/>
                </a:solidFill>
              </a:rPr>
              <a:t>•  Explicar el modelo de aislamiento y sus límites frente a una VM.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Imágenes vs. contenedores</a:t>
            </a:r>
          </a:p>
          <a:p>
            <a:pPr>
              <a:spcAft>
                <a:spcPts val="600"/>
              </a:spcAft>
            </a:pPr>
            <a:r>
              <a:rPr sz="1500">
                <a:solidFill>
                  <a:srgbClr val="22282E"/>
                </a:solidFill>
              </a:rPr>
              <a:t>•  2 — CLI de Docker</a:t>
            </a:r>
          </a:p>
          <a:p>
            <a:pPr>
              <a:spcAft>
                <a:spcPts val="600"/>
              </a:spcAft>
            </a:pPr>
            <a:r>
              <a:rPr sz="1500">
                <a:solidFill>
                  <a:srgbClr val="22282E"/>
                </a:solidFill>
              </a:rPr>
              <a:t>•  3 — Dockerfile</a:t>
            </a:r>
          </a:p>
          <a:p>
            <a:pPr>
              <a:spcAft>
                <a:spcPts val="600"/>
              </a:spcAft>
            </a:pPr>
            <a:r>
              <a:rPr sz="1500">
                <a:solidFill>
                  <a:srgbClr val="22282E"/>
                </a:solidFill>
              </a:rPr>
              <a:t>•  4 — Volúmenes y redes</a:t>
            </a:r>
          </a:p>
          <a:p>
            <a:pPr>
              <a:spcAft>
                <a:spcPts val="600"/>
              </a:spcAft>
            </a:pPr>
            <a:r>
              <a:rPr sz="1500">
                <a:solidFill>
                  <a:srgbClr val="22282E"/>
                </a:solidFill>
              </a:rPr>
              <a:t>•  5 — Docker Compose</a:t>
            </a:r>
          </a:p>
          <a:p>
            <a:pPr>
              <a:spcAft>
                <a:spcPts val="600"/>
              </a:spcAft>
            </a:pPr>
            <a:r>
              <a:rPr sz="1500">
                <a:solidFill>
                  <a:srgbClr val="22282E"/>
                </a:solidFill>
              </a:rPr>
              <a:t>•  6 — Labs vulnerables</a:t>
            </a:r>
          </a:p>
          <a:p>
            <a:pPr>
              <a:spcAft>
                <a:spcPts val="600"/>
              </a:spcAft>
            </a:pPr>
            <a:r>
              <a:rPr sz="1500">
                <a:solidFill>
                  <a:srgbClr val="22282E"/>
                </a:solidFill>
              </a:rPr>
              <a:t>•  7 — Aislamiento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Imagen: plantilla inmutable con el software y su entorno. Clave: se versiona por tags; base para crear contenedores.</a:t>
            </a:r>
          </a:p>
          <a:p>
            <a:pPr>
              <a:spcAft>
                <a:spcPts val="600"/>
              </a:spcAft>
            </a:pPr>
            <a:r>
              <a:rPr sz="1500">
                <a:solidFill>
                  <a:srgbClr val="22282E"/>
                </a:solidFill>
              </a:rPr>
              <a:t>•  Contenedor: instancia en ejecución de una imagen. Clave: desechable, rápido de crear y destruir.</a:t>
            </a:r>
          </a:p>
          <a:p>
            <a:pPr>
              <a:spcAft>
                <a:spcPts val="600"/>
              </a:spcAft>
            </a:pPr>
            <a:r>
              <a:rPr sz="1500">
                <a:solidFill>
                  <a:srgbClr val="22282E"/>
                </a:solidFill>
              </a:rPr>
              <a:t>•  Dockerfile: receta declarativa para construir una imagen. Clave: reproducibilidad y control de lo que se instala.</a:t>
            </a:r>
          </a:p>
          <a:p>
            <a:pPr>
              <a:spcAft>
                <a:spcPts val="600"/>
              </a:spcAft>
            </a:pPr>
            <a:r>
              <a:rPr sz="1500">
                <a:solidFill>
                  <a:srgbClr val="22282E"/>
                </a:solidFill>
              </a:rPr>
              <a:t>•  Volumen: almacenamiento persistente fuera del ciclo de vida del contenedor. Clave: los datos no se pierden al recrear.</a:t>
            </a:r>
          </a:p>
          <a:p>
            <a:pPr>
              <a:spcAft>
                <a:spcPts val="600"/>
              </a:spcAft>
            </a:pPr>
            <a:r>
              <a:rPr sz="1500">
                <a:solidFill>
                  <a:srgbClr val="22282E"/>
                </a:solidFill>
              </a:rPr>
              <a:t>•  Namespaces/cgroups: mecanismos del kernel que aíslan y limitan recursos. Clave: la base (más débil que una VM) del aislamiento de contenedores.</a:t>
            </a:r>
          </a:p>
          <a:p>
            <a:pPr>
              <a:spcAft>
                <a:spcPts val="600"/>
              </a:spcAft>
            </a:pPr>
            <a:r>
              <a:rPr sz="1500">
                <a:solidFill>
                  <a:srgbClr val="22282E"/>
                </a:solidFill>
              </a:rPr>
              <a:t>•  Docker Compose: define varios servicios en un compose.yml. Clave: levanta un laboratorio completo con un comando.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Instala Docker Engine (o Docker Desktop). Verifica:</a:t>
            </a:r>
          </a:p>
          <a:p>
            <a:pPr>
              <a:spcAft>
                <a:spcPts val="600"/>
              </a:spcAft>
            </a:pPr>
            <a:r>
              <a:rPr sz="1500">
                <a:solidFill>
                  <a:srgbClr val="22282E"/>
                </a:solidFill>
              </a:rPr>
              <a:t>•  docker --version &amp;&amp; docker run hello-world</a:t>
            </a:r>
          </a:p>
          <a:p>
            <a:pPr>
              <a:spcAft>
                <a:spcPts val="600"/>
              </a:spcAft>
            </a:pPr>
            <a:r>
              <a:rPr sz="1500">
                <a:solidFill>
                  <a:srgbClr val="22282E"/>
                </a:solidFill>
              </a:rPr>
              <a:t>•  Trabaja dentro de tu VM de laboratorio para no exponer contenedores vulnerables. Imágenes de práctica: vulnerables/web-dvwa, bkimminich/juice-shop. Ten Compose disponible (docker compose version).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Primer contenedor:</a:t>
            </a:r>
          </a:p>
          <a:p>
            <a:pPr>
              <a:spcAft>
                <a:spcPts val="600"/>
              </a:spcAft>
            </a:pPr>
            <a:r>
              <a:rPr sz="1500">
                <a:solidFill>
                  <a:srgbClr val="22282E"/>
                </a:solidFill>
              </a:rPr>
              <a:t>•  docker run -d --name web -p 8080:80 nginx</a:t>
            </a:r>
          </a:p>
          <a:p>
            <a:pPr>
              <a:spcAft>
                <a:spcPts val="600"/>
              </a:spcAft>
            </a:pPr>
            <a:r>
              <a:rPr sz="1500">
                <a:solidFill>
                  <a:srgbClr val="22282E"/>
                </a:solidFill>
              </a:rPr>
              <a:t>•  docker ps ; curl -s localhost:8080 | head</a:t>
            </a:r>
          </a:p>
          <a:p>
            <a:pPr>
              <a:spcAft>
                <a:spcPts val="600"/>
              </a:spcAft>
            </a:pPr>
            <a:r>
              <a:rPr sz="1500">
                <a:solidFill>
                  <a:srgbClr val="22282E"/>
                </a:solidFill>
              </a:rPr>
              <a:t>•  Inspeccionar y entrar:</a:t>
            </a:r>
          </a:p>
          <a:p>
            <a:pPr>
              <a:spcAft>
                <a:spcPts val="600"/>
              </a:spcAft>
            </a:pPr>
            <a:r>
              <a:rPr sz="1500">
                <a:solidFill>
                  <a:srgbClr val="22282E"/>
                </a:solidFill>
              </a:rPr>
              <a:t>•  docker logs web ; docker exec -it web bash</a:t>
            </a:r>
          </a:p>
          <a:p>
            <a:pPr>
              <a:spcAft>
                <a:spcPts val="600"/>
              </a:spcAft>
            </a:pPr>
            <a:r>
              <a:rPr sz="1500">
                <a:solidFill>
                  <a:srgbClr val="22282E"/>
                </a:solidFill>
              </a:rPr>
              <a:t>•  Desplegar un lab vulnerable (solo en red aislada):</a:t>
            </a:r>
          </a:p>
          <a:p>
            <a:pPr>
              <a:spcAft>
                <a:spcPts val="600"/>
              </a:spcAft>
            </a:pPr>
            <a:r>
              <a:rPr sz="1500">
                <a:solidFill>
                  <a:srgbClr val="22282E"/>
                </a:solidFill>
              </a:rPr>
              <a:t>•  docker run -d -p 3000:3000 bkimminich/juice-shop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Explica la diferencia entre una imagen y un contenedor con una analogía.</a:t>
            </a:r>
          </a:p>
          <a:p>
            <a:pPr>
              <a:spcAft>
                <a:spcPts val="600"/>
              </a:spcAft>
            </a:pPr>
            <a:r>
              <a:rPr sz="1500">
                <a:solidFill>
                  <a:srgbClr val="22282E"/>
                </a:solidFill>
              </a:rPr>
              <a:t>•  Mapea un volumen para que los datos de un contenedor persistan tras recrearlo.</a:t>
            </a:r>
          </a:p>
          <a:p>
            <a:pPr>
              <a:spcAft>
                <a:spcPts val="600"/>
              </a:spcAft>
            </a:pPr>
            <a:r>
              <a:rPr sz="1500">
                <a:solidFill>
                  <a:srgbClr val="22282E"/>
                </a:solidFill>
              </a:rPr>
              <a:t>•  Escribe un Dockerfile mínimo que empaquete una de tus herramientas Python.</a:t>
            </a:r>
          </a:p>
          <a:p>
            <a:pPr>
              <a:spcAft>
                <a:spcPts val="600"/>
              </a:spcAft>
            </a:pPr>
            <a:r>
              <a:rPr sz="1500">
                <a:solidFill>
                  <a:srgbClr val="22282E"/>
                </a:solidFill>
              </a:rPr>
              <a:t>•  Crea una red Docker interna y conecta dos contenedores que se comuniquen por nombre.</a:t>
            </a:r>
          </a:p>
          <a:p>
            <a:pPr>
              <a:spcAft>
                <a:spcPts val="600"/>
              </a:spcAft>
            </a:pPr>
            <a:r>
              <a:rPr sz="1500">
                <a:solidFill>
                  <a:srgbClr val="22282E"/>
                </a:solidFill>
              </a:rPr>
              <a:t>•  Compara aislamiento de contenedor vs. VM: ¿qué comparte cada uno con el host?</a:t>
            </a:r>
          </a:p>
          <a:p>
            <a:pPr>
              <a:spcAft>
                <a:spcPts val="600"/>
              </a:spcAft>
            </a:pPr>
            <a:r>
              <a:rPr sz="1500">
                <a:solidFill>
                  <a:srgbClr val="22282E"/>
                </a:solidFill>
              </a:rPr>
              <a:t>•  Investiga tres buenas prácticas de seguridad de imágenes (usuario no root, imagen mínima, escaneo).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Crea con Docker Compose un laboratorio web vulnerable reproducible (por ejemplo DVWA con su base de datos) que se levante con un solo comando en tu red aislada, más un contenedor "atacante" con tus herramientas Python. Documenta cómo se lanza, cómo se conectan y cómo se destruye todo limpiamente.</a:t>
            </a:r>
          </a:p>
          <a:p>
            <a:pPr>
              <a:spcAft>
                <a:spcPts val="600"/>
              </a:spcAft>
            </a:pPr>
            <a:r>
              <a:rPr sz="1500">
                <a:solidFill>
                  <a:srgbClr val="22282E"/>
                </a:solidFill>
              </a:rPr>
              <a:t>•  Criterio de aceptación: docker compose up -d levanta la app vulnerable accesible solo desde la VM; el contenedor atacante alcanza a la víctima por la red interna de Compose; y docker compose down elimina todo sin dejar recursos huérfanos. Otro alumno reproduce el lab con tu compose.yml.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permission denied al usar docker — Tu usuario no está en el grupo docker. Añádelo o usa sudo.</a:t>
            </a:r>
          </a:p>
          <a:p>
            <a:pPr>
              <a:spcAft>
                <a:spcPts val="600"/>
              </a:spcAft>
            </a:pPr>
            <a:r>
              <a:rPr sz="1500">
                <a:solidFill>
                  <a:srgbClr val="22282E"/>
                </a:solidFill>
              </a:rPr>
              <a:t>•  El puerto ya está en uso — Otro proceso ocupa el puerto host. Cambia el mapeo -p.</a:t>
            </a:r>
          </a:p>
          <a:p>
            <a:pPr>
              <a:spcAft>
                <a:spcPts val="600"/>
              </a:spcAft>
            </a:pPr>
            <a:r>
              <a:rPr sz="1500">
                <a:solidFill>
                  <a:srgbClr val="22282E"/>
                </a:solidFill>
              </a:rPr>
              <a:t>•  Los datos desaparecen al recrear — No usaste volumen. Monta un volumen para persistencia.</a:t>
            </a:r>
          </a:p>
          <a:p>
            <a:pPr>
              <a:spcAft>
                <a:spcPts val="600"/>
              </a:spcAft>
            </a:pPr>
            <a:r>
              <a:rPr sz="1500">
                <a:solidFill>
                  <a:srgbClr val="22282E"/>
                </a:solidFill>
              </a:rPr>
              <a:t>•  Lab vulnerable accesible desde fuera — Bindeaste a 0.0.0.0 en red no aislada. Restringe a la VM/red interna.</a:t>
            </a:r>
          </a:p>
          <a:p>
            <a:pPr>
              <a:spcAft>
                <a:spcPts val="600"/>
              </a:spcAft>
            </a:pPr>
            <a:r>
              <a:rPr sz="1500">
                <a:solidFill>
                  <a:srgbClr val="22282E"/>
                </a:solidFill>
              </a:rPr>
              <a:t>•  Imagen enorme/lenta — Base pesada y capas mal ordenadas. Usa imágenes slim/alpine y aprovecha la caché.</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¿Un contenedor es tan seguro como una VM? No. Comparte el kernel del host, por lo que su aislamiento es más débil. Para malware o exploits de kernel, usa VMs; para servicios y labs web reproducibles, contenedores.</a:t>
            </a:r>
          </a:p>
          <a:p>
            <a:pPr>
              <a:spcAft>
                <a:spcPts val="600"/>
              </a:spcAft>
            </a:pPr>
            <a:r>
              <a:rPr sz="1500">
                <a:solidFill>
                  <a:srgbClr val="22282E"/>
                </a:solidFill>
              </a:rPr>
              <a:t>•  ❓ ¿Por qué Docker para labs si ya tengo VMs? Rapidez y reproducibilidad: levantas y destruyes entornos en segundos y compartes un compose.yml. Se complementan con las VMs de la Clase 004.</a:t>
            </a:r>
          </a:p>
          <a:p>
            <a:pPr>
              <a:spcAft>
                <a:spcPts val="600"/>
              </a:spcAft>
            </a:pPr>
            <a:r>
              <a:rPr sz="1500">
                <a:solidFill>
                  <a:srgbClr val="22282E"/>
                </a:solidFill>
              </a:rPr>
              <a:t>•  ❓ ¿Debo actualizar/escanear mis imágenes? Sí: las imágenes contienen dependencias con CVEs. Escanéalas (Trivy, Grype) y usa bases mínimas y actualizadas.</a:t>
            </a:r>
          </a:p>
          <a:p>
            <a:pPr>
              <a:spcAft>
                <a:spcPts val="600"/>
              </a:spcAft>
            </a:pPr>
            <a:r>
              <a:rPr sz="1500">
                <a:solidFill>
                  <a:srgbClr val="22282E"/>
                </a:solidFill>
              </a:rPr>
              <a:t>•  ❓ ¿Contenedor como root es peligroso? Sí: si el contenedor se compromete, el proceso corre como root y un escape sería más dañino. Usa usuarios no privilegiados en tus imágenes.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Docker Documentation — &lt;https://docs.docker.com/&gt;</a:t>
            </a:r>
          </a:p>
          <a:p>
            <a:pPr>
              <a:spcAft>
                <a:spcPts val="600"/>
              </a:spcAft>
            </a:pPr>
            <a:r>
              <a:rPr sz="1500">
                <a:solidFill>
                  <a:srgbClr val="22282E"/>
                </a:solidFill>
              </a:rPr>
              <a:t>•  NIST SP 800-190, Application Container Security Guide — &lt;https://csrc.nist.gov/pubs/sp/800/190/final&gt;</a:t>
            </a:r>
          </a:p>
          <a:p>
            <a:pPr>
              <a:spcAft>
                <a:spcPts val="600"/>
              </a:spcAft>
            </a:pPr>
            <a:r>
              <a:rPr sz="1500">
                <a:solidFill>
                  <a:srgbClr val="22282E"/>
                </a:solidFill>
              </a:rPr>
              <a:t>•  OWASP Juice Shop — &lt;https://owasp.org/www-project-juice-shop/&gt;</a:t>
            </a:r>
          </a:p>
          <a:p>
            <a:pPr>
              <a:spcAft>
                <a:spcPts val="600"/>
              </a:spcAft>
            </a:pPr>
            <a:r>
              <a:rPr sz="1500">
                <a:solidFill>
                  <a:srgbClr val="22282E"/>
                </a:solidFill>
              </a:rPr>
              <a:t>•  CIS Docker Benchmark — &lt;https://www.cisecurity.org/benchmark/docker&gt;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