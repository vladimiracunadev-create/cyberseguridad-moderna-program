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263 — Seguridad de iOS: arquitectura</a:t>
            </a:r>
          </a:p>
          <a:p>
            <a:r>
              <a:rPr sz="1600">
                <a:solidFill>
                  <a:srgbClr val="2E8B57"/>
                </a:solidFill>
              </a:rPr>
              <a:t>parte 13 seguridad movil iot e inalambrica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Entender la arquitectura de seguridad de iOS —una de las más cerradas y robustas del mercado— para razonar sobre qué defiende y por qué el pentest de iOS difiere tanto del de Android. Cubriremos la cadena de arranque seguro, el Secure Enclave, la protección de datos por clases, el sandbox de apps, el cifrado de código y el modelo de jailbreak, dejando el terreno preparado para el pentest práctico de la siguiente clase.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Describir la cadena de arranque seguro (Boot ROM → iBoot → kernel) y su rol de confianza.</a:t>
            </a:r>
          </a:p>
          <a:p>
            <a:pPr>
              <a:spcAft>
                <a:spcPts val="600"/>
              </a:spcAft>
            </a:pPr>
            <a:r>
              <a:rPr sz="1500">
                <a:solidFill>
                  <a:srgbClr val="22282E"/>
                </a:solidFill>
              </a:rPr>
              <a:t>•  Explicar la función del Secure Enclave (SEP) y del coprocesador criptográfico.</a:t>
            </a:r>
          </a:p>
          <a:p>
            <a:pPr>
              <a:spcAft>
                <a:spcPts val="600"/>
              </a:spcAft>
            </a:pPr>
            <a:r>
              <a:rPr sz="1500">
                <a:solidFill>
                  <a:srgbClr val="22282E"/>
                </a:solidFill>
              </a:rPr>
              <a:t>•  Analizar el modelo de Data Protection por clases y su relación con el passcode.</a:t>
            </a:r>
          </a:p>
          <a:p>
            <a:pPr>
              <a:spcAft>
                <a:spcPts val="600"/>
              </a:spcAft>
            </a:pPr>
            <a:r>
              <a:rPr sz="1500">
                <a:solidFill>
                  <a:srgbClr val="22282E"/>
                </a:solidFill>
              </a:rPr>
              <a:t>•  Comparar el Keychain de iOS con el almacenamiento de una app.</a:t>
            </a:r>
          </a:p>
          <a:p>
            <a:pPr>
              <a:spcAft>
                <a:spcPts val="600"/>
              </a:spcAft>
            </a:pPr>
            <a:r>
              <a:rPr sz="1500">
                <a:solidFill>
                  <a:srgbClr val="22282E"/>
                </a:solidFill>
              </a:rPr>
              <a:t>•  Justificar por qué el pentest de iOS suele requerir un dispositivo con jailbreak.</a:t>
            </a:r>
          </a:p>
          <a:p>
            <a:pPr>
              <a:spcAft>
                <a:spcPts val="600"/>
              </a:spcAft>
            </a:pPr>
            <a:r>
              <a:rPr sz="1500">
                <a:solidFill>
                  <a:srgbClr val="22282E"/>
                </a:solidFill>
              </a:rPr>
              <a:t>•  Identificar las mitigaciones de explotación (ASLR, PAC, code signing) del sistema.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Cadena de arranque seguro</a:t>
            </a:r>
          </a:p>
          <a:p>
            <a:pPr>
              <a:spcAft>
                <a:spcPts val="600"/>
              </a:spcAft>
            </a:pPr>
            <a:r>
              <a:rPr sz="1500">
                <a:solidFill>
                  <a:srgbClr val="22282E"/>
                </a:solidFill>
              </a:rPr>
              <a:t>•  2 — Secure Enclave (SEP)</a:t>
            </a:r>
          </a:p>
          <a:p>
            <a:pPr>
              <a:spcAft>
                <a:spcPts val="600"/>
              </a:spcAft>
            </a:pPr>
            <a:r>
              <a:rPr sz="1500">
                <a:solidFill>
                  <a:srgbClr val="22282E"/>
                </a:solidFill>
              </a:rPr>
              <a:t>•  3 — Data Protection por clases</a:t>
            </a:r>
          </a:p>
          <a:p>
            <a:pPr>
              <a:spcAft>
                <a:spcPts val="600"/>
              </a:spcAft>
            </a:pPr>
            <a:r>
              <a:rPr sz="1500">
                <a:solidFill>
                  <a:srgbClr val="22282E"/>
                </a:solidFill>
              </a:rPr>
              <a:t>•  4 — Sandbox y entitlements</a:t>
            </a:r>
          </a:p>
          <a:p>
            <a:pPr>
              <a:spcAft>
                <a:spcPts val="600"/>
              </a:spcAft>
            </a:pPr>
            <a:r>
              <a:rPr sz="1500">
                <a:solidFill>
                  <a:srgbClr val="22282E"/>
                </a:solidFill>
              </a:rPr>
              <a:t>•  5 — Code signing y FairPlay</a:t>
            </a:r>
          </a:p>
          <a:p>
            <a:pPr>
              <a:spcAft>
                <a:spcPts val="600"/>
              </a:spcAft>
            </a:pPr>
            <a:r>
              <a:rPr sz="1500">
                <a:solidFill>
                  <a:srgbClr val="22282E"/>
                </a:solidFill>
              </a:rPr>
              <a:t>•  6 — Keychain</a:t>
            </a:r>
          </a:p>
          <a:p>
            <a:pPr>
              <a:spcAft>
                <a:spcPts val="600"/>
              </a:spcAft>
            </a:pPr>
            <a:r>
              <a:rPr sz="1500">
                <a:solidFill>
                  <a:srgbClr val="22282E"/>
                </a:solidFill>
              </a:rPr>
              <a:t>•  7 — Jailbreak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Secure Enclave (SEP): coprocesador aislado que gestiona claves, Touch/Face ID y cifrado. Característica: el material de clave nunca es accesible por el procesador principal.</a:t>
            </a:r>
          </a:p>
          <a:p>
            <a:pPr>
              <a:spcAft>
                <a:spcPts val="600"/>
              </a:spcAft>
            </a:pPr>
            <a:r>
              <a:rPr sz="1500">
                <a:solidFill>
                  <a:srgbClr val="22282E"/>
                </a:solidFill>
              </a:rPr>
              <a:t>•  Data Protection: cifrado de archivos por clases (Complete, CompleteUntilFirstUserAuthentication, None). Característica: las claves se derivan del passcode y del UID de hardware.</a:t>
            </a:r>
          </a:p>
          <a:p>
            <a:pPr>
              <a:spcAft>
                <a:spcPts val="600"/>
              </a:spcAft>
            </a:pPr>
            <a:r>
              <a:rPr sz="1500">
                <a:solidFill>
                  <a:srgbClr val="22282E"/>
                </a:solidFill>
              </a:rPr>
              <a:t>•  Entitlements: permisos declarados y firmados que autorizan capacidades (Keychain groups, push, etc.). Característica: no se pueden falsificar sin romper la firma.</a:t>
            </a:r>
          </a:p>
          <a:p>
            <a:pPr>
              <a:spcAft>
                <a:spcPts val="600"/>
              </a:spcAft>
            </a:pPr>
            <a:r>
              <a:rPr sz="1500">
                <a:solidFill>
                  <a:srgbClr val="22282E"/>
                </a:solidFill>
              </a:rPr>
              <a:t>•  Code signing: todo binario ejecutable debe estar firmado por un certificado de confianza de Apple. Característica: impide ejecutar código no firmado sin jailbreak.</a:t>
            </a:r>
          </a:p>
          <a:p>
            <a:pPr>
              <a:spcAft>
                <a:spcPts val="600"/>
              </a:spcAft>
            </a:pPr>
            <a:r>
              <a:rPr sz="1500">
                <a:solidFill>
                  <a:srgbClr val="22282E"/>
                </a:solidFill>
              </a:rPr>
              <a:t>•  Keychain: base de datos cifrada del sistema para credenciales, respaldada por el SEP. Característica: accesible por clases de protección similares a Data Protection.</a:t>
            </a:r>
          </a:p>
          <a:p>
            <a:pPr>
              <a:spcAft>
                <a:spcPts val="600"/>
              </a:spcAft>
            </a:pPr>
            <a:r>
              <a:rPr sz="1500">
                <a:solidFill>
                  <a:srgbClr val="22282E"/>
                </a:solidFill>
              </a:rPr>
              <a:t>•  Jailbreak: explotación que desactiva code signing y el sandbox para ejecutar código arbitrario. Característica: imprescindible para muchos análisis dinámicos.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Dispositivo iOS propio compatible con jailbreak (para laboratorio) o corellium/simulador para análisis limitado.</a:t>
            </a:r>
          </a:p>
          <a:p>
            <a:pPr>
              <a:spcAft>
                <a:spcPts val="600"/>
              </a:spcAft>
            </a:pPr>
            <a:r>
              <a:rPr sz="1500">
                <a:solidFill>
                  <a:srgbClr val="22282E"/>
                </a:solidFill>
              </a:rPr>
              <a:t>•  checkra1n/palera1n (jailbreaks basados en el bug de Boot ROM checkm8, hardware antiguo) — solo en dispositivo propio.</a:t>
            </a:r>
          </a:p>
          <a:p>
            <a:pPr>
              <a:spcAft>
                <a:spcPts val="600"/>
              </a:spcAft>
            </a:pPr>
            <a:r>
              <a:rPr sz="1500">
                <a:solidFill>
                  <a:srgbClr val="22282E"/>
                </a:solidFill>
              </a:rPr>
              <a:t>•  frida, objection, Cydia/Sileo con OpenSSH para acceso por SSH.</a:t>
            </a:r>
          </a:p>
          <a:p>
            <a:pPr>
              <a:spcAft>
                <a:spcPts val="600"/>
              </a:spcAft>
            </a:pPr>
            <a:r>
              <a:rPr sz="1500">
                <a:solidFill>
                  <a:srgbClr val="22282E"/>
                </a:solidFill>
              </a:rPr>
              <a:t>•  class-dump, Hopper/Ghidra para RE de binarios Mach-O.</a:t>
            </a:r>
          </a:p>
          <a:p>
            <a:pPr>
              <a:spcAft>
                <a:spcPts val="600"/>
              </a:spcAft>
            </a:pPr>
            <a:r>
              <a:rPr sz="1500">
                <a:solidFill>
                  <a:srgbClr val="22282E"/>
                </a:solidFill>
              </a:rPr>
              <a:t>•  ssh root@&lt;ip-dispositivo&gt;          # contraseña por defecto 'alpine' — CÁMBIALA</a:t>
            </a:r>
          </a:p>
          <a:p>
            <a:pPr>
              <a:spcAft>
                <a:spcPts val="600"/>
              </a:spcAft>
            </a:pPr>
            <a:r>
              <a:rPr sz="1500">
                <a:solidFill>
                  <a:srgbClr val="22282E"/>
                </a:solidFill>
              </a:rPr>
              <a:t>•  uname -a                            # kernel</a:t>
            </a:r>
          </a:p>
          <a:p>
            <a:pPr>
              <a:spcAft>
                <a:spcPts val="600"/>
              </a:spcAft>
            </a:pPr>
            <a:r>
              <a:rPr sz="1500">
                <a:solidFill>
                  <a:srgbClr val="22282E"/>
                </a:solidFill>
              </a:rPr>
              <a:t>•  ls /var/mobile/Containers/          # contenedores de apps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Estudia la cadena de arranque: documenta con el Apple Platform Security Guide el flujo Boot ROM → LLB/iBoot → kernel y dónde se verifica cada firma.</a:t>
            </a:r>
          </a:p>
          <a:p>
            <a:pPr>
              <a:spcAft>
                <a:spcPts val="600"/>
              </a:spcAft>
            </a:pPr>
            <a:r>
              <a:rPr sz="1500">
                <a:solidFill>
                  <a:srgbClr val="22282E"/>
                </a:solidFill>
              </a:rPr>
              <a:t>•  Explora Data Protection: identifica en qué clase caería un fichero típico de una app y cómo el bloqueo del dispositivo afecta su accesibilidad.</a:t>
            </a:r>
          </a:p>
          <a:p>
            <a:pPr>
              <a:spcAft>
                <a:spcPts val="600"/>
              </a:spcAft>
            </a:pPr>
            <a:r>
              <a:rPr sz="1500">
                <a:solidFill>
                  <a:srgbClr val="22282E"/>
                </a:solidFill>
              </a:rPr>
              <a:t>•  Prepara el laboratorio (dispositivo propio): aplica el jailbreak con palera1n/checkra1n, instala OpenSSH y cambia la contraseña root inmediatamente.</a:t>
            </a:r>
          </a:p>
          <a:p>
            <a:pPr>
              <a:spcAft>
                <a:spcPts val="600"/>
              </a:spcAft>
            </a:pPr>
            <a:r>
              <a:rPr sz="1500">
                <a:solidFill>
                  <a:srgbClr val="22282E"/>
                </a:solidFill>
              </a:rPr>
              <a:t>•  Localiza contenedores de apps: por SSH, explora /var/containers/Bundle/Application/ y /var/mobile/Containers/Data/Application/.</a:t>
            </a:r>
          </a:p>
          <a:p>
            <a:pPr>
              <a:spcAft>
                <a:spcPts val="600"/>
              </a:spcAft>
            </a:pPr>
            <a:r>
              <a:rPr sz="1500">
                <a:solidFill>
                  <a:srgbClr val="22282E"/>
                </a:solidFill>
              </a:rPr>
              <a:t>•  Volca clases de un binario: copia el ejecutable de una app propia y ejecuta class-dump para ver interfaces Objective-C.</a:t>
            </a:r>
          </a:p>
          <a:p>
            <a:pPr>
              <a:spcAft>
                <a:spcPts val="600"/>
              </a:spcAft>
            </a:pPr>
            <a:r>
              <a:rPr sz="1500">
                <a:solidFill>
                  <a:srgbClr val="22282E"/>
                </a:solidFill>
              </a:rPr>
              <a:t>•  Inspecciona el Keychain: con objection (ios keychain dump) observa qué entradas guarda una app propia y su clase de accesibilidad.</a:t>
            </a:r>
          </a:p>
          <a:p>
            <a:pPr>
              <a:spcAft>
                <a:spcPts val="600"/>
              </a:spcAft>
            </a:pPr>
            <a:r>
              <a:rPr sz="1500">
                <a:solidFill>
                  <a:srgbClr val="22282E"/>
                </a:solidFill>
              </a:rPr>
              <a:t>•  Compara con Android: redacta tres diferencias arquitectónicas clave que impactan el pentest (code signing, jailbreak vs. root, Data Protection vs. FBE).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un diagrama la cadena de arranque seguro de iOS.</a:t>
            </a:r>
          </a:p>
          <a:p>
            <a:pPr>
              <a:spcAft>
                <a:spcPts val="600"/>
              </a:spcAft>
            </a:pPr>
            <a:r>
              <a:rPr sz="1500">
                <a:solidFill>
                  <a:srgbClr val="22282E"/>
                </a:solidFill>
              </a:rPr>
              <a:t>•  Describe cada clase de Data Protection y da un ejemplo de dato apropiado para cada una.</a:t>
            </a:r>
          </a:p>
          <a:p>
            <a:pPr>
              <a:spcAft>
                <a:spcPts val="600"/>
              </a:spcAft>
            </a:pPr>
            <a:r>
              <a:rPr sz="1500">
                <a:solidFill>
                  <a:srgbClr val="22282E"/>
                </a:solidFill>
              </a:rPr>
              <a:t>•  Investiga qué es checkm8 y por qué no puede parchearse por software.</a:t>
            </a:r>
          </a:p>
          <a:p>
            <a:pPr>
              <a:spcAft>
                <a:spcPts val="600"/>
              </a:spcAft>
            </a:pPr>
            <a:r>
              <a:rPr sz="1500">
                <a:solidFill>
                  <a:srgbClr val="22282E"/>
                </a:solidFill>
              </a:rPr>
              <a:t>•  Enumera tres entitlements sensibles y qué capacidad conceden.</a:t>
            </a:r>
          </a:p>
          <a:p>
            <a:pPr>
              <a:spcAft>
                <a:spcPts val="600"/>
              </a:spcAft>
            </a:pPr>
            <a:r>
              <a:rPr sz="1500">
                <a:solidFill>
                  <a:srgbClr val="22282E"/>
                </a:solidFill>
              </a:rPr>
              <a:t>•  Compara el Keychain de iOS con el Android Keystore.</a:t>
            </a:r>
          </a:p>
          <a:p>
            <a:pPr>
              <a:spcAft>
                <a:spcPts val="600"/>
              </a:spcAft>
            </a:pPr>
            <a:r>
              <a:rPr sz="1500">
                <a:solidFill>
                  <a:srgbClr val="22282E"/>
                </a:solidFill>
              </a:rPr>
              <a:t>•  Justifica por qué class-dump funciona mejor en binarios Objective-C que en Swift.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Elabora una ficha técnica de arquitectura de seguridad iOS que, para un dato sensible concreto (p. ej. un token de sesión), explique dónde debería almacenarse, con qué clase de Data Protection/Keychain, y qué lo protegería frente a un atacante con acceso físico al dispositivo bloqueado. Criterio de aceptación: la ficha distingue correctamente el escenario "dispositivo bloqueado tras primer desbloqueo" del escenario "nunca desbloqueado tras encendido".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Jailbreak no soportado — Dispositivo/versión sin exploit público; usa hardware compatible con checkm8</a:t>
            </a:r>
          </a:p>
          <a:p>
            <a:pPr>
              <a:spcAft>
                <a:spcPts val="600"/>
              </a:spcAft>
            </a:pPr>
            <a:r>
              <a:rPr sz="1500">
                <a:solidFill>
                  <a:srgbClr val="22282E"/>
                </a:solidFill>
              </a:rPr>
              <a:t>•  SSH rechaza conexión — OpenSSH no instalado o servicio caído; instálalo desde Sileo</a:t>
            </a:r>
          </a:p>
          <a:p>
            <a:pPr>
              <a:spcAft>
                <a:spcPts val="600"/>
              </a:spcAft>
            </a:pPr>
            <a:r>
              <a:rPr sz="1500">
                <a:solidFill>
                  <a:srgbClr val="22282E"/>
                </a:solidFill>
              </a:rPr>
              <a:t>•  Contraseña alpine filtrada — Nunca la cambiaste; cámbiala tras el primer acceso</a:t>
            </a:r>
          </a:p>
          <a:p>
            <a:pPr>
              <a:spcAft>
                <a:spcPts val="600"/>
              </a:spcAft>
            </a:pPr>
            <a:r>
              <a:rPr sz="1500">
                <a:solidFill>
                  <a:srgbClr val="22282E"/>
                </a:solidFill>
              </a:rPr>
              <a:t>•  class-dump vacío — Binario Swift o cifrado; descífralo primero (frida-ios-dump)</a:t>
            </a:r>
          </a:p>
          <a:p>
            <a:pPr>
              <a:spcAft>
                <a:spcPts val="600"/>
              </a:spcAft>
            </a:pPr>
            <a:r>
              <a:rPr sz="1500">
                <a:solidFill>
                  <a:srgbClr val="22282E"/>
                </a:solidFill>
              </a:rPr>
              <a:t>•  App no arranca en jailbroken — Detección de jailbreak; se evade en la clase siguiente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iOS se considera más difícil de auditar que Android?</a:t>
            </a:r>
          </a:p>
          <a:p>
            <a:pPr>
              <a:spcAft>
                <a:spcPts val="600"/>
              </a:spcAft>
            </a:pPr>
            <a:r>
              <a:rPr sz="1500">
                <a:solidFill>
                  <a:srgbClr val="22282E"/>
                </a:solidFill>
              </a:rPr>
              <a:t>•  Por el code signing obligatorio y el sandbox estricto: sin jailbreak no puedes ejecutar herramientas ni instrumentar apps, y los jailbreaks son cada vez más escasos.</a:t>
            </a:r>
          </a:p>
          <a:p>
            <a:pPr>
              <a:spcAft>
                <a:spcPts val="600"/>
              </a:spcAft>
            </a:pPr>
            <a:r>
              <a:rPr sz="1500">
                <a:solidFill>
                  <a:srgbClr val="22282E"/>
                </a:solidFill>
              </a:rPr>
              <a:t>•  ❓ ¿El Secure Enclave puede extraerse o volcarse?</a:t>
            </a:r>
          </a:p>
          <a:p>
            <a:pPr>
              <a:spcAft>
                <a:spcPts val="600"/>
              </a:spcAft>
            </a:pPr>
            <a:r>
              <a:rPr sz="1500">
                <a:solidFill>
                  <a:srgbClr val="22282E"/>
                </a:solidFill>
              </a:rPr>
              <a:t>•  No por software: es un coprocesador aislado con su propio arranque seguro; su clave UID nunca se expone al SoC principal.</a:t>
            </a:r>
          </a:p>
          <a:p>
            <a:pPr>
              <a:spcAft>
                <a:spcPts val="600"/>
              </a:spcAft>
            </a:pPr>
            <a:r>
              <a:rPr sz="1500">
                <a:solidFill>
                  <a:srgbClr val="22282E"/>
                </a:solidFill>
              </a:rPr>
              <a:t>•  ❓ ¿Puedo hacer algo sin jailbreak?</a:t>
            </a:r>
          </a:p>
          <a:p>
            <a:pPr>
              <a:spcAft>
                <a:spcPts val="600"/>
              </a:spcAft>
            </a:pPr>
            <a:r>
              <a:rPr sz="1500">
                <a:solidFill>
                  <a:srgbClr val="22282E"/>
                </a:solidFill>
              </a:rPr>
              <a:t>•  Sí: análisis estático del IPA, revisión de Info.plist y entitlements, y pruebas de red con proxy, aunque el pinning y muchos controles requieren instrumentación.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Apple Platform Security Guide: &lt;https://support.apple.com/guide/security/welcome/web&gt;</a:t>
            </a:r>
          </a:p>
          <a:p>
            <a:pPr>
              <a:spcAft>
                <a:spcPts val="600"/>
              </a:spcAft>
            </a:pPr>
            <a:r>
              <a:rPr sz="1500">
                <a:solidFill>
                  <a:srgbClr val="22282E"/>
                </a:solidFill>
              </a:rPr>
              <a:t>•  OWASP MASTG — iOS Platform Overview: &lt;https://mas.owasp.org/MASTG/0x06a-Platform-Overview/&gt;</a:t>
            </a:r>
          </a:p>
          <a:p>
            <a:pPr>
              <a:spcAft>
                <a:spcPts val="600"/>
              </a:spcAft>
            </a:pPr>
            <a:r>
              <a:rPr sz="1500">
                <a:solidFill>
                  <a:srgbClr val="22282E"/>
                </a:solidFill>
              </a:rPr>
              <a:t>•  frida-ios-dump: &lt;https://github.com/AloneMonkey/frida-ios-dump&gt;</a:t>
            </a:r>
          </a:p>
          <a:p>
            <a:pPr>
              <a:spcAft>
                <a:spcPts val="600"/>
              </a:spcAft>
            </a:pPr>
            <a:r>
              <a:rPr sz="1500">
                <a:solidFill>
                  <a:srgbClr val="22282E"/>
                </a:solidFill>
              </a:rPr>
              <a:t>•  The Mobile Application Hacker's Handbook, caps. iOS.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