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273 — Seguridad de sistemas de control industrial (ICS/SCADA)</a:t>
            </a:r>
          </a:p>
          <a:p>
            <a:r>
              <a:rPr sz="1600">
                <a:solidFill>
                  <a:srgbClr val="2E8B57"/>
                </a:solidFill>
              </a:rPr>
              <a:t>parte 13 seguridad movil iot e inalambrica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la seguridad de los sistemas de control industrial (ICS) y SCADA que operan infraestructura crítica —agua, energía, manufactura— donde un fallo tiene consecuencias físicas. El alumno aprenderá el modelo Purdue, los protocolos industriales inseguros por diseño (Modbus, DNP3, S7), la diferencia de prioridades entre TI y OT, y practicará enumeración y análisis de protocolos contra un simulador de laboratorio, nunca contra sistemas en producción.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Describir el modelo Purdue y la segmentación TI/OT.</a:t>
            </a:r>
          </a:p>
          <a:p>
            <a:pPr>
              <a:spcAft>
                <a:spcPts val="600"/>
              </a:spcAft>
            </a:pPr>
            <a:r>
              <a:rPr sz="1500">
                <a:solidFill>
                  <a:srgbClr val="22282E"/>
                </a:solidFill>
              </a:rPr>
              <a:t>•  Explicar por qué los protocolos ICS carecen de autenticación y cifrado.</a:t>
            </a:r>
          </a:p>
          <a:p>
            <a:pPr>
              <a:spcAft>
                <a:spcPts val="600"/>
              </a:spcAft>
            </a:pPr>
            <a:r>
              <a:rPr sz="1500">
                <a:solidFill>
                  <a:srgbClr val="22282E"/>
                </a:solidFill>
              </a:rPr>
              <a:t>•  Enumerar dispositivos y protocolos ICS con herramientas seguras.</a:t>
            </a:r>
          </a:p>
          <a:p>
            <a:pPr>
              <a:spcAft>
                <a:spcPts val="600"/>
              </a:spcAft>
            </a:pPr>
            <a:r>
              <a:rPr sz="1500">
                <a:solidFill>
                  <a:srgbClr val="22282E"/>
                </a:solidFill>
              </a:rPr>
              <a:t>•  Analizar tráfico Modbus/DNP3 en Wireshark.</a:t>
            </a:r>
          </a:p>
          <a:p>
            <a:pPr>
              <a:spcAft>
                <a:spcPts val="600"/>
              </a:spcAft>
            </a:pPr>
            <a:r>
              <a:rPr sz="1500">
                <a:solidFill>
                  <a:srgbClr val="22282E"/>
                </a:solidFill>
              </a:rPr>
              <a:t>•  Interactuar con un PLC simulado para leer/escribir registros en laboratorio.</a:t>
            </a:r>
          </a:p>
          <a:p>
            <a:pPr>
              <a:spcAft>
                <a:spcPts val="600"/>
              </a:spcAft>
            </a:pPr>
            <a:r>
              <a:rPr sz="1500">
                <a:solidFill>
                  <a:srgbClr val="22282E"/>
                </a:solidFill>
              </a:rPr>
              <a:t>•  Aplicar controles de IEC 62443 y NIST SP 800-82 a un caso.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ICS vs. TI: prioridades</a:t>
            </a:r>
          </a:p>
          <a:p>
            <a:pPr>
              <a:spcAft>
                <a:spcPts val="600"/>
              </a:spcAft>
            </a:pPr>
            <a:r>
              <a:rPr sz="1500">
                <a:solidFill>
                  <a:srgbClr val="22282E"/>
                </a:solidFill>
              </a:rPr>
              <a:t>•  2 — Modelo Purdue y zonas</a:t>
            </a:r>
          </a:p>
          <a:p>
            <a:pPr>
              <a:spcAft>
                <a:spcPts val="600"/>
              </a:spcAft>
            </a:pPr>
            <a:r>
              <a:rPr sz="1500">
                <a:solidFill>
                  <a:srgbClr val="22282E"/>
                </a:solidFill>
              </a:rPr>
              <a:t>•  3 — Componentes: PLC, HMI, RTU, DCS</a:t>
            </a:r>
          </a:p>
          <a:p>
            <a:pPr>
              <a:spcAft>
                <a:spcPts val="600"/>
              </a:spcAft>
            </a:pPr>
            <a:r>
              <a:rPr sz="1500">
                <a:solidFill>
                  <a:srgbClr val="22282E"/>
                </a:solidFill>
              </a:rPr>
              <a:t>•  4 — Protocolos (Modbus, DNP3, S7)</a:t>
            </a:r>
          </a:p>
          <a:p>
            <a:pPr>
              <a:spcAft>
                <a:spcPts val="600"/>
              </a:spcAft>
            </a:pPr>
            <a:r>
              <a:rPr sz="1500">
                <a:solidFill>
                  <a:srgbClr val="22282E"/>
                </a:solidFill>
              </a:rPr>
              <a:t>•  5 — Enumeración segura</a:t>
            </a:r>
          </a:p>
          <a:p>
            <a:pPr>
              <a:spcAft>
                <a:spcPts val="600"/>
              </a:spcAft>
            </a:pPr>
            <a:r>
              <a:rPr sz="1500">
                <a:solidFill>
                  <a:srgbClr val="22282E"/>
                </a:solidFill>
              </a:rPr>
              <a:t>•  6 — Casos: Stuxnet, TRITON, Ukraine</a:t>
            </a:r>
          </a:p>
          <a:p>
            <a:pPr>
              <a:spcAft>
                <a:spcPts val="600"/>
              </a:spcAft>
            </a:pPr>
            <a:r>
              <a:rPr sz="1500">
                <a:solidFill>
                  <a:srgbClr val="22282E"/>
                </a:solidFill>
              </a:rPr>
              <a:t>•  7 — IEC 62443 y SP 800-82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SCADA: sistema de supervisión y adquisición de datos que monitoriza y controla procesos distribuidos. Característica: prioriza disponibilidad y tiempo real.</a:t>
            </a:r>
          </a:p>
          <a:p>
            <a:pPr>
              <a:spcAft>
                <a:spcPts val="600"/>
              </a:spcAft>
            </a:pPr>
            <a:r>
              <a:rPr sz="1500">
                <a:solidFill>
                  <a:srgbClr val="22282E"/>
                </a:solidFill>
              </a:rPr>
              <a:t>•  PLC (Controlador Lógico Programable): dispositivo que ejecuta la lógica de control de un proceso físico. Característica: acepta comandos de escritura sin autenticar en muchos protocolos.</a:t>
            </a:r>
          </a:p>
          <a:p>
            <a:pPr>
              <a:spcAft>
                <a:spcPts val="600"/>
              </a:spcAft>
            </a:pPr>
            <a:r>
              <a:rPr sz="1500">
                <a:solidFill>
                  <a:srgbClr val="22282E"/>
                </a:solidFill>
              </a:rPr>
              <a:t>•  Modelo Purdue: arquitectura de referencia por niveles (0 proceso físico a 5 red corporativa). Característica: guía la segmentación entre OT y TI.</a:t>
            </a:r>
          </a:p>
          <a:p>
            <a:pPr>
              <a:spcAft>
                <a:spcPts val="600"/>
              </a:spcAft>
            </a:pPr>
            <a:r>
              <a:rPr sz="1500">
                <a:solidFill>
                  <a:srgbClr val="22282E"/>
                </a:solidFill>
              </a:rPr>
              <a:t>•  Modbus: protocolo industrial simple y ubicuo. Característica: sin autenticación ni cifrado; cualquiera en la red puede leer/escribir registros.</a:t>
            </a:r>
          </a:p>
          <a:p>
            <a:pPr>
              <a:spcAft>
                <a:spcPts val="600"/>
              </a:spcAft>
            </a:pPr>
            <a:r>
              <a:rPr sz="1500">
                <a:solidFill>
                  <a:srgbClr val="22282E"/>
                </a:solidFill>
              </a:rPr>
              <a:t>•  DNP3: protocolo común en servicios eléctricos/agua. Característica: más rico que Modbus pero también inseguro sin Secure Authentication.</a:t>
            </a:r>
          </a:p>
          <a:p>
            <a:pPr>
              <a:spcAft>
                <a:spcPts val="600"/>
              </a:spcAft>
            </a:pPr>
            <a:r>
              <a:rPr sz="1500">
                <a:solidFill>
                  <a:srgbClr val="22282E"/>
                </a:solidFill>
              </a:rPr>
              <a:t>•  Zona desmilitarizada industrial (iDMZ): capa intermedia entre TI y OT. Característica: control de flujo estricto entre niveles Purdue.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Simuladores: Conpot (honeypot ICS), GRFICS (planta virtual), OpenPLC, ModbusPal, PLC de práctica propio.</a:t>
            </a:r>
          </a:p>
          <a:p>
            <a:pPr>
              <a:spcAft>
                <a:spcPts val="600"/>
              </a:spcAft>
            </a:pPr>
            <a:r>
              <a:rPr sz="1500">
                <a:solidFill>
                  <a:srgbClr val="22282E"/>
                </a:solidFill>
              </a:rPr>
              <a:t>•  Wireshark con disectores Modbus/DNP3, nmap con scripts NSE ICS (solo contra simuladores), pymodbus.</a:t>
            </a:r>
          </a:p>
          <a:p>
            <a:pPr>
              <a:spcAft>
                <a:spcPts val="600"/>
              </a:spcAft>
            </a:pPr>
            <a:r>
              <a:rPr sz="1500">
                <a:solidFill>
                  <a:srgbClr val="22282E"/>
                </a:solidFill>
              </a:rPr>
              <a:t>•  nmap -Pn -p 502 --script modbus-discover &lt;ipsimulador&gt;     # enumerar Modbus</a:t>
            </a:r>
          </a:p>
          <a:p>
            <a:pPr>
              <a:spcAft>
                <a:spcPts val="600"/>
              </a:spcAft>
            </a:pPr>
            <a:r>
              <a:rPr sz="1500">
                <a:solidFill>
                  <a:srgbClr val="22282E"/>
                </a:solidFill>
              </a:rPr>
              <a:t>•  python3 -c "from pymodbus.client import ModbusTcpClient as C;\</a:t>
            </a:r>
          </a:p>
          <a:p>
            <a:pPr>
              <a:spcAft>
                <a:spcPts val="600"/>
              </a:spcAft>
            </a:pPr>
            <a:r>
              <a:rPr sz="1500">
                <a:solidFill>
                  <a:srgbClr val="22282E"/>
                </a:solidFill>
              </a:rPr>
              <a:t>•  c=C('127.0.0.1',port=502);print(c.readholdingregisters(0,10).registers)"</a:t>
            </a:r>
          </a:p>
          <a:p>
            <a:pPr>
              <a:spcAft>
                <a:spcPts val="600"/>
              </a:spcAft>
            </a:pPr>
            <a:r>
              <a:rPr sz="1500">
                <a:solidFill>
                  <a:srgbClr val="22282E"/>
                </a:solidFill>
              </a:rPr>
              <a:t>•  wireshark -k -i lo -f "tcp port 502"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Levanta el laboratorio: despliega OpenPLC/GRFICS o Conpot en una red aislada.</a:t>
            </a:r>
          </a:p>
          <a:p>
            <a:pPr>
              <a:spcAft>
                <a:spcPts val="600"/>
              </a:spcAft>
            </a:pPr>
            <a:r>
              <a:rPr sz="1500">
                <a:solidFill>
                  <a:srgbClr val="22282E"/>
                </a:solidFill>
              </a:rPr>
              <a:t>•  Dibuja el modelo Purdue del entorno simulado: ubica proceso, PLC, HMI y red.</a:t>
            </a:r>
          </a:p>
          <a:p>
            <a:pPr>
              <a:spcAft>
                <a:spcPts val="600"/>
              </a:spcAft>
            </a:pPr>
            <a:r>
              <a:rPr sz="1500">
                <a:solidFill>
                  <a:srgbClr val="22282E"/>
                </a:solidFill>
              </a:rPr>
              <a:t>•  Enumera de forma segura: con nmap contra el simulador, identifica el puerto 502 y usa modbus-discover.</a:t>
            </a:r>
          </a:p>
          <a:p>
            <a:pPr>
              <a:spcAft>
                <a:spcPts val="600"/>
              </a:spcAft>
            </a:pPr>
            <a:r>
              <a:rPr sz="1500">
                <a:solidFill>
                  <a:srgbClr val="22282E"/>
                </a:solidFill>
              </a:rPr>
              <a:t>•  Analiza el protocolo: captura tráfico Modbus en Wireshark y descompón funciones (read/write coils, holding registers).</a:t>
            </a:r>
          </a:p>
          <a:p>
            <a:pPr>
              <a:spcAft>
                <a:spcPts val="600"/>
              </a:spcAft>
            </a:pPr>
            <a:r>
              <a:rPr sz="1500">
                <a:solidFill>
                  <a:srgbClr val="22282E"/>
                </a:solidFill>
              </a:rPr>
              <a:t>•  Interactúa con el PLC: con pymodbus lee registros y, en tu simulador, escribe un valor observando el efecto en la HMI/proceso simulado.</a:t>
            </a:r>
          </a:p>
          <a:p>
            <a:pPr>
              <a:spcAft>
                <a:spcPts val="600"/>
              </a:spcAft>
            </a:pPr>
            <a:r>
              <a:rPr sz="1500">
                <a:solidFill>
                  <a:srgbClr val="22282E"/>
                </a:solidFill>
              </a:rPr>
              <a:t>•  Estudia casos reales: analiza cómo Stuxnet, la red eléctrica de Ucrania y TRITON comprometieron OT y qué controles habrían ayudado.</a:t>
            </a:r>
          </a:p>
          <a:p>
            <a:pPr>
              <a:spcAft>
                <a:spcPts val="600"/>
              </a:spcAft>
            </a:pPr>
            <a:r>
              <a:rPr sz="1500">
                <a:solidFill>
                  <a:srgbClr val="22282E"/>
                </a:solidFill>
              </a:rPr>
              <a:t>•  Propón defensas: segmentación Purdue/iDMZ, monitorización pasiva, allowlisting, IEC 62443 zonas y conductos.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tres diferencias de prioridades entre seguridad TI y OT.</a:t>
            </a:r>
          </a:p>
          <a:p>
            <a:pPr>
              <a:spcAft>
                <a:spcPts val="600"/>
              </a:spcAft>
            </a:pPr>
            <a:r>
              <a:rPr sz="1500">
                <a:solidFill>
                  <a:srgbClr val="22282E"/>
                </a:solidFill>
              </a:rPr>
              <a:t>•  Sitúa PLC, HMI, historiador y firewall en los niveles del modelo Purdue.</a:t>
            </a:r>
          </a:p>
          <a:p>
            <a:pPr>
              <a:spcAft>
                <a:spcPts val="600"/>
              </a:spcAft>
            </a:pPr>
            <a:r>
              <a:rPr sz="1500">
                <a:solidFill>
                  <a:srgbClr val="22282E"/>
                </a:solidFill>
              </a:rPr>
              <a:t>•  Enumera un PLC Modbus simulado y lista sus registros.</a:t>
            </a:r>
          </a:p>
          <a:p>
            <a:pPr>
              <a:spcAft>
                <a:spcPts val="600"/>
              </a:spcAft>
            </a:pPr>
            <a:r>
              <a:rPr sz="1500">
                <a:solidFill>
                  <a:srgbClr val="22282E"/>
                </a:solidFill>
              </a:rPr>
              <a:t>•  Descompón una transacción Modbus capturada indicando función y datos.</a:t>
            </a:r>
          </a:p>
          <a:p>
            <a:pPr>
              <a:spcAft>
                <a:spcPts val="600"/>
              </a:spcAft>
            </a:pPr>
            <a:r>
              <a:rPr sz="1500">
                <a:solidFill>
                  <a:srgbClr val="22282E"/>
                </a:solidFill>
              </a:rPr>
              <a:t>•  Escribe un registro en tu simulador y describe el impacto en el proceso.</a:t>
            </a:r>
          </a:p>
          <a:p>
            <a:pPr>
              <a:spcAft>
                <a:spcPts val="600"/>
              </a:spcAft>
            </a:pPr>
            <a:r>
              <a:rPr sz="1500">
                <a:solidFill>
                  <a:srgbClr val="22282E"/>
                </a:solidFill>
              </a:rPr>
              <a:t>•  Resume un incidente ICS real y los controles IEC 62443 que lo habrían mitigado.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Sobre un PLC simulado propio, demuestra la ausencia de autenticación de Modbus: lee y modifica un holding register y observa el cambio reflejado en la HMI/proceso simulado. Criterio de aceptación: documentas la transacción Modbus (función, dirección, valor) con evidencia de captura, y propones al menos dos controles concretos de segmentación/monitorización que reducirían el riesgo en un entorno real.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Escaneo detiene el proceso — Nunca escanees producción; usa solo simuladores y escaneo pasivo real</a:t>
            </a:r>
          </a:p>
          <a:p>
            <a:pPr>
              <a:spcAft>
                <a:spcPts val="600"/>
              </a:spcAft>
            </a:pPr>
            <a:r>
              <a:rPr sz="1500">
                <a:solidFill>
                  <a:srgbClr val="22282E"/>
                </a:solidFill>
              </a:rPr>
              <a:t>•  Wireshark no descompone Modbus — Puerto no estándar; fuerza el disector "Decode As" TCP/502</a:t>
            </a:r>
          </a:p>
          <a:p>
            <a:pPr>
              <a:spcAft>
                <a:spcPts val="600"/>
              </a:spcAft>
            </a:pPr>
            <a:r>
              <a:rPr sz="1500">
                <a:solidFill>
                  <a:srgbClr val="22282E"/>
                </a:solidFill>
              </a:rPr>
              <a:t>•  pymodbus no conecta — Firewall/segmentación o IP/puerto erróneos; verifica el simulador</a:t>
            </a:r>
          </a:p>
          <a:p>
            <a:pPr>
              <a:spcAft>
                <a:spcPts val="600"/>
              </a:spcAft>
            </a:pPr>
            <a:r>
              <a:rPr sz="1500">
                <a:solidFill>
                  <a:srgbClr val="22282E"/>
                </a:solidFill>
              </a:rPr>
              <a:t>•  Registros vacíos — Dirección/función incorrecta; revisa el mapa de memoria del PLC</a:t>
            </a:r>
          </a:p>
          <a:p>
            <a:pPr>
              <a:spcAft>
                <a:spcPts val="600"/>
              </a:spcAft>
            </a:pPr>
            <a:r>
              <a:rPr sz="1500">
                <a:solidFill>
                  <a:srgbClr val="22282E"/>
                </a:solidFill>
              </a:rPr>
              <a:t>•  Confundir coils y registers — Tipos de datos distintos; consulta la especificación Modbus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no puedo escanear un ICS como una red TI normal?</a:t>
            </a:r>
          </a:p>
          <a:p>
            <a:pPr>
              <a:spcAft>
                <a:spcPts val="600"/>
              </a:spcAft>
            </a:pPr>
            <a:r>
              <a:rPr sz="1500">
                <a:solidFill>
                  <a:srgbClr val="22282E"/>
                </a:solidFill>
              </a:rPr>
              <a:t>•  Porque muchos dispositivos OT son frágiles: un escaneo agresivo puede colgar un PLC y detener un proceso físico con consecuencias graves. En OT se prioriza el análisis pasivo.</a:t>
            </a:r>
          </a:p>
          <a:p>
            <a:pPr>
              <a:spcAft>
                <a:spcPts val="600"/>
              </a:spcAft>
            </a:pPr>
            <a:r>
              <a:rPr sz="1500">
                <a:solidFill>
                  <a:srgbClr val="22282E"/>
                </a:solidFill>
              </a:rPr>
              <a:t>•  ❓ ¿Por qué los protocolos industriales no tienen cifrado?</a:t>
            </a:r>
          </a:p>
          <a:p>
            <a:pPr>
              <a:spcAft>
                <a:spcPts val="600"/>
              </a:spcAft>
            </a:pPr>
            <a:r>
              <a:rPr sz="1500">
                <a:solidFill>
                  <a:srgbClr val="22282E"/>
                </a:solidFill>
              </a:rPr>
              <a:t>•  Se diseñaron hace décadas para redes aisladas y deterministas, priorizando latencia y fiabilidad. La convergencia TI/OT los expuso sin que su diseño evolucionara.</a:t>
            </a:r>
          </a:p>
          <a:p>
            <a:pPr>
              <a:spcAft>
                <a:spcPts val="600"/>
              </a:spcAft>
            </a:pPr>
            <a:r>
              <a:rPr sz="1500">
                <a:solidFill>
                  <a:srgbClr val="22282E"/>
                </a:solidFill>
              </a:rPr>
              <a:t>•  ❓ ¿Qué marco debo seguir para asegurar OT?</a:t>
            </a:r>
          </a:p>
          <a:p>
            <a:pPr>
              <a:spcAft>
                <a:spcPts val="600"/>
              </a:spcAft>
            </a:pPr>
            <a:r>
              <a:rPr sz="1500">
                <a:solidFill>
                  <a:srgbClr val="22282E"/>
                </a:solidFill>
              </a:rPr>
              <a:t>•  IEC 62443 (zonas y conductos, niveles de seguridad SL) y NIST SP 800-82 son las referencias centrales para arquitectura y controles.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SP 800-82 Rev. 3: &lt;https://csrc.nist.gov/pubs/sp/800/82/r3/final&gt;</a:t>
            </a:r>
          </a:p>
          <a:p>
            <a:pPr>
              <a:spcAft>
                <a:spcPts val="600"/>
              </a:spcAft>
            </a:pPr>
            <a:r>
              <a:rPr sz="1500">
                <a:solidFill>
                  <a:srgbClr val="22282E"/>
                </a:solidFill>
              </a:rPr>
              <a:t>•  ISA/IEC 62443: &lt;https://www.isa.org/standards-and-publications/isa-standards/isa-iec-62443-series-of-standards&gt;</a:t>
            </a:r>
          </a:p>
          <a:p>
            <a:pPr>
              <a:spcAft>
                <a:spcPts val="600"/>
              </a:spcAft>
            </a:pPr>
            <a:r>
              <a:rPr sz="1500">
                <a:solidFill>
                  <a:srgbClr val="22282E"/>
                </a:solidFill>
              </a:rPr>
              <a:t>•  MITRE ATT&amp;CK for ICS: &lt;https://attack.mitre.org/matrices/ics/&gt;</a:t>
            </a:r>
          </a:p>
          <a:p>
            <a:pPr>
              <a:spcAft>
                <a:spcPts val="600"/>
              </a:spcAft>
            </a:pPr>
            <a:r>
              <a:rPr sz="1500">
                <a:solidFill>
                  <a:srgbClr val="22282E"/>
                </a:solidFill>
              </a:rPr>
              <a:t>•  Conpot: &lt;https://github.com/mushorg/conpot&gt; · GRFICS: &lt;https://github.com/Fortiphyd/GRFICSv2&gt;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