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  <p:sldId id="266" r:id="rId17"/>
    <p:sldId id="267" r:id="rId18"/>
  </p:sldIdLst>
  <p:sldSz cx="9144000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Relationship Id="rId17" Type="http://schemas.openxmlformats.org/officeDocument/2006/relationships/slide" Target="slides/slide11.xml"/><Relationship Id="rId18" Type="http://schemas.openxmlformats.org/officeDocument/2006/relationships/slide" Target="slides/slide12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2194560"/>
            <a:ext cx="8046720" cy="2286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3200" b="1">
                <a:solidFill>
                  <a:srgbClr val="0B3D2E"/>
                </a:solidFill>
              </a:rPr>
              <a:t>Clase 306 — Capstone: detección Blue Team end-to-end</a:t>
            </a:r>
          </a:p>
          <a:p>
            <a:r>
              <a:rPr sz="1600">
                <a:solidFill>
                  <a:srgbClr val="2E8B57"/>
                </a:solidFill>
              </a:rPr>
              <a:t>parte 16 capstones y preparacion de certificaciones</a:t>
            </a:r>
          </a:p>
          <a:p>
            <a:r>
              <a:rPr sz="1200">
                <a:solidFill>
                  <a:srgbClr val="22282E"/>
                </a:solidFill>
              </a:rPr>
              <a:t>Programa de Ciberseguridad Moderna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320040"/>
            <a:ext cx="822960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600" b="1">
                <a:solidFill>
                  <a:srgbClr val="0B3D2E"/>
                </a:solidFill>
              </a:rPr>
              <a:t>🎯 Objetivo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57200" y="1280160"/>
            <a:ext cx="8229600" cy="4937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</a:pPr>
            <a:r>
              <a:rPr sz="1500">
                <a:solidFill>
                  <a:srgbClr val="22282E"/>
                </a:solidFill>
              </a:rPr>
              <a:t>•  Construir una capacidad de detección Blue Team end-to-end: instrumentar hosts y red, centralizar logs en un SIEM, escribir reglas de detección, generar alertas y medir la cobertura ATT&amp;CK frente a la operación Red Team de la Clase 305. Integra las Partes 10 (SIEM/logging), 11 (threat hunting) y 12 (IR) en un proyecto verificable que demuestra que "ves" al adversario.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320040"/>
            <a:ext cx="822960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600" b="1">
                <a:solidFill>
                  <a:srgbClr val="0B3D2E"/>
                </a:solidFill>
              </a:rPr>
              <a:t>📚 Resultados de aprendizaje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57200" y="1280160"/>
            <a:ext cx="8229600" cy="4937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</a:pPr>
            <a:r>
              <a:rPr sz="1500">
                <a:solidFill>
                  <a:srgbClr val="22282E"/>
                </a:solidFill>
              </a:rPr>
              <a:t>•  Al finalizar, el alumno podrá:</a:t>
            </a:r>
          </a:p>
          <a:p>
            <a:pPr>
              <a:spcAft>
                <a:spcPts val="600"/>
              </a:spcAft>
            </a:pPr>
            <a:r>
              <a:rPr sz="1500">
                <a:solidFill>
                  <a:srgbClr val="22282E"/>
                </a:solidFill>
              </a:rPr>
              <a:t>•  Instrumentar hosts Windows/Linux con telemetría útil (Sysmon, auditd).</a:t>
            </a:r>
          </a:p>
          <a:p>
            <a:pPr>
              <a:spcAft>
                <a:spcPts val="600"/>
              </a:spcAft>
            </a:pPr>
            <a:r>
              <a:rPr sz="1500">
                <a:solidFill>
                  <a:srgbClr val="22282E"/>
                </a:solidFill>
              </a:rPr>
              <a:t>•  Centralizar logs en un SIEM (Elastic/Wazuh) y normalizarlos.</a:t>
            </a:r>
          </a:p>
          <a:p>
            <a:pPr>
              <a:spcAft>
                <a:spcPts val="600"/>
              </a:spcAft>
            </a:pPr>
            <a:r>
              <a:rPr sz="1500">
                <a:solidFill>
                  <a:srgbClr val="22282E"/>
                </a:solidFill>
              </a:rPr>
              <a:t>•  Escribir reglas de detección (Sigma) y desplegarlas.</a:t>
            </a:r>
          </a:p>
          <a:p>
            <a:pPr>
              <a:spcAft>
                <a:spcPts val="600"/>
              </a:spcAft>
            </a:pPr>
            <a:r>
              <a:rPr sz="1500">
                <a:solidFill>
                  <a:srgbClr val="22282E"/>
                </a:solidFill>
              </a:rPr>
              <a:t>•  Cazar técnicas concretas del ataque Red Team y validar alertas.</a:t>
            </a:r>
          </a:p>
          <a:p>
            <a:pPr>
              <a:spcAft>
                <a:spcPts val="600"/>
              </a:spcAft>
            </a:pPr>
            <a:r>
              <a:rPr sz="1500">
                <a:solidFill>
                  <a:srgbClr val="22282E"/>
                </a:solidFill>
              </a:rPr>
              <a:t>•  Medir la cobertura de detección con ATT&amp;CK Navigator.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320040"/>
            <a:ext cx="822960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600" b="1">
                <a:solidFill>
                  <a:srgbClr val="0B3D2E"/>
                </a:solidFill>
              </a:rPr>
              <a:t>🗺️ Temas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57200" y="1280160"/>
            <a:ext cx="8229600" cy="4937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</a:pPr>
            <a:r>
              <a:rPr sz="1500">
                <a:solidFill>
                  <a:srgbClr val="22282E"/>
                </a:solidFill>
              </a:rPr>
              <a:t>•  1 — Telemetría de host (Sysmon/auditd)</a:t>
            </a:r>
          </a:p>
          <a:p>
            <a:pPr>
              <a:spcAft>
                <a:spcPts val="600"/>
              </a:spcAft>
            </a:pPr>
            <a:r>
              <a:rPr sz="1500">
                <a:solidFill>
                  <a:srgbClr val="22282E"/>
                </a:solidFill>
              </a:rPr>
              <a:t>•  2 — Centralización en SIEM</a:t>
            </a:r>
          </a:p>
          <a:p>
            <a:pPr>
              <a:spcAft>
                <a:spcPts val="600"/>
              </a:spcAft>
            </a:pPr>
            <a:r>
              <a:rPr sz="1500">
                <a:solidFill>
                  <a:srgbClr val="22282E"/>
                </a:solidFill>
              </a:rPr>
              <a:t>•  3 — Reglas Sigma y despliegue</a:t>
            </a:r>
          </a:p>
          <a:p>
            <a:pPr>
              <a:spcAft>
                <a:spcPts val="600"/>
              </a:spcAft>
            </a:pPr>
            <a:r>
              <a:rPr sz="1500">
                <a:solidFill>
                  <a:srgbClr val="22282E"/>
                </a:solidFill>
              </a:rPr>
              <a:t>•  4 — Threat hunting (Parte 11)</a:t>
            </a:r>
          </a:p>
          <a:p>
            <a:pPr>
              <a:spcAft>
                <a:spcPts val="600"/>
              </a:spcAft>
            </a:pPr>
            <a:r>
              <a:rPr sz="1500">
                <a:solidFill>
                  <a:srgbClr val="22282E"/>
                </a:solidFill>
              </a:rPr>
              <a:t>•  5 — Alertas y triage</a:t>
            </a:r>
          </a:p>
          <a:p>
            <a:pPr>
              <a:spcAft>
                <a:spcPts val="600"/>
              </a:spcAft>
            </a:pPr>
            <a:r>
              <a:rPr sz="1500">
                <a:solidFill>
                  <a:srgbClr val="22282E"/>
                </a:solidFill>
              </a:rPr>
              <a:t>•  6 — Cobertura ATT&amp;CK</a:t>
            </a:r>
          </a:p>
          <a:p>
            <a:pPr>
              <a:spcAft>
                <a:spcPts val="600"/>
              </a:spcAft>
            </a:pPr>
            <a:r>
              <a:rPr sz="1500">
                <a:solidFill>
                  <a:srgbClr val="22282E"/>
                </a:solidFill>
              </a:rPr>
              <a:t>•  7 — Métricas (MTTD, FP rate)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320040"/>
            <a:ext cx="822960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600" b="1">
                <a:solidFill>
                  <a:srgbClr val="0B3D2E"/>
                </a:solidFill>
              </a:rPr>
              <a:t>📖 Definiciones y características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57200" y="1280160"/>
            <a:ext cx="8229600" cy="4937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</a:pPr>
            <a:r>
              <a:rPr sz="1500">
                <a:solidFill>
                  <a:srgbClr val="22282E"/>
                </a:solidFill>
              </a:rPr>
              <a:t>•  Sysmon: sensor de eventos de Windows (procesos, red, hashes). Característica: telemetría rica y configurable por XML.</a:t>
            </a:r>
          </a:p>
          <a:p>
            <a:pPr>
              <a:spcAft>
                <a:spcPts val="600"/>
              </a:spcAft>
            </a:pPr>
            <a:r>
              <a:rPr sz="1500">
                <a:solidFill>
                  <a:srgbClr val="22282E"/>
                </a:solidFill>
              </a:rPr>
              <a:t>•  SIEM: plataforma de agregación y correlación de logs. Característica: centraliza y permite búsquedas.</a:t>
            </a:r>
          </a:p>
          <a:p>
            <a:pPr>
              <a:spcAft>
                <a:spcPts val="600"/>
              </a:spcAft>
            </a:pPr>
            <a:r>
              <a:rPr sz="1500">
                <a:solidFill>
                  <a:srgbClr val="22282E"/>
                </a:solidFill>
              </a:rPr>
              <a:t>•  Regla Sigma: firma de detección en YAML agnóstica del SIEM. Característica: se traduce a la query nativa del backend.</a:t>
            </a:r>
          </a:p>
          <a:p>
            <a:pPr>
              <a:spcAft>
                <a:spcPts val="600"/>
              </a:spcAft>
            </a:pPr>
            <a:r>
              <a:rPr sz="1500">
                <a:solidFill>
                  <a:srgbClr val="22282E"/>
                </a:solidFill>
              </a:rPr>
              <a:t>•  Cobertura ATT&amp;CK: proporción de técnicas que sabes detectar. Característica: se visualiza en Navigator.</a:t>
            </a:r>
          </a:p>
          <a:p>
            <a:pPr>
              <a:spcAft>
                <a:spcPts val="600"/>
              </a:spcAft>
            </a:pPr>
            <a:r>
              <a:rPr sz="1500">
                <a:solidFill>
                  <a:srgbClr val="22282E"/>
                </a:solidFill>
              </a:rPr>
              <a:t>•  MTTD (Mean Time To Detect): tiempo medio hasta detectar. Característica: métrica clave de un SOC.</a:t>
            </a:r>
          </a:p>
          <a:p>
            <a:pPr>
              <a:spcAft>
                <a:spcPts val="600"/>
              </a:spcAft>
            </a:pPr>
            <a:r>
              <a:rPr sz="1500">
                <a:solidFill>
                  <a:srgbClr val="22282E"/>
                </a:solidFill>
              </a:rPr>
              <a:t>•  Falso positivo: alerta sin amenaza real. Característica: erosiona la confianza; hay que ajustar reglas.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320040"/>
            <a:ext cx="822960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600" b="1">
                <a:solidFill>
                  <a:srgbClr val="0B3D2E"/>
                </a:solidFill>
              </a:rPr>
              <a:t>🧰 Herramientas y preparación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57200" y="1280160"/>
            <a:ext cx="8229600" cy="4937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</a:pPr>
            <a:r>
              <a:rPr sz="1500">
                <a:solidFill>
                  <a:srgbClr val="22282E"/>
                </a:solidFill>
              </a:rPr>
              <a:t>•  SIEM de laboratorio: Wazuh o Elastic Stack (Elasticsearch + Kibana).</a:t>
            </a:r>
          </a:p>
          <a:p>
            <a:pPr>
              <a:spcAft>
                <a:spcPts val="600"/>
              </a:spcAft>
            </a:pPr>
            <a:r>
              <a:rPr sz="1500">
                <a:solidFill>
                  <a:srgbClr val="22282E"/>
                </a:solidFill>
              </a:rPr>
              <a:t>•  Telemetría: Sysmon con una config de referencia (SwiftOnSecurity/Olaf Hartong) y auditd en Linux.</a:t>
            </a:r>
          </a:p>
          <a:p>
            <a:pPr>
              <a:spcAft>
                <a:spcPts val="600"/>
              </a:spcAft>
            </a:pPr>
            <a:r>
              <a:rPr sz="1500">
                <a:solidFill>
                  <a:srgbClr val="22282E"/>
                </a:solidFill>
              </a:rPr>
              <a:t>•  Detección: Sigma + sigmac/sigma-cli, reglas de la comunidad.</a:t>
            </a:r>
          </a:p>
          <a:p>
            <a:pPr>
              <a:spcAft>
                <a:spcPts val="600"/>
              </a:spcAft>
            </a:pPr>
            <a:r>
              <a:rPr sz="1500">
                <a:solidFill>
                  <a:srgbClr val="22282E"/>
                </a:solidFill>
              </a:rPr>
              <a:t>•  Datos: los eventos generados por el capstone Red Team (Clase 305).</a:t>
            </a:r>
          </a:p>
          <a:p>
            <a:pPr>
              <a:spcAft>
                <a:spcPts val="600"/>
              </a:spcAft>
            </a:pPr>
            <a:r>
              <a:rPr sz="1500">
                <a:solidFill>
                  <a:srgbClr val="22282E"/>
                </a:solidFill>
              </a:rPr>
              <a:t>•  ATT&amp;CK Navigator para el mapa de cobertura.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320040"/>
            <a:ext cx="822960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600" b="1">
                <a:solidFill>
                  <a:srgbClr val="0B3D2E"/>
                </a:solidFill>
              </a:rPr>
              <a:t>🧪 Laboratorio guiado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57200" y="1280160"/>
            <a:ext cx="8229600" cy="4937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</a:pPr>
            <a:r>
              <a:rPr sz="1500">
                <a:solidFill>
                  <a:srgbClr val="22282E"/>
                </a:solidFill>
              </a:rPr>
              <a:t>•  Instrumenta. Despliega Sysmon con una config de referencia en los hosts Windows y auditd con reglas clave en Linux.</a:t>
            </a:r>
          </a:p>
          <a:p>
            <a:pPr>
              <a:spcAft>
                <a:spcPts val="600"/>
              </a:spcAft>
            </a:pPr>
            <a:r>
              <a:rPr sz="1500">
                <a:solidFill>
                  <a:srgbClr val="22282E"/>
                </a:solidFill>
              </a:rPr>
              <a:t>•  Centraliza. Instala Wazuh/Elastic y envía los logs de todos los hosts; verifica la ingesta en Kibana.</a:t>
            </a:r>
          </a:p>
          <a:p>
            <a:pPr>
              <a:spcAft>
                <a:spcPts val="600"/>
              </a:spcAft>
            </a:pPr>
            <a:r>
              <a:rPr sz="1500">
                <a:solidFill>
                  <a:srgbClr val="22282E"/>
                </a:solidFill>
              </a:rPr>
              <a:t>•  Normaliza. Comprueba que campos clave (proceso, línea de comandos, hash, usuario) llegan parseados.</a:t>
            </a:r>
          </a:p>
          <a:p>
            <a:pPr>
              <a:spcAft>
                <a:spcPts val="600"/>
              </a:spcAft>
            </a:pPr>
            <a:r>
              <a:rPr sz="1500">
                <a:solidFill>
                  <a:srgbClr val="22282E"/>
                </a:solidFill>
              </a:rPr>
              <a:t>•  Despliega reglas Sigma. Importa reglas para técnicas del ataque (p. ej. T1059 ejecución por línea de comandos, T1003 volcado de credenciales, T1021 movimiento lateral).</a:t>
            </a:r>
          </a:p>
          <a:p>
            <a:pPr>
              <a:spcAft>
                <a:spcPts val="600"/>
              </a:spcAft>
            </a:pPr>
            <a:r>
              <a:rPr sz="1500">
                <a:solidFill>
                  <a:srgbClr val="22282E"/>
                </a:solidFill>
              </a:rPr>
              <a:t>•  Reproduce el ataque. Vuelve a lanzar (o usa los logs de) la operación Red Team de la Clase 305.</a:t>
            </a:r>
          </a:p>
          <a:p>
            <a:pPr>
              <a:spcAft>
                <a:spcPts val="600"/>
              </a:spcAft>
            </a:pPr>
            <a:r>
              <a:rPr sz="1500">
                <a:solidFill>
                  <a:srgbClr val="22282E"/>
                </a:solidFill>
              </a:rPr>
              <a:t>•  Valida detecciones. Confirma qué técnicas generaron alerta y cuáles pasaron desapercibidas.</a:t>
            </a:r>
          </a:p>
          <a:p>
            <a:pPr>
              <a:spcAft>
                <a:spcPts val="600"/>
              </a:spcAft>
            </a:pPr>
            <a:r>
              <a:rPr sz="1500">
                <a:solidFill>
                  <a:srgbClr val="22282E"/>
                </a:solidFill>
              </a:rPr>
              <a:t>•  Caza lo no detectado. Para las técnicas sin alerta, escribe una query de hunting y, si procede, una regla nueva.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320040"/>
            <a:ext cx="822960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600" b="1">
                <a:solidFill>
                  <a:srgbClr val="0B3D2E"/>
                </a:solidFill>
              </a:rPr>
              <a:t>✍️ Ejercicios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57200" y="1280160"/>
            <a:ext cx="8229600" cy="4937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</a:pPr>
            <a:r>
              <a:rPr sz="1500">
                <a:solidFill>
                  <a:srgbClr val="22282E"/>
                </a:solidFill>
              </a:rPr>
              <a:t>•  Escribe una regla Sigma para detección de mimikatz/volcado de LSASS.</a:t>
            </a:r>
          </a:p>
          <a:p>
            <a:pPr>
              <a:spcAft>
                <a:spcPts val="600"/>
              </a:spcAft>
            </a:pPr>
            <a:r>
              <a:rPr sz="1500">
                <a:solidFill>
                  <a:srgbClr val="22282E"/>
                </a:solidFill>
              </a:rPr>
              <a:t>•  Ajusta una regla ruidosa para reducir falsos positivos.</a:t>
            </a:r>
          </a:p>
          <a:p>
            <a:pPr>
              <a:spcAft>
                <a:spcPts val="600"/>
              </a:spcAft>
            </a:pPr>
            <a:r>
              <a:rPr sz="1500">
                <a:solidFill>
                  <a:srgbClr val="22282E"/>
                </a:solidFill>
              </a:rPr>
              <a:t>•  Crea un dashboard con las alertas por técnica ATT&amp;CK.</a:t>
            </a:r>
          </a:p>
          <a:p>
            <a:pPr>
              <a:spcAft>
                <a:spcPts val="600"/>
              </a:spcAft>
            </a:pPr>
            <a:r>
              <a:rPr sz="1500">
                <a:solidFill>
                  <a:srgbClr val="22282E"/>
                </a:solidFill>
              </a:rPr>
              <a:t>•  Compara la cobertura antes y después de añadir 3 reglas.</a:t>
            </a:r>
          </a:p>
          <a:p>
            <a:pPr>
              <a:spcAft>
                <a:spcPts val="600"/>
              </a:spcAft>
            </a:pPr>
            <a:r>
              <a:rPr sz="1500">
                <a:solidFill>
                  <a:srgbClr val="22282E"/>
                </a:solidFill>
              </a:rPr>
              <a:t>•  Redacta una query de hunting para movimiento lateral por SMB.</a:t>
            </a:r>
          </a:p>
          <a:p>
            <a:pPr>
              <a:spcAft>
                <a:spcPts val="600"/>
              </a:spcAft>
            </a:pPr>
            <a:r>
              <a:rPr sz="1500">
                <a:solidFill>
                  <a:srgbClr val="22282E"/>
                </a:solidFill>
              </a:rPr>
              <a:t>•  Calcula el MTTD de tres técnicas del ataque.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320040"/>
            <a:ext cx="822960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600" b="1">
                <a:solidFill>
                  <a:srgbClr val="0B3D2E"/>
                </a:solidFill>
              </a:rPr>
              <a:t>📝 Reto verificable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57200" y="1280160"/>
            <a:ext cx="8229600" cy="4937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</a:pPr>
            <a:r>
              <a:rPr sz="1500">
                <a:solidFill>
                  <a:srgbClr val="22282E"/>
                </a:solidFill>
              </a:rPr>
              <a:t>•  Entrega un informe de detección Blue Team (informe-blueteam.md) con: arquitectura de telemetría y SIEM, al menos 5 reglas Sigma desplegadas, la validación contra el ataque de la Clase 305, un mapa de cobertura ATT&amp;CK (Navigator) y un plan para cerrar los gaps ciegos.</a:t>
            </a:r>
          </a:p>
          <a:p>
            <a:pPr>
              <a:spcAft>
                <a:spcPts val="600"/>
              </a:spcAft>
            </a:pPr>
            <a:r>
              <a:rPr sz="1500">
                <a:solidFill>
                  <a:srgbClr val="22282E"/>
                </a:solidFill>
              </a:rPr>
              <a:t>•  Criterio de aceptación: al menos 5 técnicas del ataque están detectadas y evidenciadas con capturas de alerta, el mapa de cobertura distingue detectado/visible/ciego, y hay reglas nuevas escritas para al menos 2 gaps.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320040"/>
            <a:ext cx="822960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600" b="1">
                <a:solidFill>
                  <a:srgbClr val="0B3D2E"/>
                </a:solidFill>
              </a:rPr>
              <a:t>⚠️ Errores comunes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57200" y="1280160"/>
            <a:ext cx="8229600" cy="4937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</a:pPr>
            <a:r>
              <a:rPr sz="1500">
                <a:solidFill>
                  <a:srgbClr val="22282E"/>
                </a:solidFill>
              </a:rPr>
              <a:t>•  "No llegan logs al SIEM" — Agente/forwarder mal configurado; revisa conectividad e índices.</a:t>
            </a:r>
          </a:p>
          <a:p>
            <a:pPr>
              <a:spcAft>
                <a:spcPts val="600"/>
              </a:spcAft>
            </a:pPr>
            <a:r>
              <a:rPr sz="1500">
                <a:solidFill>
                  <a:srgbClr val="22282E"/>
                </a:solidFill>
              </a:rPr>
              <a:t>•  "Sysmon no captura línea de comandos" — Config mínima; usa una config de referencia completa.</a:t>
            </a:r>
          </a:p>
          <a:p>
            <a:pPr>
              <a:spcAft>
                <a:spcPts val="600"/>
              </a:spcAft>
            </a:pPr>
            <a:r>
              <a:rPr sz="1500">
                <a:solidFill>
                  <a:srgbClr val="22282E"/>
                </a:solidFill>
              </a:rPr>
              <a:t>•  "Demasiadas alertas" — Reglas sin ajustar; añade excepciones y umbrales.</a:t>
            </a:r>
          </a:p>
          <a:p>
            <a:pPr>
              <a:spcAft>
                <a:spcPts val="600"/>
              </a:spcAft>
            </a:pPr>
            <a:r>
              <a:rPr sz="1500">
                <a:solidFill>
                  <a:srgbClr val="22282E"/>
                </a:solidFill>
              </a:rPr>
              <a:t>•  "La regla Sigma no traduce" — Backend incorrecto en sigmac; especifica el SIEM destino.</a:t>
            </a:r>
          </a:p>
          <a:p>
            <a:pPr>
              <a:spcAft>
                <a:spcPts val="600"/>
              </a:spcAft>
            </a:pPr>
            <a:r>
              <a:rPr sz="1500">
                <a:solidFill>
                  <a:srgbClr val="22282E"/>
                </a:solidFill>
              </a:rPr>
              <a:t>•  "No detecto nada del ataque" — Telemetría incompleta; verifica qué eventos genera cada técnica.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320040"/>
            <a:ext cx="822960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600" b="1">
                <a:solidFill>
                  <a:srgbClr val="0B3D2E"/>
                </a:solidFill>
              </a:rPr>
              <a:t>❓ Preguntas frecuentes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57200" y="1280160"/>
            <a:ext cx="8229600" cy="4937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</a:pPr>
            <a:r>
              <a:rPr sz="1500">
                <a:solidFill>
                  <a:srgbClr val="22282E"/>
                </a:solidFill>
              </a:rPr>
              <a:t>•  ❓ ¿Wazuh o Elastic?</a:t>
            </a:r>
          </a:p>
          <a:p>
            <a:pPr>
              <a:spcAft>
                <a:spcPts val="600"/>
              </a:spcAft>
            </a:pPr>
            <a:r>
              <a:rPr sz="1500">
                <a:solidFill>
                  <a:srgbClr val="22282E"/>
                </a:solidFill>
              </a:rPr>
              <a:t>•  Wazuh es más rápido de montar y trae reglas; Elastic es más flexible. Cualquiera vale para el capstone.</a:t>
            </a:r>
          </a:p>
          <a:p>
            <a:pPr>
              <a:spcAft>
                <a:spcPts val="600"/>
              </a:spcAft>
            </a:pPr>
            <a:r>
              <a:rPr sz="1500">
                <a:solidFill>
                  <a:srgbClr val="22282E"/>
                </a:solidFill>
              </a:rPr>
              <a:t>•  ❓ ¿Qué config de Sysmon uso?</a:t>
            </a:r>
          </a:p>
          <a:p>
            <a:pPr>
              <a:spcAft>
                <a:spcPts val="600"/>
              </a:spcAft>
            </a:pPr>
            <a:r>
              <a:rPr sz="1500">
                <a:solidFill>
                  <a:srgbClr val="22282E"/>
                </a:solidFill>
              </a:rPr>
              <a:t>•  Parte de la de SwiftOnSecurity u Olaf Hartong y ajústala; evita la config por defecto (casi vacía).</a:t>
            </a:r>
          </a:p>
          <a:p>
            <a:pPr>
              <a:spcAft>
                <a:spcPts val="600"/>
              </a:spcAft>
            </a:pPr>
            <a:r>
              <a:rPr sz="1500">
                <a:solidFill>
                  <a:srgbClr val="22282E"/>
                </a:solidFill>
              </a:rPr>
              <a:t>•  ❓ ¿Cómo priorizo qué detectar?</a:t>
            </a:r>
          </a:p>
          <a:p>
            <a:pPr>
              <a:spcAft>
                <a:spcPts val="600"/>
              </a:spcAft>
            </a:pPr>
            <a:r>
              <a:rPr sz="1500">
                <a:solidFill>
                  <a:srgbClr val="22282E"/>
                </a:solidFill>
              </a:rPr>
              <a:t>•  Empieza por las técnicas que usaste en la Clase 305 y por las de mayor impacto (ejecución, credenciales, persistencia).</a:t>
            </a:r>
          </a:p>
          <a:p>
            <a:pPr>
              <a:spcAft>
                <a:spcPts val="600"/>
              </a:spcAft>
            </a:pPr>
            <a:r>
              <a:rPr sz="1500">
                <a:solidFill>
                  <a:srgbClr val="22282E"/>
                </a:solidFill>
              </a:rPr>
              <a:t>•  ❓ ¿Detección al 100%?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320040"/>
            <a:ext cx="822960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600" b="1">
                <a:solidFill>
                  <a:srgbClr val="0B3D2E"/>
                </a:solidFill>
              </a:rPr>
              <a:t>🔗 Referencias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57200" y="1280160"/>
            <a:ext cx="8229600" cy="4937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</a:pPr>
            <a:r>
              <a:rPr sz="1500">
                <a:solidFill>
                  <a:srgbClr val="22282E"/>
                </a:solidFill>
              </a:rPr>
              <a:t>•  MITRE ATT&amp;CK®: &lt;https://attack.mitre.org/&gt;</a:t>
            </a:r>
          </a:p>
          <a:p>
            <a:pPr>
              <a:spcAft>
                <a:spcPts val="600"/>
              </a:spcAft>
            </a:pPr>
            <a:r>
              <a:rPr sz="1500">
                <a:solidFill>
                  <a:srgbClr val="22282E"/>
                </a:solidFill>
              </a:rPr>
              <a:t>•  Sigma: &lt;https://github.com/SigmaHQ/sigma&gt;</a:t>
            </a:r>
          </a:p>
          <a:p>
            <a:pPr>
              <a:spcAft>
                <a:spcPts val="600"/>
              </a:spcAft>
            </a:pPr>
            <a:r>
              <a:rPr sz="1500">
                <a:solidFill>
                  <a:srgbClr val="22282E"/>
                </a:solidFill>
              </a:rPr>
              <a:t>•  Wazuh: &lt;https://wazuh.com/&gt; · Elastic Security: &lt;https://www.elastic.co/security&gt;</a:t>
            </a:r>
          </a:p>
          <a:p>
            <a:pPr>
              <a:spcAft>
                <a:spcPts val="600"/>
              </a:spcAft>
            </a:pPr>
            <a:r>
              <a:rPr sz="1500">
                <a:solidFill>
                  <a:srgbClr val="22282E"/>
                </a:solidFill>
              </a:rPr>
              <a:t>•  Sysmon (Sysinternals): &lt;https://learn.microsoft.com/sysinternals/downloads/sysmon&gt;</a:t>
            </a:r>
          </a:p>
          <a:p>
            <a:pPr>
              <a:spcAft>
                <a:spcPts val="600"/>
              </a:spcAft>
            </a:pPr>
            <a:r>
              <a:rPr sz="1500">
                <a:solidFill>
                  <a:srgbClr val="22282E"/>
                </a:solidFill>
              </a:rPr>
              <a:t>•  Bejtlich, The Practice of Network Security Monitoring.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