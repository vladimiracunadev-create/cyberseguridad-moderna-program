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107 — Server-Side Template Injection (SSTI)</a:t>
            </a:r>
          </a:p>
          <a:p>
            <a:r>
              <a:rPr sz="1600">
                <a:solidFill>
                  <a:srgbClr val="2E8B57"/>
                </a:solidFill>
              </a:rPr>
              <a:t>parte 4 seguridad de aplicaciones web</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Explotar la inyección de plantillas del lado servidor (SSTI): cuando el input del usuario se evalúa como parte de una plantilla (Jinja2, Twig, Freemarker, etc.), permitiendo desde filtración de datos hasta RCE. Es un fallo potente que aparece en emails personalizados, generación de documentos y paneles configurables.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Detectar SSTI con payloads de prueba matemáticos.</a:t>
            </a:r>
          </a:p>
          <a:p>
            <a:pPr>
              <a:spcAft>
                <a:spcPts val="600"/>
              </a:spcAft>
            </a:pPr>
            <a:r>
              <a:rPr sz="1500">
                <a:solidFill>
                  <a:srgbClr val="22282E"/>
                </a:solidFill>
              </a:rPr>
              <a:t>•  Identificar el motor de plantillas por su comportamiento.</a:t>
            </a:r>
          </a:p>
          <a:p>
            <a:pPr>
              <a:spcAft>
                <a:spcPts val="600"/>
              </a:spcAft>
            </a:pPr>
            <a:r>
              <a:rPr sz="1500">
                <a:solidFill>
                  <a:srgbClr val="22282E"/>
                </a:solidFill>
              </a:rPr>
              <a:t>•  Escalar de evaluación de expresiones a lectura de archivos y RCE.</a:t>
            </a:r>
          </a:p>
          <a:p>
            <a:pPr>
              <a:spcAft>
                <a:spcPts val="600"/>
              </a:spcAft>
            </a:pPr>
            <a:r>
              <a:rPr sz="1500">
                <a:solidFill>
                  <a:srgbClr val="22282E"/>
                </a:solidFill>
              </a:rPr>
              <a:t>•  Construir payloads específicos por motor (Jinja2, Twig, Freemarker).</a:t>
            </a:r>
          </a:p>
          <a:p>
            <a:pPr>
              <a:spcAft>
                <a:spcPts val="600"/>
              </a:spcAft>
            </a:pPr>
            <a:r>
              <a:rPr sz="1500">
                <a:solidFill>
                  <a:srgbClr val="22282E"/>
                </a:solidFill>
              </a:rPr>
              <a:t>•  Recomendar sandboxing y separación de datos y plantilla.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Motores de plantillas</a:t>
            </a:r>
          </a:p>
          <a:p>
            <a:pPr>
              <a:spcAft>
                <a:spcPts val="600"/>
              </a:spcAft>
            </a:pPr>
            <a:r>
              <a:rPr sz="1500">
                <a:solidFill>
                  <a:srgbClr val="22282E"/>
                </a:solidFill>
              </a:rPr>
              <a:t>•  2 — Detección ({{77}})</a:t>
            </a:r>
          </a:p>
          <a:p>
            <a:pPr>
              <a:spcAft>
                <a:spcPts val="600"/>
              </a:spcAft>
            </a:pPr>
            <a:r>
              <a:rPr sz="1500">
                <a:solidFill>
                  <a:srgbClr val="22282E"/>
                </a:solidFill>
              </a:rPr>
              <a:t>•  3 — Fingerprinting del motor</a:t>
            </a:r>
          </a:p>
          <a:p>
            <a:pPr>
              <a:spcAft>
                <a:spcPts val="600"/>
              </a:spcAft>
            </a:pPr>
            <a:r>
              <a:rPr sz="1500">
                <a:solidFill>
                  <a:srgbClr val="22282E"/>
                </a:solidFill>
              </a:rPr>
              <a:t>•  4 — De expresión a RCE</a:t>
            </a:r>
          </a:p>
          <a:p>
            <a:pPr>
              <a:spcAft>
                <a:spcPts val="600"/>
              </a:spcAft>
            </a:pPr>
            <a:r>
              <a:rPr sz="1500">
                <a:solidFill>
                  <a:srgbClr val="22282E"/>
                </a:solidFill>
              </a:rPr>
              <a:t>•  5 — Jinja2 / Twig / Freemarker</a:t>
            </a:r>
          </a:p>
          <a:p>
            <a:pPr>
              <a:spcAft>
                <a:spcPts val="600"/>
              </a:spcAft>
            </a:pPr>
            <a:r>
              <a:rPr sz="1500">
                <a:solidFill>
                  <a:srgbClr val="22282E"/>
                </a:solidFill>
              </a:rPr>
              <a:t>•  6 — SSTI vs. XSS</a:t>
            </a:r>
          </a:p>
          <a:p>
            <a:pPr>
              <a:spcAft>
                <a:spcPts val="600"/>
              </a:spcAft>
            </a:pPr>
            <a:r>
              <a:rPr sz="1500">
                <a:solidFill>
                  <a:srgbClr val="22282E"/>
                </a:solidFill>
              </a:rPr>
              <a:t>•  7 — Defensa: sandbox, logic-less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SSTI: el input se interpreta dentro de una plantilla del servidor. Característica: puede ejecutar código del lado servidor.</a:t>
            </a:r>
          </a:p>
          <a:p>
            <a:pPr>
              <a:spcAft>
                <a:spcPts val="600"/>
              </a:spcAft>
            </a:pPr>
            <a:r>
              <a:rPr sz="1500">
                <a:solidFill>
                  <a:srgbClr val="22282E"/>
                </a:solidFill>
              </a:rPr>
              <a:t>•  Motor de plantillas: sistema que renderiza plantillas con datos (Jinja2, Twig...). Característica: cada uno tiene su sintaxis y capacidades.</a:t>
            </a:r>
          </a:p>
          <a:p>
            <a:pPr>
              <a:spcAft>
                <a:spcPts val="600"/>
              </a:spcAft>
            </a:pPr>
            <a:r>
              <a:rPr sz="1500">
                <a:solidFill>
                  <a:srgbClr val="22282E"/>
                </a:solidFill>
              </a:rPr>
              <a:t>•  Payload de detección: expresión simple ({{77}}) que revela evaluación. Característica: si devuelve 49, hay SSTI.</a:t>
            </a:r>
          </a:p>
          <a:p>
            <a:pPr>
              <a:spcAft>
                <a:spcPts val="600"/>
              </a:spcAft>
            </a:pPr>
            <a:r>
              <a:rPr sz="1500">
                <a:solidFill>
                  <a:srgbClr val="22282E"/>
                </a:solidFill>
              </a:rPr>
              <a:t>•  Fingerprinting: identificar el motor por respuestas a payloads. Característica: guía el exploit específico.</a:t>
            </a:r>
          </a:p>
          <a:p>
            <a:pPr>
              <a:spcAft>
                <a:spcPts val="600"/>
              </a:spcAft>
            </a:pPr>
            <a:r>
              <a:rPr sz="1500">
                <a:solidFill>
                  <a:srgbClr val="22282E"/>
                </a:solidFill>
              </a:rPr>
              <a:t>•  Sandbox: entorno restringido de ejecución de plantillas. Característica: mitiga (aunque a veces se evade) la RCE.</a:t>
            </a:r>
          </a:p>
          <a:p>
            <a:pPr>
              <a:spcAft>
                <a:spcPts val="600"/>
              </a:spcAft>
            </a:pPr>
            <a:r>
              <a:rPr sz="1500">
                <a:solidFill>
                  <a:srgbClr val="22282E"/>
                </a:solidFill>
              </a:rPr>
              <a:t>•  Logic-less templates: motores sin ejecución de código (Mustache). Característica: reducen el riesgo por diseño.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PortSwigger labs de SSTI.</a:t>
            </a:r>
          </a:p>
          <a:p>
            <a:pPr>
              <a:spcAft>
                <a:spcPts val="600"/>
              </a:spcAft>
            </a:pPr>
            <a:r>
              <a:rPr sz="1500">
                <a:solidFill>
                  <a:srgbClr val="22282E"/>
                </a:solidFill>
              </a:rPr>
              <a:t>•  tplmap (automatización, con criterio).</a:t>
            </a:r>
          </a:p>
          <a:p>
            <a:pPr>
              <a:spcAft>
                <a:spcPts val="600"/>
              </a:spcAft>
            </a:pPr>
            <a:r>
              <a:rPr sz="1500">
                <a:solidFill>
                  <a:srgbClr val="22282E"/>
                </a:solidFill>
              </a:rPr>
              <a:t>•  Burp para probar payloads.</a:t>
            </a:r>
          </a:p>
          <a:p>
            <a:pPr>
              <a:spcAft>
                <a:spcPts val="600"/>
              </a:spcAft>
            </a:pPr>
            <a:r>
              <a:rPr sz="1500">
                <a:solidFill>
                  <a:srgbClr val="22282E"/>
                </a:solidFill>
              </a:rPr>
              <a:t>•  git clone https://github.com/epinna/tplmap &amp;&amp; cd tplmap &amp;&amp; pip install -r requirements.txt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Introduce {{77}} y ${77} en campos que se reflejan (nombre, plantilla de email).</a:t>
            </a:r>
          </a:p>
          <a:p>
            <a:pPr>
              <a:spcAft>
                <a:spcPts val="600"/>
              </a:spcAft>
            </a:pPr>
            <a:r>
              <a:rPr sz="1500">
                <a:solidFill>
                  <a:srgbClr val="22282E"/>
                </a:solidFill>
              </a:rPr>
              <a:t>•  Si obtienes 49, confirma SSTI e identifica el motor con payloads diferenciadores.</a:t>
            </a:r>
          </a:p>
          <a:p>
            <a:pPr>
              <a:spcAft>
                <a:spcPts val="600"/>
              </a:spcAft>
            </a:pPr>
            <a:r>
              <a:rPr sz="1500">
                <a:solidFill>
                  <a:srgbClr val="22282E"/>
                </a:solidFill>
              </a:rPr>
              <a:t>•  En Jinja2 (Python), escala a lectura de configuración y luego a ejecución:</a:t>
            </a:r>
          </a:p>
          <a:p>
            <a:pPr>
              <a:spcAft>
                <a:spcPts val="600"/>
              </a:spcAft>
            </a:pPr>
            <a:r>
              <a:rPr sz="1500">
                <a:solidFill>
                  <a:srgbClr val="22282E"/>
                </a:solidFill>
              </a:rPr>
              <a:t>•  {{ config.items() }}</a:t>
            </a:r>
          </a:p>
          <a:p>
            <a:pPr>
              <a:spcAft>
                <a:spcPts val="600"/>
              </a:spcAft>
            </a:pPr>
            <a:r>
              <a:rPr sz="1500">
                <a:solidFill>
                  <a:srgbClr val="22282E"/>
                </a:solidFill>
              </a:rPr>
              <a:t>•  {{ ''.class.mro[1].subclasses() }}</a:t>
            </a:r>
          </a:p>
          <a:p>
            <a:pPr>
              <a:spcAft>
                <a:spcPts val="600"/>
              </a:spcAft>
            </a:pPr>
            <a:r>
              <a:rPr sz="1500">
                <a:solidFill>
                  <a:srgbClr val="22282E"/>
                </a:solidFill>
              </a:rPr>
              <a:t>•  Encuentra un subclass que permita ejecutar comandos y ejecútalo en el lab.</a:t>
            </a:r>
          </a:p>
          <a:p>
            <a:pPr>
              <a:spcAft>
                <a:spcPts val="600"/>
              </a:spcAft>
            </a:pPr>
            <a:r>
              <a:rPr sz="1500">
                <a:solidFill>
                  <a:srgbClr val="22282E"/>
                </a:solidFill>
              </a:rPr>
              <a:t>•  En Twig/Freemarker, usa los payloads específicos del motor para leer archivos o ejecutar.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Diferencia la respuesta de {{77}} en SSTI de un simple reflejo de texto.</a:t>
            </a:r>
          </a:p>
          <a:p>
            <a:pPr>
              <a:spcAft>
                <a:spcPts val="600"/>
              </a:spcAft>
            </a:pPr>
            <a:r>
              <a:rPr sz="1500">
                <a:solidFill>
                  <a:srgbClr val="22282E"/>
                </a:solidFill>
              </a:rPr>
              <a:t>•  Haz fingerprinting distinguiendo Jinja2 de Twig con payloads.</a:t>
            </a:r>
          </a:p>
          <a:p>
            <a:pPr>
              <a:spcAft>
                <a:spcPts val="600"/>
              </a:spcAft>
            </a:pPr>
            <a:r>
              <a:rPr sz="1500">
                <a:solidFill>
                  <a:srgbClr val="22282E"/>
                </a:solidFill>
              </a:rPr>
              <a:t>•  Explica la cadena class → mro → subclasses en Python.</a:t>
            </a:r>
          </a:p>
          <a:p>
            <a:pPr>
              <a:spcAft>
                <a:spcPts val="600"/>
              </a:spcAft>
            </a:pPr>
            <a:r>
              <a:rPr sz="1500">
                <a:solidFill>
                  <a:srgbClr val="22282E"/>
                </a:solidFill>
              </a:rPr>
              <a:t>•  Diferencia SSTI de XSS: mismo {{77}}, distinto sink.</a:t>
            </a:r>
          </a:p>
          <a:p>
            <a:pPr>
              <a:spcAft>
                <a:spcPts val="600"/>
              </a:spcAft>
            </a:pPr>
            <a:r>
              <a:rPr sz="1500">
                <a:solidFill>
                  <a:srgbClr val="22282E"/>
                </a:solidFill>
              </a:rPr>
              <a:t>•  Usa tplmap y luego reproduce manualmente su payload.</a:t>
            </a:r>
          </a:p>
          <a:p>
            <a:pPr>
              <a:spcAft>
                <a:spcPts val="600"/>
              </a:spcAft>
            </a:pPr>
            <a:r>
              <a:rPr sz="1500">
                <a:solidFill>
                  <a:srgbClr val="22282E"/>
                </a:solidFill>
              </a:rPr>
              <a:t>•  Propón una arquitectura con plantillas logic-less para el caso de uso.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Resuelve un lab de SSTI de PortSwigger que exija fingerprint + RCE y ejecuta un comando (p. ej. leer un archivo del sistema).</a:t>
            </a:r>
          </a:p>
          <a:p>
            <a:pPr>
              <a:spcAft>
                <a:spcPts val="600"/>
              </a:spcAft>
            </a:pPr>
            <a:r>
              <a:rPr sz="1500">
                <a:solidFill>
                  <a:srgbClr val="22282E"/>
                </a:solidFill>
              </a:rPr>
              <a:t>•  Criterio de aceptación: el lab queda resuelto, documentas el motor identificado, la cadena de payloads y la defensa (sandbox, separar datos de plantilla, motor logic-less).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{{77}} sale literal — No hay SSTI ahí; puede ser XSS o texto plano</a:t>
            </a:r>
          </a:p>
          <a:p>
            <a:pPr>
              <a:spcAft>
                <a:spcPts val="600"/>
              </a:spcAft>
            </a:pPr>
            <a:r>
              <a:rPr sz="1500">
                <a:solidFill>
                  <a:srgbClr val="22282E"/>
                </a:solidFill>
              </a:rPr>
              <a:t>•  49 pero sin RCE — Motor con sandbox; busca bypass conocido</a:t>
            </a:r>
          </a:p>
          <a:p>
            <a:pPr>
              <a:spcAft>
                <a:spcPts val="600"/>
              </a:spcAft>
            </a:pPr>
            <a:r>
              <a:rPr sz="1500">
                <a:solidFill>
                  <a:srgbClr val="22282E"/>
                </a:solidFill>
              </a:rPr>
              <a:t>•  Payload de otro motor falla — Fingerprint incorrecto; ajusta el motor</a:t>
            </a:r>
          </a:p>
          <a:p>
            <a:pPr>
              <a:spcAft>
                <a:spcPts val="600"/>
              </a:spcAft>
            </a:pPr>
            <a:r>
              <a:rPr sz="1500">
                <a:solidFill>
                  <a:srgbClr val="22282E"/>
                </a:solidFill>
              </a:rPr>
              <a:t>•  tplmap no detecta — Contexto peculiar; prueba manual</a:t>
            </a:r>
          </a:p>
          <a:p>
            <a:pPr>
              <a:spcAft>
                <a:spcPts val="600"/>
              </a:spcAft>
            </a:pPr>
            <a:r>
              <a:rPr sz="1500">
                <a:solidFill>
                  <a:srgbClr val="22282E"/>
                </a:solidFill>
              </a:rPr>
              <a:t>•  RCE ciega — Usa OOB para confirmar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¿SSTI siempre es RCE?</a:t>
            </a:r>
          </a:p>
          <a:p>
            <a:pPr>
              <a:spcAft>
                <a:spcPts val="600"/>
              </a:spcAft>
            </a:pPr>
            <a:r>
              <a:rPr sz="1500">
                <a:solidFill>
                  <a:srgbClr val="22282E"/>
                </a:solidFill>
              </a:rPr>
              <a:t>•  No siempre; depende del motor y su sandbox. A veces solo permite leer datos, pero muchos motores llegan a RCE.</a:t>
            </a:r>
          </a:p>
          <a:p>
            <a:pPr>
              <a:spcAft>
                <a:spcPts val="600"/>
              </a:spcAft>
            </a:pPr>
            <a:r>
              <a:rPr sz="1500">
                <a:solidFill>
                  <a:srgbClr val="22282E"/>
                </a:solidFill>
              </a:rPr>
              <a:t>•  ❓ ¿Cómo distingo SSTI de XSS?</a:t>
            </a:r>
          </a:p>
          <a:p>
            <a:pPr>
              <a:spcAft>
                <a:spcPts val="600"/>
              </a:spcAft>
            </a:pPr>
            <a:r>
              <a:rPr sz="1500">
                <a:solidFill>
                  <a:srgbClr val="22282E"/>
                </a:solidFill>
              </a:rPr>
              <a:t>•  {{77}} que devuelve 49 indica evaluación en servidor (SSTI); si aparece literal y ejecuta JS, es XSS en cliente.</a:t>
            </a:r>
          </a:p>
          <a:p>
            <a:pPr>
              <a:spcAft>
                <a:spcPts val="600"/>
              </a:spcAft>
            </a:pPr>
            <a:r>
              <a:rPr sz="1500">
                <a:solidFill>
                  <a:srgbClr val="22282E"/>
                </a:solidFill>
              </a:rPr>
              <a:t>•  ❓ ¿El sandbox me protege?</a:t>
            </a:r>
          </a:p>
          <a:p>
            <a:pPr>
              <a:spcAft>
                <a:spcPts val="600"/>
              </a:spcAft>
            </a:pPr>
            <a:r>
              <a:rPr sz="1500">
                <a:solidFill>
                  <a:srgbClr val="22282E"/>
                </a:solidFill>
              </a:rPr>
              <a:t>•  Ayuda, pero muchos sandboxes de plantillas han sido evadidos. La defensa robusta es no meter input del usuario en la plantilla.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Yaworski, Real-World Bug Hunting, cap. de template injection.</a:t>
            </a:r>
          </a:p>
          <a:p>
            <a:pPr>
              <a:spcAft>
                <a:spcPts val="600"/>
              </a:spcAft>
            </a:pPr>
            <a:r>
              <a:rPr sz="1500">
                <a:solidFill>
                  <a:srgbClr val="22282E"/>
                </a:solidFill>
              </a:rPr>
              <a:t>•  PortSwigger SSTI research y labs: &lt;https://portswigger.net/web-security/server-side-template-injection&gt;</a:t>
            </a:r>
          </a:p>
          <a:p>
            <a:pPr>
              <a:spcAft>
                <a:spcPts val="600"/>
              </a:spcAft>
            </a:pPr>
            <a:r>
              <a:rPr sz="1500">
                <a:solidFill>
                  <a:srgbClr val="22282E"/>
                </a:solidFill>
              </a:rPr>
              <a:t>•  OWASP Testing for SSTI (WSTG).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