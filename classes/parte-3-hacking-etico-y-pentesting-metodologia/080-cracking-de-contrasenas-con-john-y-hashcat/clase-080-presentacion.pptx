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080 — Cracking de contraseñas con John y Hashcat</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aprenderá a recuperar contraseñas en texto claro a partir de hashes obtenidos legítimamente en un laboratorio, usando John the Ripper y Hashcat: identificar el tipo de hash correcto, elegir entre ataque de diccionario, reglas de mutación, máscara o híbrido, aprovechar la aceleración por GPU, y a partir de los resultados evaluar la fortaleza real de la política de contraseñas de una organización.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Identificar correctamente el tipo de hash y su modo correspondiente en Hashcat (-m) y John (--format).</a:t>
            </a:r>
          </a:p>
          <a:p>
            <a:pPr>
              <a:spcAft>
                <a:spcPts val="600"/>
              </a:spcAft>
            </a:pPr>
            <a:r>
              <a:rPr sz="1500">
                <a:solidFill>
                  <a:srgbClr val="22282E"/>
                </a:solidFill>
              </a:rPr>
              <a:t>•  Ejecutar ataques de diccionario, de reglas, de máscara e híbridos según el contexto del hash.</a:t>
            </a:r>
          </a:p>
          <a:p>
            <a:pPr>
              <a:spcAft>
                <a:spcPts val="600"/>
              </a:spcAft>
            </a:pPr>
            <a:r>
              <a:rPr sz="1500">
                <a:solidFill>
                  <a:srgbClr val="22282E"/>
                </a:solidFill>
              </a:rPr>
              <a:t>•  Configurar y aprovechar la aceleración por GPU en Hashcat frente al uso de CPU.</a:t>
            </a:r>
          </a:p>
          <a:p>
            <a:pPr>
              <a:spcAft>
                <a:spcPts val="600"/>
              </a:spcAft>
            </a:pPr>
            <a:r>
              <a:rPr sz="1500">
                <a:solidFill>
                  <a:srgbClr val="22282E"/>
                </a:solidFill>
              </a:rPr>
              <a:t>•  Aplicar reglas de mutación conocidas (best64, rockyou-30000) sobre wordlists estándar como rockyou.txt.</a:t>
            </a:r>
          </a:p>
          <a:p>
            <a:pPr>
              <a:spcAft>
                <a:spcPts val="600"/>
              </a:spcAft>
            </a:pPr>
            <a:r>
              <a:rPr sz="1500">
                <a:solidFill>
                  <a:srgbClr val="22282E"/>
                </a:solidFill>
              </a:rPr>
              <a:t>•  Explicar por qué los KDF lentos (bcrypt, scrypt, Argon2) resisten el cracking masivo por diseño.</a:t>
            </a:r>
          </a:p>
          <a:p>
            <a:pPr>
              <a:spcAft>
                <a:spcPts val="600"/>
              </a:spcAft>
            </a:pPr>
            <a:r>
              <a:rPr sz="1500">
                <a:solidFill>
                  <a:srgbClr val="22282E"/>
                </a:solidFill>
              </a:rPr>
              <a:t>•  Redactar una recomendación de política de contraseñas basada en los resultados obtenidos.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Identificación del tipo de hash</a:t>
            </a:r>
          </a:p>
          <a:p>
            <a:pPr>
              <a:spcAft>
                <a:spcPts val="600"/>
              </a:spcAft>
            </a:pPr>
            <a:r>
              <a:rPr sz="1500">
                <a:solidFill>
                  <a:srgbClr val="22282E"/>
                </a:solidFill>
              </a:rPr>
              <a:t>•  2 — Ataque de diccionario</a:t>
            </a:r>
          </a:p>
          <a:p>
            <a:pPr>
              <a:spcAft>
                <a:spcPts val="600"/>
              </a:spcAft>
            </a:pPr>
            <a:r>
              <a:rPr sz="1500">
                <a:solidFill>
                  <a:srgbClr val="22282E"/>
                </a:solidFill>
              </a:rPr>
              <a:t>•  3 — Reglas de mutación</a:t>
            </a:r>
          </a:p>
          <a:p>
            <a:pPr>
              <a:spcAft>
                <a:spcPts val="600"/>
              </a:spcAft>
            </a:pPr>
            <a:r>
              <a:rPr sz="1500">
                <a:solidFill>
                  <a:srgbClr val="22282E"/>
                </a:solidFill>
              </a:rPr>
              <a:t>•  4 — Ataques de máscara</a:t>
            </a:r>
          </a:p>
          <a:p>
            <a:pPr>
              <a:spcAft>
                <a:spcPts val="600"/>
              </a:spcAft>
            </a:pPr>
            <a:r>
              <a:rPr sz="1500">
                <a:solidFill>
                  <a:srgbClr val="22282E"/>
                </a:solidFill>
              </a:rPr>
              <a:t>•  5 — Ataques híbridos</a:t>
            </a:r>
          </a:p>
          <a:p>
            <a:pPr>
              <a:spcAft>
                <a:spcPts val="600"/>
              </a:spcAft>
            </a:pPr>
            <a:r>
              <a:rPr sz="1500">
                <a:solidFill>
                  <a:srgbClr val="22282E"/>
                </a:solidFill>
              </a:rPr>
              <a:t>•  6 — Aceleración por GPU</a:t>
            </a:r>
          </a:p>
          <a:p>
            <a:pPr>
              <a:spcAft>
                <a:spcPts val="600"/>
              </a:spcAft>
            </a:pPr>
            <a:r>
              <a:rPr sz="1500">
                <a:solidFill>
                  <a:srgbClr val="22282E"/>
                </a:solidFill>
              </a:rPr>
              <a:t>•  7 — Salting y rainbow 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Tipo/modo de hash: identificador del algoritmo criptográfico usado para generar el hash (NTLM, MD5, SHA-256, bcrypt, sha512crypt). Característica clave: en Hashcat corresponde al parámetro numérico -m (por ejemplo, 1000 para NTLM); en John, al parámetro --format.</a:t>
            </a:r>
          </a:p>
          <a:p>
            <a:pPr>
              <a:spcAft>
                <a:spcPts val="600"/>
              </a:spcAft>
            </a:pPr>
            <a:r>
              <a:rPr sz="1500">
                <a:solidFill>
                  <a:srgbClr val="22282E"/>
                </a:solidFill>
              </a:rPr>
              <a:t>•  Enfoque defensivo: conocer qué modo de hash usa cada sistema propio permite a seguridad estimar de antemano cuán rápido podría un atacante crackear una filtración de esas credenciales.</a:t>
            </a:r>
          </a:p>
          <a:p>
            <a:pPr>
              <a:spcAft>
                <a:spcPts val="600"/>
              </a:spcAft>
            </a:pPr>
            <a:r>
              <a:rPr sz="1500">
                <a:solidFill>
                  <a:srgbClr val="22282E"/>
                </a:solidFill>
              </a:rPr>
              <a:t>•  Ataque de diccionario: prueba cada palabra de una lista predefinida contra el hash objetivo. Característica clave: extremadamente rápido y efectivo, porque la mayoría de contraseñas humanas derivan de palabras reales o patrones comunes.</a:t>
            </a:r>
          </a:p>
          <a:p>
            <a:pPr>
              <a:spcAft>
                <a:spcPts val="600"/>
              </a:spcAft>
            </a:pPr>
            <a:r>
              <a:rPr sz="1500">
                <a:solidFill>
                  <a:srgbClr val="22282E"/>
                </a:solidFill>
              </a:rPr>
              <a:t>•  Enfoque defensivo: correr el mismo ataque contra los propios hashes de usuarios (con autorización) identifica contraseñas débiles antes de que lo haga un atacante externo.</a:t>
            </a:r>
          </a:p>
          <a:p>
            <a:pPr>
              <a:spcAft>
                <a:spcPts val="600"/>
              </a:spcAft>
            </a:pPr>
            <a:r>
              <a:rPr sz="1500">
                <a:solidFill>
                  <a:srgbClr val="22282E"/>
                </a:solidFill>
              </a:rPr>
              <a:t>•  Rainbow table: estructura precomputada que relaciona hashes con sus contraseñas de origen para acelerar la búsqueda inversa sin salt. Característica clave: es completamente ineficaz contra hashes correctamente salados, porque cada salt distinto invalida la tabla precomputada.</a:t>
            </a:r>
          </a:p>
          <a:p>
            <a:pPr>
              <a:spcAft>
                <a:spcPts val="600"/>
              </a:spcAft>
            </a:pPr>
            <a:r>
              <a:rPr sz="1500">
                <a:solidFill>
                  <a:srgbClr val="22282E"/>
                </a:solidFill>
              </a:rPr>
              <a:t>•  Enfoque defensivo: exigir salt individual por credencial en cualquier sistema propio es un requisito no negociable de cualquier revisión de almacenamiento de contraseñas.</a:t>
            </a:r>
          </a:p>
          <a:p>
            <a:pPr>
              <a:spcAft>
                <a:spcPts val="600"/>
              </a:spcAft>
            </a:pPr>
            <a:r>
              <a:rPr sz="1500">
                <a:solidFill>
                  <a:srgbClr val="22282E"/>
                </a:solidFill>
              </a:rPr>
              <a:t>•  Reglas de mutación (rules): conjunto de transformaciones (mayúscula inicial, sufijo numérico, sustitución leet) aplicadas automáticamente a cada palabra de un diccionario. Característica clave: multiplican exponencialmente la cobertura efectiva de una wordlist sin aumentar su tamaño en disco.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John the Ripper: sudo apt install john; ofrece autodetección de formato y es especialmente cómodo en CPU.</a:t>
            </a:r>
          </a:p>
          <a:p>
            <a:pPr>
              <a:spcAft>
                <a:spcPts val="600"/>
              </a:spcAft>
            </a:pPr>
            <a:r>
              <a:rPr sz="1500">
                <a:solidFill>
                  <a:srgbClr val="22282E"/>
                </a:solidFill>
              </a:rPr>
              <a:t>•  Hashcat: sudo apt install hashcat; domina en velocidad cuando hay GPU disponible. Verifica los dispositivos con hashcat -I.</a:t>
            </a:r>
          </a:p>
          <a:p>
            <a:pPr>
              <a:spcAft>
                <a:spcPts val="600"/>
              </a:spcAft>
            </a:pPr>
            <a:r>
              <a:rPr sz="1500">
                <a:solidFill>
                  <a:srgbClr val="22282E"/>
                </a:solidFill>
              </a:rPr>
              <a:t>•  rockyou.txt: wordlist estándar incluida en Kali, descomprimir con gunzip -k /usr/share/wordlists/rockyou.txt.gz.</a:t>
            </a:r>
          </a:p>
          <a:p>
            <a:pPr>
              <a:spcAft>
                <a:spcPts val="600"/>
              </a:spcAft>
            </a:pPr>
            <a:r>
              <a:rPr sz="1500">
                <a:solidFill>
                  <a:srgbClr val="22282E"/>
                </a:solidFill>
              </a:rPr>
              <a:t>•  Reglas: best64.rule incluida por defecto en /usr/share/hashcat/rules/; también existen conjuntos más agresivos como rockyou-30000.rule.</a:t>
            </a:r>
          </a:p>
          <a:p>
            <a:pPr>
              <a:spcAft>
                <a:spcPts val="600"/>
              </a:spcAft>
            </a:pPr>
            <a:r>
              <a:rPr sz="1500">
                <a:solidFill>
                  <a:srgbClr val="22282E"/>
                </a:solidFill>
              </a:rPr>
              <a:t>•  hashid o hashcat --identify: para determinar el tipo de hash antes de lanzar cualquier ataque.</a:t>
            </a:r>
          </a:p>
          <a:p>
            <a:pPr>
              <a:spcAft>
                <a:spcPts val="600"/>
              </a:spcAft>
            </a:pPr>
            <a:r>
              <a:rPr sz="1500">
                <a:solidFill>
                  <a:srgbClr val="22282E"/>
                </a:solidFill>
              </a:rPr>
              <a:t>•  Hashes obtenidos exclusivamente en tu propio laboratorio (por ejemplo, con secretsdump.py de una VM propia, o hashes generados manualmente para práctica con openssl passwd o mkpasswd).</a:t>
            </a:r>
          </a:p>
          <a:p>
            <a:pPr>
              <a:spcAft>
                <a:spcPts val="600"/>
              </a:spcAft>
            </a:pPr>
            <a:r>
              <a:rPr sz="1500">
                <a:solidFill>
                  <a:srgbClr val="22282E"/>
                </a:solidFill>
              </a:rPr>
              <a:t>•  GPU con drivers actualizados (opcional pero recomendado): Hashcat aprovecha CUDA/OpenCL; sin GPU, funciona igualmente en modo CPU (-D 1) aunque más lento.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Identifica el tipo de hash antes de cualquier ataque: hashcat --identify hashes.txt o hashid '$1$xyz$abc...'.</a:t>
            </a:r>
          </a:p>
          <a:p>
            <a:pPr>
              <a:spcAft>
                <a:spcPts val="600"/>
              </a:spcAft>
            </a:pPr>
            <a:r>
              <a:rPr sz="1500">
                <a:solidFill>
                  <a:srgbClr val="22282E"/>
                </a:solidFill>
              </a:rPr>
              <a:t>•  Lanza un ataque de diccionario puro con Hashcat (ejemplo para NTLM, modo 1000): hashcat -m 1000 -a 0 hashes.txt /usr/share/wordlists/rockyou.txt.</a:t>
            </a:r>
          </a:p>
          <a:p>
            <a:pPr>
              <a:spcAft>
                <a:spcPts val="600"/>
              </a:spcAft>
            </a:pPr>
            <a:r>
              <a:rPr sz="1500">
                <a:solidFill>
                  <a:srgbClr val="22282E"/>
                </a:solidFill>
              </a:rPr>
              <a:t>•  Repite el ataque añadiendo reglas de mutación: hashcat -m 1000 -a 0 hashes.txt rockyou.txt -r /usr/share/hashcat/rules/best64.rule.</a:t>
            </a:r>
          </a:p>
          <a:p>
            <a:pPr>
              <a:spcAft>
                <a:spcPts val="600"/>
              </a:spcAft>
            </a:pPr>
            <a:r>
              <a:rPr sz="1500">
                <a:solidFill>
                  <a:srgbClr val="22282E"/>
                </a:solidFill>
              </a:rPr>
              <a:t>•  Ejecuta un ataque de máscara para contraseñas de 8 caracteres con patrón letra+dígito: hashcat -m 1000 -a 3 hashes.txt '?l?l?l?l?d?d?d?d'.</a:t>
            </a:r>
          </a:p>
          <a:p>
            <a:pPr>
              <a:spcAft>
                <a:spcPts val="600"/>
              </a:spcAft>
            </a:pPr>
            <a:r>
              <a:rPr sz="1500">
                <a:solidFill>
                  <a:srgbClr val="22282E"/>
                </a:solidFill>
              </a:rPr>
              <a:t>•  Prueba un ataque híbrido diccionario más máscara (por ejemplo, palabra + año): hashcat -m 1000 -a 6 hashes.txt rockyou.txt '?d?d?d?d'.</a:t>
            </a:r>
          </a:p>
          <a:p>
            <a:pPr>
              <a:spcAft>
                <a:spcPts val="600"/>
              </a:spcAft>
            </a:pPr>
            <a:r>
              <a:rPr sz="1500">
                <a:solidFill>
                  <a:srgbClr val="22282E"/>
                </a:solidFill>
              </a:rPr>
              <a:t>•  Repite el proceso con John the Ripper, que autodetecta el formato: john --wordlist=rockyou.txt hashes.txt y consulta resultados con john --show hashes.txt.</a:t>
            </a:r>
          </a:p>
          <a:p>
            <a:pPr>
              <a:spcAft>
                <a:spcPts val="600"/>
              </a:spcAft>
            </a:pPr>
            <a:r>
              <a:rPr sz="1500">
                <a:solidFill>
                  <a:srgbClr val="22282E"/>
                </a:solidFill>
              </a:rPr>
              <a:t>•  Verifica los resultados acumulados en Hashcat: hashcat -m 1000 hashes.txt --show.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Identifica tres tipos de hash distintos (por ejemplo NTLM, MD5 y bcrypt) y anota su modo -m correspondiente en Hashcat.</a:t>
            </a:r>
          </a:p>
          <a:p>
            <a:pPr>
              <a:spcAft>
                <a:spcPts val="600"/>
              </a:spcAft>
            </a:pPr>
            <a:r>
              <a:rPr sz="1500">
                <a:solidFill>
                  <a:srgbClr val="22282E"/>
                </a:solidFill>
              </a:rPr>
              <a:t>•  Compara la tasa de éxito de un ataque de diccionario puro frente a diccionario más regla best64 sobre el mismo conjunto de hashes.</a:t>
            </a:r>
          </a:p>
          <a:p>
            <a:pPr>
              <a:spcAft>
                <a:spcPts val="600"/>
              </a:spcAft>
            </a:pPr>
            <a:r>
              <a:rPr sz="1500">
                <a:solidFill>
                  <a:srgbClr val="22282E"/>
                </a:solidFill>
              </a:rPr>
              <a:t>•  Diseña una máscara Hashcat para contraseñas del patrón Nombre2024! y ejecútala.</a:t>
            </a:r>
          </a:p>
          <a:p>
            <a:pPr>
              <a:spcAft>
                <a:spcPts val="600"/>
              </a:spcAft>
            </a:pPr>
            <a:r>
              <a:rPr sz="1500">
                <a:solidFill>
                  <a:srgbClr val="22282E"/>
                </a:solidFill>
              </a:rPr>
              <a:t>•  Ejecuta un ataque híbrido (-a 6 o -a 7) combinando diccionario y máscara.</a:t>
            </a:r>
          </a:p>
          <a:p>
            <a:pPr>
              <a:spcAft>
                <a:spcPts val="600"/>
              </a:spcAft>
            </a:pPr>
            <a:r>
              <a:rPr sz="1500">
                <a:solidFill>
                  <a:srgbClr val="22282E"/>
                </a:solidFill>
              </a:rPr>
              <a:t>•  Mide aproximadamente la diferencia de velocidad (hashes por segundo) entre CPU y GPU para el mismo modo de hash.</a:t>
            </a:r>
          </a:p>
          <a:p>
            <a:pPr>
              <a:spcAft>
                <a:spcPts val="600"/>
              </a:spcAft>
            </a:pPr>
            <a:r>
              <a:rPr sz="1500">
                <a:solidFill>
                  <a:srgbClr val="22282E"/>
                </a:solidFill>
              </a:rPr>
              <a:t>•  Explica por qué un hash bcrypt con factor de coste 12 cambia radicalmente la estrategia de ataque frente a un NTLM.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a partir de un conjunto de hashes de tu laboratorio (mínimo 10, con al menos dos tipos distintos), crackea el máximo número posible y produce un informe de fortaleza de contraseñas.</a:t>
            </a:r>
          </a:p>
          <a:p>
            <a:pPr>
              <a:spcAft>
                <a:spcPts val="600"/>
              </a:spcAft>
            </a:pPr>
            <a:r>
              <a:rPr sz="1500">
                <a:solidFill>
                  <a:srgbClr val="22282E"/>
                </a:solidFill>
              </a:rPr>
              <a:t>•  Criterio de aceptación: el alumno documenta el tipo de hash de cada conjunto, el ataque exacto usado para crackearlo, el porcentaje total recuperado, una clasificación de las contraseñas obtenidas por nivel de debilidad, y una recomendación concreta de política de contraseñas (longitud mínima, uso de MFA, prohibición de patrones comunes).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Hashcat reporta "No hashes loaded" — El modo -m no coincide con el formato real del hash; confirmar con hashcat --identify</a:t>
            </a:r>
          </a:p>
          <a:p>
            <a:pPr>
              <a:spcAft>
                <a:spcPts val="600"/>
              </a:spcAft>
            </a:pPr>
            <a:r>
              <a:rPr sz="1500">
                <a:solidFill>
                  <a:srgbClr val="22282E"/>
                </a:solidFill>
              </a:rPr>
              <a:t>•  Hashcat reporta "Separator unmatched" — El archivo mezcla formatos (usuario:hash y hash suelto); limpiar el archivo dejando un formato consistente</a:t>
            </a:r>
          </a:p>
          <a:p>
            <a:pPr>
              <a:spcAft>
                <a:spcPts val="600"/>
              </a:spcAft>
            </a:pPr>
            <a:r>
              <a:rPr sz="1500">
                <a:solidFill>
                  <a:srgbClr val="22282E"/>
                </a:solidFill>
              </a:rPr>
              <a:t>•  Velocidad de cracking muy baja e inesperada — El hash usa un KDF lento por diseño (bcrypt/Argon2) o no hay GPU disponible; ajustar expectativas de tiempo</a:t>
            </a:r>
          </a:p>
          <a:p>
            <a:pPr>
              <a:spcAft>
                <a:spcPts val="600"/>
              </a:spcAft>
            </a:pPr>
            <a:r>
              <a:rPr sz="1500">
                <a:solidFill>
                  <a:srgbClr val="22282E"/>
                </a:solidFill>
              </a:rPr>
              <a:t>•  John no detecta el formato automáticamente — Especificar el formato manualmente con --format=nt o el que corresponda</a:t>
            </a:r>
          </a:p>
          <a:p>
            <a:pPr>
              <a:spcAft>
                <a:spcPts val="600"/>
              </a:spcAft>
            </a:pPr>
            <a:r>
              <a:rPr sz="1500">
                <a:solidFill>
                  <a:srgbClr val="22282E"/>
                </a:solidFill>
              </a:rPr>
              <a:t>•  rockyou.txt no se encuentra — Falta descomprimir /usr/share/wordlists/rockyou.txt.gz con gunzip -k primero</a:t>
            </a:r>
          </a:p>
          <a:p>
            <a:pPr>
              <a:spcAft>
                <a:spcPts val="600"/>
              </a:spcAft>
            </a:pPr>
            <a:r>
              <a:rPr sz="1500">
                <a:solidFill>
                  <a:srgbClr val="22282E"/>
                </a:solidFill>
              </a:rPr>
              <a:t>•  Ataque de máscara tarda demasiado — El patrón elegido es demasiado amplio; reducir el espacio con suposiciones más específicas sobre longitud y conjunto de caracteres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¿Debo usar John the Ripper o Hashcat?</a:t>
            </a:r>
          </a:p>
          <a:p>
            <a:pPr>
              <a:spcAft>
                <a:spcPts val="600"/>
              </a:spcAft>
            </a:pPr>
            <a:r>
              <a:rPr sz="1500">
                <a:solidFill>
                  <a:srgbClr val="22282E"/>
                </a:solidFill>
              </a:rPr>
              <a:t>•  John destaca en CPU, en la variedad de formatos soportados y en su autodetección cómoda. Hashcat domina en velocidad bruta cuando hay GPU disponible. En la práctica profesional se usan ambos según el hash y el hardware disponible.</a:t>
            </a:r>
          </a:p>
          <a:p>
            <a:pPr>
              <a:spcAft>
                <a:spcPts val="600"/>
              </a:spcAft>
            </a:pPr>
            <a:r>
              <a:rPr sz="1500">
                <a:solidFill>
                  <a:srgbClr val="22282E"/>
                </a:solidFill>
              </a:rPr>
              <a:t>•  ❓ ¿Por qué no logro crackear un hash bcrypt o Argon2?</a:t>
            </a:r>
          </a:p>
          <a:p>
            <a:pPr>
              <a:spcAft>
                <a:spcPts val="600"/>
              </a:spcAft>
            </a:pPr>
            <a:r>
              <a:rPr sz="1500">
                <a:solidFill>
                  <a:srgbClr val="22282E"/>
                </a:solidFill>
              </a:rPr>
              <a:t>•  Porque están diseñados deliberadamente para ser lentos y usar salt individual; cada intento de contraseña cuesta un cómputo significativo, a diferencia de MD5 o NTLM que permiten miles de millones de intentos por segundo. Esa lentitud es precisamente su mecanismo de defensa.</a:t>
            </a:r>
          </a:p>
          <a:p>
            <a:pPr>
              <a:spcAft>
                <a:spcPts val="600"/>
              </a:spcAft>
            </a:pPr>
            <a:r>
              <a:rPr sz="1500">
                <a:solidFill>
                  <a:srgbClr val="22282E"/>
                </a:solidFill>
              </a:rPr>
              <a:t>•  ❓ ¿Realmente ayudan tanto las reglas de mutación?</a:t>
            </a:r>
          </a:p>
          <a:p>
            <a:pPr>
              <a:spcAft>
                <a:spcPts val="600"/>
              </a:spcAft>
            </a:pPr>
            <a:r>
              <a:rPr sz="1500">
                <a:solidFill>
                  <a:srgbClr val="22282E"/>
                </a:solidFill>
              </a:rPr>
              <a:t>•  Sí, de forma considerable: la mayoría de contraseñas humanas son una palabra base con una mutación predecible (mayúscula inicial, año al final, símbolo de cierre). Reglas como best64 capturan exactamente esos patrones observados en filtraciones reales.</a:t>
            </a:r>
          </a:p>
          <a:p>
            <a:pPr>
              <a:spcAft>
                <a:spcPts val="600"/>
              </a:spcAft>
            </a:pPr>
            <a:r>
              <a:rPr sz="1500">
                <a:solidFill>
                  <a:srgbClr val="22282E"/>
                </a:solidFill>
              </a:rPr>
              <a:t>•  ❓ Qué debo hacer con las contraseñas que logro crackear en un engagement real?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Hashcat, documentación oficial — &lt;https://hashcat.net/hashcat/&gt;</a:t>
            </a:r>
          </a:p>
          <a:p>
            <a:pPr>
              <a:spcAft>
                <a:spcPts val="600"/>
              </a:spcAft>
            </a:pPr>
            <a:r>
              <a:rPr sz="1500">
                <a:solidFill>
                  <a:srgbClr val="22282E"/>
                </a:solidFill>
              </a:rPr>
              <a:t>•  John the Ripper (Openwall) — &lt;https://www.openwall.com/john/&gt;</a:t>
            </a:r>
          </a:p>
          <a:p>
            <a:pPr>
              <a:spcAft>
                <a:spcPts val="600"/>
              </a:spcAft>
            </a:pPr>
            <a:r>
              <a:rPr sz="1500">
                <a:solidFill>
                  <a:srgbClr val="22282E"/>
                </a:solidFill>
              </a:rPr>
              <a:t>•  NIST SP 800-63B, Digital Identity Guidelines - Authentication and Lifecycle Management — &lt;https://pages.nist.gov/800-63-3/sp800-63b.html&gt;</a:t>
            </a:r>
          </a:p>
          <a:p>
            <a:pPr>
              <a:spcAft>
                <a:spcPts val="600"/>
              </a:spcAft>
            </a:pPr>
            <a:r>
              <a:rPr sz="1500">
                <a:solidFill>
                  <a:srgbClr val="22282E"/>
                </a:solidFill>
              </a:rPr>
              <a:t>•  OWASP, Password Storage Cheat Sheet — &lt;https://cheatsheetseries.owasp.org/cheatsheets/PasswordStorageCheatSheet.html&gt;</a:t>
            </a:r>
          </a:p>
          <a:p>
            <a:pPr>
              <a:spcAft>
                <a:spcPts val="600"/>
              </a:spcAft>
            </a:pPr>
            <a:r>
              <a:rPr sz="1500">
                <a:solidFill>
                  <a:srgbClr val="22282E"/>
                </a:solidFill>
              </a:rPr>
              <a:t>•  MITRE ATT&amp;CK, T1110 Brute Force — &lt;https://attack.mitre.org/techniques/T1110/&gt;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