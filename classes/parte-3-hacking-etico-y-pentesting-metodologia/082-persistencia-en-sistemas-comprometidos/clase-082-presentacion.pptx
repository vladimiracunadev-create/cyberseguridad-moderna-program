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082 — Persistencia en sistemas comprometidos</a:t>
            </a:r>
          </a:p>
          <a:p>
            <a:r>
              <a:rPr sz="1600">
                <a:solidFill>
                  <a:srgbClr val="2E8B57"/>
                </a:solidFill>
              </a:rPr>
              <a:t>parte 3 hacking etico y pentesting metodologia</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Establecer y documentar mecanismos de persistencia —mantener el acceso tras reinicios o cambios de credenciales— tanto en Linux como en Windows, entendiendo cómo los usan los atacantes reales y, sobre todo, cómo detectarlos. En un pentest, la persistencia se demuestra de forma controlada y se limpia al terminar.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Implementar persistencia en Linux (cron, servicios, claves SSH, .bashrc).</a:t>
            </a:r>
          </a:p>
          <a:p>
            <a:pPr>
              <a:spcAft>
                <a:spcPts val="600"/>
              </a:spcAft>
            </a:pPr>
            <a:r>
              <a:rPr sz="1500">
                <a:solidFill>
                  <a:srgbClr val="22282E"/>
                </a:solidFill>
              </a:rPr>
              <a:t>•  Implementar persistencia en Windows (Run keys, tareas programadas, servicios).</a:t>
            </a:r>
          </a:p>
          <a:p>
            <a:pPr>
              <a:spcAft>
                <a:spcPts val="600"/>
              </a:spcAft>
            </a:pPr>
            <a:r>
              <a:rPr sz="1500">
                <a:solidFill>
                  <a:srgbClr val="22282E"/>
                </a:solidFill>
              </a:rPr>
              <a:t>•  Reconocer técnicas avanzadas (WMI event subscription, DLL hijacking) a nivel conceptual.</a:t>
            </a:r>
          </a:p>
          <a:p>
            <a:pPr>
              <a:spcAft>
                <a:spcPts val="600"/>
              </a:spcAft>
            </a:pPr>
            <a:r>
              <a:rPr sz="1500">
                <a:solidFill>
                  <a:srgbClr val="22282E"/>
                </a:solidFill>
              </a:rPr>
              <a:t>•  Mapear cada técnica a MITRE ATT&amp;CK y a su método de detección.</a:t>
            </a:r>
          </a:p>
          <a:p>
            <a:pPr>
              <a:spcAft>
                <a:spcPts val="600"/>
              </a:spcAft>
            </a:pPr>
            <a:r>
              <a:rPr sz="1500">
                <a:solidFill>
                  <a:srgbClr val="22282E"/>
                </a:solidFill>
              </a:rPr>
              <a:t>•  Limpiar los mecanismos instalados al cerrar el engagement.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Persistencia Linux: cron y systemd</a:t>
            </a:r>
          </a:p>
          <a:p>
            <a:pPr>
              <a:spcAft>
                <a:spcPts val="600"/>
              </a:spcAft>
            </a:pPr>
            <a:r>
              <a:rPr sz="1500">
                <a:solidFill>
                  <a:srgbClr val="22282E"/>
                </a:solidFill>
              </a:rPr>
              <a:t>•  2 — Claves SSH autorizadas</a:t>
            </a:r>
          </a:p>
          <a:p>
            <a:pPr>
              <a:spcAft>
                <a:spcPts val="600"/>
              </a:spcAft>
            </a:pPr>
            <a:r>
              <a:rPr sz="1500">
                <a:solidFill>
                  <a:srgbClr val="22282E"/>
                </a:solidFill>
              </a:rPr>
              <a:t>•  3 — Persistencia Windows: Run keys</a:t>
            </a:r>
          </a:p>
          <a:p>
            <a:pPr>
              <a:spcAft>
                <a:spcPts val="600"/>
              </a:spcAft>
            </a:pPr>
            <a:r>
              <a:rPr sz="1500">
                <a:solidFill>
                  <a:srgbClr val="22282E"/>
                </a:solidFill>
              </a:rPr>
              <a:t>•  4 — Tareas programadas y servicios</a:t>
            </a:r>
          </a:p>
          <a:p>
            <a:pPr>
              <a:spcAft>
                <a:spcPts val="600"/>
              </a:spcAft>
            </a:pPr>
            <a:r>
              <a:rPr sz="1500">
                <a:solidFill>
                  <a:srgbClr val="22282E"/>
                </a:solidFill>
              </a:rPr>
              <a:t>•  5 — WMI event subscription</a:t>
            </a:r>
          </a:p>
          <a:p>
            <a:pPr>
              <a:spcAft>
                <a:spcPts val="600"/>
              </a:spcAft>
            </a:pPr>
            <a:r>
              <a:rPr sz="1500">
                <a:solidFill>
                  <a:srgbClr val="22282E"/>
                </a:solidFill>
              </a:rPr>
              <a:t>•  6 — Mapeo a ATT&amp;CK</a:t>
            </a:r>
          </a:p>
          <a:p>
            <a:pPr>
              <a:spcAft>
                <a:spcPts val="600"/>
              </a:spcAft>
            </a:pPr>
            <a:r>
              <a:rPr sz="1500">
                <a:solidFill>
                  <a:srgbClr val="22282E"/>
                </a:solidFill>
              </a:rPr>
              <a:t>•  7 — Limpieza y responsabilidad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Persistencia: capacidad de recuperar el acceso tras reinicios o rotación de credenciales. Característica clave: convierte un acceso efímero en duradero.</a:t>
            </a:r>
          </a:p>
          <a:p>
            <a:pPr>
              <a:spcAft>
                <a:spcPts val="600"/>
              </a:spcAft>
            </a:pPr>
            <a:r>
              <a:rPr sz="1500">
                <a:solidFill>
                  <a:srgbClr val="22282E"/>
                </a:solidFill>
              </a:rPr>
              <a:t>•  Cron/systemd timer: ejecución programada en Linux. Característica clave: reejecuta un payload periódicamente o al arranque.</a:t>
            </a:r>
          </a:p>
          <a:p>
            <a:pPr>
              <a:spcAft>
                <a:spcPts val="600"/>
              </a:spcAft>
            </a:pPr>
            <a:r>
              <a:rPr sz="1500">
                <a:solidFill>
                  <a:srgbClr val="22282E"/>
                </a:solidFill>
              </a:rPr>
              <a:t>•  authorizedkeys: clave pública que permite login SSH sin contraseña. Característica clave: sobrevive a cambios de contraseña.</a:t>
            </a:r>
          </a:p>
          <a:p>
            <a:pPr>
              <a:spcAft>
                <a:spcPts val="600"/>
              </a:spcAft>
            </a:pPr>
            <a:r>
              <a:rPr sz="1500">
                <a:solidFill>
                  <a:srgbClr val="22282E"/>
                </a:solidFill>
              </a:rPr>
              <a:t>•  Run key (registro): valor en HKCU/HKLM\...\Run que se ejecuta al iniciar sesión. Característica clave: vector de persistencia Windows más habitual.</a:t>
            </a:r>
          </a:p>
          <a:p>
            <a:pPr>
              <a:spcAft>
                <a:spcPts val="600"/>
              </a:spcAft>
            </a:pPr>
            <a:r>
              <a:rPr sz="1500">
                <a:solidFill>
                  <a:srgbClr val="22282E"/>
                </a:solidFill>
              </a:rPr>
              <a:t>•  WMI event subscription: persistencia basada en eventos WMI. Característica clave: no deja archivos ("fileless"), difícil de detectar.</a:t>
            </a:r>
          </a:p>
          <a:p>
            <a:pPr>
              <a:spcAft>
                <a:spcPts val="600"/>
              </a:spcAft>
            </a:pPr>
            <a:r>
              <a:rPr sz="1500">
                <a:solidFill>
                  <a:srgbClr val="22282E"/>
                </a:solidFill>
              </a:rPr>
              <a:t>•  Limpieza (cleanup): eliminación de artefactos al finalizar. Característica clave: obligación ética y contractual del pentester.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Metasploit (post//manage/persistence), scripts nativos, y para Windows: schtasks, reg, sc.</a:t>
            </a:r>
          </a:p>
          <a:p>
            <a:pPr>
              <a:spcAft>
                <a:spcPts val="600"/>
              </a:spcAft>
            </a:pPr>
            <a:r>
              <a:rPr sz="1500">
                <a:solidFill>
                  <a:srgbClr val="22282E"/>
                </a:solidFill>
              </a:rPr>
              <a:t>•  Un registro (log) donde apuntes cada artefacto que instalas para poder revertirlo.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Registra cada acción en un "cleanup log" para revertirla después.</a:t>
            </a:r>
          </a:p>
          <a:p>
            <a:pPr>
              <a:spcAft>
                <a:spcPts val="600"/>
              </a:spcAft>
            </a:pPr>
            <a:r>
              <a:rPr sz="1500">
                <a:solidFill>
                  <a:srgbClr val="22282E"/>
                </a:solidFill>
              </a:rPr>
              <a:t>•  Persistencia Linux con cron:</a:t>
            </a:r>
          </a:p>
          <a:p>
            <a:pPr>
              <a:spcAft>
                <a:spcPts val="600"/>
              </a:spcAft>
            </a:pPr>
            <a:r>
              <a:rPr sz="1500">
                <a:solidFill>
                  <a:srgbClr val="22282E"/>
                </a:solidFill>
              </a:rPr>
              <a:t>•  (crontab -l 2&gt;/dev/null; echo "/10     /tmp/.beacon.sh") | crontab -</a:t>
            </a:r>
          </a:p>
          <a:p>
            <a:pPr>
              <a:spcAft>
                <a:spcPts val="600"/>
              </a:spcAft>
            </a:pPr>
            <a:r>
              <a:rPr sz="1500">
                <a:solidFill>
                  <a:srgbClr val="22282E"/>
                </a:solidFill>
              </a:rPr>
              <a:t>•  Clave SSH autorizada:</a:t>
            </a:r>
          </a:p>
          <a:p>
            <a:pPr>
              <a:spcAft>
                <a:spcPts val="600"/>
              </a:spcAft>
            </a:pPr>
            <a:r>
              <a:rPr sz="1500">
                <a:solidFill>
                  <a:srgbClr val="22282E"/>
                </a:solidFill>
              </a:rPr>
              <a:t>•  echo "ssh-ed25519 AAAA... atacante" &gt;&gt; ~/.ssh/authorizedkeys</a:t>
            </a:r>
          </a:p>
          <a:p>
            <a:pPr>
              <a:spcAft>
                <a:spcPts val="600"/>
              </a:spcAft>
            </a:pPr>
            <a:r>
              <a:rPr sz="1500">
                <a:solidFill>
                  <a:srgbClr val="22282E"/>
                </a:solidFill>
              </a:rPr>
              <a:t>•  Persistencia Windows con Run key:</a:t>
            </a:r>
          </a:p>
          <a:p>
            <a:pPr>
              <a:spcAft>
                <a:spcPts val="600"/>
              </a:spcAft>
            </a:pPr>
            <a:r>
              <a:rPr sz="1500">
                <a:solidFill>
                  <a:srgbClr val="22282E"/>
                </a:solidFill>
              </a:rPr>
              <a:t>•  reg add HKCU\Software\Microsoft\Windows\CurrentVersion\Run /v Updater /t REGSZ /d "C:\Users\Public\upd.exe" /f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Instala y luego elimina una persistencia por cron, documentando ambos pasos.</a:t>
            </a:r>
          </a:p>
          <a:p>
            <a:pPr>
              <a:spcAft>
                <a:spcPts val="600"/>
              </a:spcAft>
            </a:pPr>
            <a:r>
              <a:rPr sz="1500">
                <a:solidFill>
                  <a:srgbClr val="22282E"/>
                </a:solidFill>
              </a:rPr>
              <a:t>•  Añade una clave SSH autorizada y explica por qué es difícil de detectar.</a:t>
            </a:r>
          </a:p>
          <a:p>
            <a:pPr>
              <a:spcAft>
                <a:spcPts val="600"/>
              </a:spcAft>
            </a:pPr>
            <a:r>
              <a:rPr sz="1500">
                <a:solidFill>
                  <a:srgbClr val="22282E"/>
                </a:solidFill>
              </a:rPr>
              <a:t>•  Crea una tarea programada Windows onlogon y verifícala con schtasks /query.</a:t>
            </a:r>
          </a:p>
          <a:p>
            <a:pPr>
              <a:spcAft>
                <a:spcPts val="600"/>
              </a:spcAft>
            </a:pPr>
            <a:r>
              <a:rPr sz="1500">
                <a:solidFill>
                  <a:srgbClr val="22282E"/>
                </a:solidFill>
              </a:rPr>
              <a:t>•  Mapea cinco técnicas de persistencia a sus IDs de MITRE ATT&amp;CK.</a:t>
            </a:r>
          </a:p>
          <a:p>
            <a:pPr>
              <a:spcAft>
                <a:spcPts val="600"/>
              </a:spcAft>
            </a:pPr>
            <a:r>
              <a:rPr sz="1500">
                <a:solidFill>
                  <a:srgbClr val="22282E"/>
                </a:solidFill>
              </a:rPr>
              <a:t>•  Explica cómo un defensor detecta cambios en las Run keys.</a:t>
            </a:r>
          </a:p>
          <a:p>
            <a:pPr>
              <a:spcAft>
                <a:spcPts val="600"/>
              </a:spcAft>
            </a:pPr>
            <a:r>
              <a:rPr sz="1500">
                <a:solidFill>
                  <a:srgbClr val="22282E"/>
                </a:solidFill>
              </a:rPr>
              <a:t>•  Redacta un "cleanup log" modelo con columnas: técnica, artefacto, comando de reversión.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Implementa una persistencia por sistema operativo (Linux y Windows) en tu laboratorio, verifica que sobreviven a un reinicio y límpialas por completo.</a:t>
            </a:r>
          </a:p>
          <a:p>
            <a:pPr>
              <a:spcAft>
                <a:spcPts val="600"/>
              </a:spcAft>
            </a:pPr>
            <a:r>
              <a:rPr sz="1500">
                <a:solidFill>
                  <a:srgbClr val="22282E"/>
                </a:solidFill>
              </a:rPr>
              <a:t>•  Criterio de aceptación: demuestras que ambas persistencias reactivan el acceso tras reiniciar; presentas un cleanup log con el comando de reversión de cada una; tras la limpieza, una comprobación muestra que no queda ningún artefacto. Todo en entorno propio.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persistencia no reactiva — Ruta o permisos del payload; verifica que exista y sea ejecutable</a:t>
            </a:r>
          </a:p>
          <a:p>
            <a:pPr>
              <a:spcAft>
                <a:spcPts val="600"/>
              </a:spcAft>
            </a:pPr>
            <a:r>
              <a:rPr sz="1500">
                <a:solidFill>
                  <a:srgbClr val="22282E"/>
                </a:solidFill>
              </a:rPr>
              <a:t>•  crontab -r borra todo el crontab — Cuidado: elimina TODAS las tareas; edita en vez de borrar si hay legítimas</a:t>
            </a:r>
          </a:p>
          <a:p>
            <a:pPr>
              <a:spcAft>
                <a:spcPts val="600"/>
              </a:spcAft>
            </a:pPr>
            <a:r>
              <a:rPr sz="1500">
                <a:solidFill>
                  <a:srgbClr val="22282E"/>
                </a:solidFill>
              </a:rPr>
              <a:t>•  Run key ejecuta pero sin sesión — LHOST/handler no disponibles; ten el listener activo</a:t>
            </a:r>
          </a:p>
          <a:p>
            <a:pPr>
              <a:spcAft>
                <a:spcPts val="600"/>
              </a:spcAft>
            </a:pPr>
            <a:r>
              <a:rPr sz="1500">
                <a:solidFill>
                  <a:srgbClr val="22282E"/>
                </a:solidFill>
              </a:rPr>
              <a:t>•  Tarea no corre onlogon — Trigger o usuario incorrectos; revisa con schtasks /query /v</a:t>
            </a:r>
          </a:p>
          <a:p>
            <a:pPr>
              <a:spcAft>
                <a:spcPts val="600"/>
              </a:spcAft>
            </a:pPr>
            <a:r>
              <a:rPr sz="1500">
                <a:solidFill>
                  <a:srgbClr val="22282E"/>
                </a:solidFill>
              </a:rPr>
              <a:t>•  Olvidas limpiar un artefacto — Sin cleanup log; documenta SIEMPRE cada cambio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¿Por qué demostrar persistencia en un pentest?</a:t>
            </a:r>
          </a:p>
          <a:p>
            <a:pPr>
              <a:spcAft>
                <a:spcPts val="600"/>
              </a:spcAft>
            </a:pPr>
            <a:r>
              <a:rPr sz="1500">
                <a:solidFill>
                  <a:srgbClr val="22282E"/>
                </a:solidFill>
              </a:rPr>
              <a:t>•  Porque muestra al cliente el impacto real: un atacante no solo entra, se queda. Ayuda a justificar inversiones en detección y respuesta. Pero se hace de forma controlada y reversible.</a:t>
            </a:r>
          </a:p>
          <a:p>
            <a:pPr>
              <a:spcAft>
                <a:spcPts val="600"/>
              </a:spcAft>
            </a:pPr>
            <a:r>
              <a:rPr sz="1500">
                <a:solidFill>
                  <a:srgbClr val="22282E"/>
                </a:solidFill>
              </a:rPr>
              <a:t>•  ❓ ¿Cuál es la técnica de persistencia más común?</a:t>
            </a:r>
          </a:p>
          <a:p>
            <a:pPr>
              <a:spcAft>
                <a:spcPts val="600"/>
              </a:spcAft>
            </a:pPr>
            <a:r>
              <a:rPr sz="1500">
                <a:solidFill>
                  <a:srgbClr val="22282E"/>
                </a:solidFill>
              </a:rPr>
              <a:t>•  En Windows, las Run keys y las tareas programadas; en Linux, cron y claves SSH. Son fáciles de implementar y, si no se monitorizan, pasan desapercibidas.</a:t>
            </a:r>
          </a:p>
          <a:p>
            <a:pPr>
              <a:spcAft>
                <a:spcPts val="600"/>
              </a:spcAft>
            </a:pPr>
            <a:r>
              <a:rPr sz="1500">
                <a:solidFill>
                  <a:srgbClr val="22282E"/>
                </a:solidFill>
              </a:rPr>
              <a:t>•  ❓ ¿Qué es una persistencia "fileless"?</a:t>
            </a:r>
          </a:p>
          <a:p>
            <a:pPr>
              <a:spcAft>
                <a:spcPts val="600"/>
              </a:spcAft>
            </a:pPr>
            <a:r>
              <a:rPr sz="1500">
                <a:solidFill>
                  <a:srgbClr val="22282E"/>
                </a:solidFill>
              </a:rPr>
              <a:t>•  Una que no deja archivos en disco, como las suscripciones a eventos WMI o el uso del registro para almacenar payloads. Son más difíciles de detectar por antivirus tradicionales.</a:t>
            </a:r>
          </a:p>
          <a:p>
            <a:pPr>
              <a:spcAft>
                <a:spcPts val="600"/>
              </a:spcAft>
            </a:pPr>
            <a:r>
              <a:rPr sz="1500">
                <a:solidFill>
                  <a:srgbClr val="22282E"/>
                </a:solidFill>
              </a:rPr>
              <a:t>•  ❓ ¿Qué pasa si olvido limpiar una persistencia?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Kim, P. The Hacker Playbook 3 (2018).</a:t>
            </a:r>
          </a:p>
          <a:p>
            <a:pPr>
              <a:spcAft>
                <a:spcPts val="600"/>
              </a:spcAft>
            </a:pPr>
            <a:r>
              <a:rPr sz="1500">
                <a:solidFill>
                  <a:srgbClr val="22282E"/>
                </a:solidFill>
              </a:rPr>
              <a:t>•  MITRE ATT&amp;CK — TA0003 Persistence — &lt;https://attack.mitre.org/tactics/TA0003/&gt;</a:t>
            </a:r>
          </a:p>
          <a:p>
            <a:pPr>
              <a:spcAft>
                <a:spcPts val="600"/>
              </a:spcAft>
            </a:pPr>
            <a:r>
              <a:rPr sz="1500">
                <a:solidFill>
                  <a:srgbClr val="22282E"/>
                </a:solidFill>
              </a:rPr>
              <a:t>•  MITRE ATT&amp;CK — T1547 Boot or Logon Autostart — &lt;https://attack.mitre.org/techniques/T1547/&gt;</a:t>
            </a:r>
          </a:p>
          <a:p>
            <a:pPr>
              <a:spcAft>
                <a:spcPts val="600"/>
              </a:spcAft>
            </a:pPr>
            <a:r>
              <a:rPr sz="1500">
                <a:solidFill>
                  <a:srgbClr val="22282E"/>
                </a:solidFill>
              </a:rPr>
              <a:t>•  Microsoft — Autoruns (Sysinternals) — &lt;https://learn.microsoft.com/sysinternals/downloads/autoruns&gt;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