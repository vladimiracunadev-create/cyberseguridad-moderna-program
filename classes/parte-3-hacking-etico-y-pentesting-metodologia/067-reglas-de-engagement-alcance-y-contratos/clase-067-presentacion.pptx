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067 — Reglas de engagement, alcance y contratos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preparar la fase legal y contractual de un pentest: reglas de engagement (RoE), definición precisa del alcance, autorizaciones y documentos que protegen tanto al cliente como al probador. Sin estos papeles, un pentest es indistinguible de un delito.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unas reglas de engagement con horarios, técnicas permitidas y prohibidas.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Delimitar un alcance con activos incluidos y explícitamente excluidos.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los documentos legales necesarios: autorización, NDA, SOW y "get out of jail" letter.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los contactos de emergencia y el procedimiento de escalado ante incidentes.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las implicaciones legales (leyes de intrusión informática) de operar fuera de alcance.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Autorización escrita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Alcance: incluido vs. excluido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Reglas de engagement (RoE)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SOW y NDA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Contactos de emergencia y escalado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Marco legal (delitos informáticos)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Manejo de datos sensibles hallados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Reglas de engagement (RoE): documento que fija cómo, cuándo y con qué límites se realiza el test. Característica clave: incluye ventanas horarias, técnicas prohibidas (DoS, ingeniería social) y activos frágiles.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Statement of Work (SOW): contrato que describe el servicio, entregables, plazos y precio. Característica clave: es la referencia contractual ante disputas.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NDA (acuerdo de confidencialidad): obliga a no divulgar la información hallada. Característica clave: protege datos del cliente incluso tras terminar el trabajo.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Authorization letter ("get out of jail"): carta firmada por alguien con autoridad que autoriza explícitamente las pruebas. Característica clave: se lleva encima durante el test físico o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 (scope): conjunto de activos autorizados. Característica clave: se expresa con precisión (CIDR, dominios, cuentas) y con exclusiones.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Contacto de emergencia: persona del cliente disponible durante la ventana. Característica clave: permite detener el test o coordinar ante un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Seguro de responsabilidad civil profesional: póliza que cubre daños accidentales causados durante el pentest. Característica clave: muchas empresas exigen su comprobante antes de firmar el contrato.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clase produce documentos, no ataques. Prepara plantillas de: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 de pruebas firmada por un responsable con capacidad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RoE con tabla de técnicas permitidas/prohibidas.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SOW y NDA (puedes basarte en plantillas públicas del SANS o de despachos, adaptadas por un abogado).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formulario de "hallazgo crítico" para escalar de inmediato (por ejemplo, credenciales de dominio expuestas).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política interna de retención de evidencia: cuánto tiempo se conservan capturas y credenciales tras el cierre y cómo se destruyen de forma segura.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Retoma el caso ficticio de la clase 066 (pyme de e-commerce).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carta de autorización de 5–8 líneas: quién autoriza, qué autoriza, sobre qué activos y en qué fechas.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tabla de RoE con al menos 6 técnicas, marcando permitido/prohibido (ej.: escaneo de puertos = permitido; DoS = prohibido; ingeniería social telefónica = prohibido).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alcance en notación CIDR y dominios, con una sección "Fuera de alcance" que incluya al menos un sistema de terceros (proveedor de pagos).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procedimiento de escalado: qué haces si encuentras una brecha ya explotada por un tercero.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una cláusula de manejo de datos: cómo tratas capturas que contengan datos personales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cláusula de retención y destrucción de evidencia: plazo máximo de conservación tras el cierre y método de borrado seguro.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cinco técnicas que casi siempre deberían quedar prohibidas por defecto y explica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cláusula de ventana horaria para un e-commerce que no puede caerse en horario comercial.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SOW y NDA con un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harías si durante el test descubres evidencia de un compromiso real y activo? Escribe el paso a paso.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formulario de hallazgo crítico con los campos mínimos.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cláusula de seguro de responsabilidad civil que cubra un incidente accidental durante el test (por ejemplo, una caída de servicio).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por qué la autorización debe firmarla alguien con autoridad y no cualquier empleado.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Ensambla un paquete de pre-engagement de dos páginas para tu caso: autorización, RoE (tabla), alcance con exclusiones y procedimiento de escalado.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paquete incluye una autorización con firmante identificado, una tabla de RoE con técnicas prohibidas explícitas, un alcance con al menos una exclusión de terceros y un procedimiento de escalado accionable. Un tercero podría ejecutar el test sin ambigüedad legal.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"Escaneé una IP que no era del cliente" — Alcance mal delimitado; usa CIDR exactos y valida propiedad antes de tocar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Cliente reclama daños por un servicio caído — No se prohibió DoS en el RoE; añádelo siempre por defecto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a quién llamar cuando algo falla — Falta contacto de emergencia; exige uno disponible en la ventana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personales reales en tus notas — Falta cláusula de manejo; anonimiza y borra según lo pactado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"Firmó el becario" — Autorización sin autoridad legal; exige firmante con capacidad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del test sigue en un disco años después — No hubo cláusula de retención; define plazo de destrucción y verifícalo al cierre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Disputa sobre quién autorizó qué técnica — No se firmó una cadena de custodia de decisiones; registra por escrito cada cambio de alcance durante el test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¿Vale un correo diciendo "adelante" como autorización?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es recomendable. Un correo puede servir de indicio, pero necesitas una autorización formal firmada por alguien con capacidad para comprometer a la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pasa si un activo en el alcance en realidad pertenece a un proveedor cloud?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Muchos proveedores exigen su propia autorización para pruebas. Verifica las políticas del proveedor (AWS, Azure, GCP) antes de escanear infraestructura alojada.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hacer ingeniería social si no está en el RoE?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Cualquier técnica no autorizada explícitamente está prohibida. La ingeniería social suele requerir cláusulas y consentimientos adicionales.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reportar de inmediato un hallazgo crítico o esperar al informe final?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 — Pre-engagement Interactions — &lt;http://www.pentest-standard.org/index.php/Pre-engagement&gt;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Weidman, G. Penetration Testing, cap. 1 (No Starch Press, 2014).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— Rules of Engagement worksheet — &lt;https://www.sans.org&gt;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800-115 — &lt;https://csrc.nist.gov/publications/detail/sp/800-115/final&gt;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OSSTMM 3 (ISECOM), sección de reglas de compromiso — &lt;https://www.isecom.org/OSSTMM.3.pdf&gt;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referencia para acotar técnicas explícitamente permitidas en el RoE — &lt;https://attack.mitre.org&gt;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