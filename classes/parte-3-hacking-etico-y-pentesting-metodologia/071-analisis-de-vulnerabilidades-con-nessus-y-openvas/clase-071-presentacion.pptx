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194560"/>
            <a:ext cx="8046720" cy="2286000"/>
          </a:xfrm>
          <a:prstGeom prst="rect">
            <a:avLst/>
          </a:prstGeom>
          <a:noFill/>
        </p:spPr>
        <p:txBody>
          <a:bodyPr wrap="square">
            <a:spAutoFit/>
          </a:bodyPr>
          <a:lstStyle/>
          <a:p>
            <a:r>
              <a:rPr sz="3200" b="1">
                <a:solidFill>
                  <a:srgbClr val="0B3D2E"/>
                </a:solidFill>
              </a:rPr>
              <a:t>Clase 071 — Análisis de vulnerabilidades con Nessus y OpenVAS</a:t>
            </a:r>
          </a:p>
          <a:p>
            <a:r>
              <a:rPr sz="1600">
                <a:solidFill>
                  <a:srgbClr val="2E8B57"/>
                </a:solidFill>
              </a:rPr>
              <a:t>parte 3 hacking etico y pentesting metodologia</a:t>
            </a:r>
          </a:p>
          <a:p>
            <a:r>
              <a:rPr sz="1200">
                <a:solidFill>
                  <a:srgbClr val="22282E"/>
                </a:solidFill>
              </a:rPr>
              <a:t>Programa de Ciberseguridad Moderna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Objetivo</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El alumno aprenderá a operar dos escáneres de vulnerabilidades de clase empresarial —Nessus (edición Essentials) y OpenVAS/Greenbone Vulnerability Management (GVM)— para descubrir, clasificar y priorizar debilidades en sistemas de un laboratorio controlado. Al terminar la clase, el alumno entenderá cómo se construye una política de escaneo, cómo se interpreta un hallazgo con su puntaje CVSS y por qué el analista humano sigue siendo indispensable para separar el ruido de los riesgos reales.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Resultados de aprendizaje</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Al finalizar, el alumno podrá:</a:t>
            </a:r>
          </a:p>
          <a:p>
            <a:pPr>
              <a:spcAft>
                <a:spcPts val="600"/>
              </a:spcAft>
            </a:pPr>
            <a:r>
              <a:rPr sz="1500">
                <a:solidFill>
                  <a:srgbClr val="22282E"/>
                </a:solidFill>
              </a:rPr>
              <a:t>•  Instalar y configurar Nessus Essentials y OpenVAS/GVM en un entorno de laboratorio aislado.</a:t>
            </a:r>
          </a:p>
          <a:p>
            <a:pPr>
              <a:spcAft>
                <a:spcPts val="600"/>
              </a:spcAft>
            </a:pPr>
            <a:r>
              <a:rPr sz="1500">
                <a:solidFill>
                  <a:srgbClr val="22282E"/>
                </a:solidFill>
              </a:rPr>
              <a:t>•  Crear políticas de escaneo ajustadas al alcance (scope) definido en un contrato de pentesting.</a:t>
            </a:r>
          </a:p>
          <a:p>
            <a:pPr>
              <a:spcAft>
                <a:spcPts val="600"/>
              </a:spcAft>
            </a:pPr>
            <a:r>
              <a:rPr sz="1500">
                <a:solidFill>
                  <a:srgbClr val="22282E"/>
                </a:solidFill>
              </a:rPr>
              <a:t>•  Ejecutar escaneos de descubrimiento y de vulnerabilidades autenticados y no autenticados.</a:t>
            </a:r>
          </a:p>
          <a:p>
            <a:pPr>
              <a:spcAft>
                <a:spcPts val="600"/>
              </a:spcAft>
            </a:pPr>
            <a:r>
              <a:rPr sz="1500">
                <a:solidFill>
                  <a:srgbClr val="22282E"/>
                </a:solidFill>
              </a:rPr>
              <a:t>•  Interpretar el puntaje CVSS v3.1 (base, temporal, ambiental) de un hallazgo.</a:t>
            </a:r>
          </a:p>
          <a:p>
            <a:pPr>
              <a:spcAft>
                <a:spcPts val="600"/>
              </a:spcAft>
            </a:pPr>
            <a:r>
              <a:rPr sz="1500">
                <a:solidFill>
                  <a:srgbClr val="22282E"/>
                </a:solidFill>
              </a:rPr>
              <a:t>•  Correlacionar un hallazgo del escáner con su entrada correspondiente en CVE/NVD.</a:t>
            </a:r>
          </a:p>
          <a:p>
            <a:pPr>
              <a:spcAft>
                <a:spcPts val="600"/>
              </a:spcAft>
            </a:pPr>
            <a:r>
              <a:rPr sz="1500">
                <a:solidFill>
                  <a:srgbClr val="22282E"/>
                </a:solidFill>
              </a:rPr>
              <a:t>•  Distinguir falsos positivos de riesgos reales y priorizar la remediación según impacto de negocio.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Temas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1 — Arquitectura de un escáner de vulnerabilidades</a:t>
            </a:r>
          </a:p>
          <a:p>
            <a:pPr>
              <a:spcAft>
                <a:spcPts val="600"/>
              </a:spcAft>
            </a:pPr>
            <a:r>
              <a:rPr sz="1500">
                <a:solidFill>
                  <a:srgbClr val="22282E"/>
                </a:solidFill>
              </a:rPr>
              <a:t>•  2 — Nessus Essentials: instalación y activation code</a:t>
            </a:r>
          </a:p>
          <a:p>
            <a:pPr>
              <a:spcAft>
                <a:spcPts val="600"/>
              </a:spcAft>
            </a:pPr>
            <a:r>
              <a:rPr sz="1500">
                <a:solidFill>
                  <a:srgbClr val="22282E"/>
                </a:solidFill>
              </a:rPr>
              <a:t>•  3 — OpenVAS/Greenbone (GVM): arquitectura de contenedores</a:t>
            </a:r>
          </a:p>
          <a:p>
            <a:pPr>
              <a:spcAft>
                <a:spcPts val="600"/>
              </a:spcAft>
            </a:pPr>
            <a:r>
              <a:rPr sz="1500">
                <a:solidFill>
                  <a:srgbClr val="22282E"/>
                </a:solidFill>
              </a:rPr>
              <a:t>•  4 — Políticas de escaneo y templates</a:t>
            </a:r>
          </a:p>
          <a:p>
            <a:pPr>
              <a:spcAft>
                <a:spcPts val="600"/>
              </a:spcAft>
            </a:pPr>
            <a:r>
              <a:rPr sz="1500">
                <a:solidFill>
                  <a:srgbClr val="22282E"/>
                </a:solidFill>
              </a:rPr>
              <a:t>•  5 — Escaneo autenticado vs no autenticado</a:t>
            </a:r>
          </a:p>
          <a:p>
            <a:pPr>
              <a:spcAft>
                <a:spcPts val="600"/>
              </a:spcAft>
            </a:pPr>
            <a:r>
              <a:rPr sz="1500">
                <a:solidFill>
                  <a:srgbClr val="22282E"/>
                </a:solidFill>
              </a:rPr>
              <a:t>•  6 — CVSS v3.1: vectores base, temporal y ambiental</a:t>
            </a:r>
          </a:p>
          <a:p>
            <a:pPr>
              <a:spcAft>
                <a:spcPts val="600"/>
              </a:spcAft>
            </a:pPr>
            <a:r>
              <a:rPr sz="1500">
                <a:solidFill>
                  <a:srgbClr val="22282E"/>
                </a:solidFill>
              </a:rPr>
              <a:t>•  7 — Correlación con CVE, NVD y CPE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Definiciones y características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Nessus (Tenable): escáner de vulnerabilidades comercial con motor de plugins (NASL - Nessus Attack Scripting Language). Característica clave: base de firmas actualizada diariamente y detección de configuraciones erróneas además de CVEs.</a:t>
            </a:r>
          </a:p>
          <a:p>
            <a:pPr>
              <a:spcAft>
                <a:spcPts val="600"/>
              </a:spcAft>
            </a:pPr>
            <a:r>
              <a:rPr sz="1500">
                <a:solidFill>
                  <a:srgbClr val="22282E"/>
                </a:solidFill>
              </a:rPr>
              <a:t>•  OpenVAS / GVM (Greenbone Vulnerability Management): suite open source que sucede al proyecto original OpenVAS; usa NVTs (Network Vulnerability Tests) en lugar de plugins propietarios. Característica clave: feed comunitario (Greenbone Community Feed) actualizado a diario, totalmente auditable.</a:t>
            </a:r>
          </a:p>
          <a:p>
            <a:pPr>
              <a:spcAft>
                <a:spcPts val="600"/>
              </a:spcAft>
            </a:pPr>
            <a:r>
              <a:rPr sz="1500">
                <a:solidFill>
                  <a:srgbClr val="22282E"/>
                </a:solidFill>
              </a:rPr>
              <a:t>•  CVSS (Common Vulnerability Scoring System): estándar del FIRST (Forum of Incident Response and Security Teams) para puntuar severidad de 0.0 a 10.0. Característica clave: se compone de métricas base (inmutables), temporales (cambian con el tiempo, ej. disponibilidad de exploit) y ambientales (ajustadas al contexto del activo).</a:t>
            </a:r>
          </a:p>
          <a:p>
            <a:pPr>
              <a:spcAft>
                <a:spcPts val="600"/>
              </a:spcAft>
            </a:pPr>
            <a:r>
              <a:rPr sz="1500">
                <a:solidFill>
                  <a:srgbClr val="22282E"/>
                </a:solidFill>
              </a:rPr>
              <a:t>•  CVE (Common Vulnerabilities and Exposures): identificador único y estandarizado (ej. CVE-2024-XXXX) mantenido por MITRE para una vulnerabilidad específica. Característica clave: es un identificador, no una puntuación de severidad.</a:t>
            </a:r>
          </a:p>
          <a:p>
            <a:pPr>
              <a:spcAft>
                <a:spcPts val="600"/>
              </a:spcAft>
            </a:pPr>
            <a:r>
              <a:rPr sz="1500">
                <a:solidFill>
                  <a:srgbClr val="22282E"/>
                </a:solidFill>
              </a:rPr>
              <a:t>•  NVD (National Vulnerability Database): base de datos del NIST que enriquece cada CVE con puntaje CVSS, CWE y referencias. Característica clave: es la fuente "oficial" que los escáneres consultan para enriquecer sus plugins.</a:t>
            </a:r>
          </a:p>
          <a:p>
            <a:pPr>
              <a:spcAft>
                <a:spcPts val="600"/>
              </a:spcAft>
            </a:pPr>
            <a:r>
              <a:rPr sz="1500">
                <a:solidFill>
                  <a:srgbClr val="22282E"/>
                </a:solidFill>
              </a:rPr>
              <a:t>•  EPSS (Exploit Prediction Scoring System): puntaje de FIRST que estima la probabilidad de que un CVE sea explotado en los próximos 30 días. Característica clave: complementa a CVSS porque mide probabilidad real de explotación, no solo severidad técnica.</a:t>
            </a:r>
          </a:p>
          <a:p>
            <a:pPr>
              <a:spcAft>
                <a:spcPts val="600"/>
              </a:spcAft>
            </a:pPr>
            <a:r>
              <a:rPr sz="1500">
                <a:solidFill>
                  <a:srgbClr val="22282E"/>
                </a:solidFill>
              </a:rPr>
              <a:t>•  Falso positivo: hallazgo reportado por el escáner que no representa un riesgo real (banner mal interpretado, versión backportada con parche aplicado). Característica clave: requiere verificación manual (banner grabbing, prueba de concepto) antes de reportarlo al cliente.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Herramientas y preparación</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Máquina atacante: Kali Linux o Parrot OS (VM), 4 GB RAM mínimo, red interna tipo "host-only" o "internal network" en VirtualBox/VMware — nunca conectada directamente a redes de producción o internet sin control.</a:t>
            </a:r>
          </a:p>
          <a:p>
            <a:pPr>
              <a:spcAft>
                <a:spcPts val="600"/>
              </a:spcAft>
            </a:pPr>
            <a:r>
              <a:rPr sz="1500">
                <a:solidFill>
                  <a:srgbClr val="22282E"/>
                </a:solidFill>
              </a:rPr>
              <a:t>•  Nessus Essentials: descargar desde tenable.com/products/nessus/nessus-essentials, registrar activation code gratuito (email), instalar .deb/.rpm según distro:</a:t>
            </a:r>
          </a:p>
          <a:p>
            <a:pPr>
              <a:spcAft>
                <a:spcPts val="600"/>
              </a:spcAft>
            </a:pPr>
            <a:r>
              <a:rPr sz="1500">
                <a:solidFill>
                  <a:srgbClr val="22282E"/>
                </a:solidFill>
              </a:rPr>
              <a:t>•  sudo dpkg -i Nessus-.deb</a:t>
            </a:r>
          </a:p>
          <a:p>
            <a:pPr>
              <a:spcAft>
                <a:spcPts val="600"/>
              </a:spcAft>
            </a:pPr>
            <a:r>
              <a:rPr sz="1500">
                <a:solidFill>
                  <a:srgbClr val="22282E"/>
                </a:solidFill>
              </a:rPr>
              <a:t>•  sudo systemctl start nessusd</a:t>
            </a:r>
          </a:p>
          <a:p>
            <a:pPr>
              <a:spcAft>
                <a:spcPts val="600"/>
              </a:spcAft>
            </a:pPr>
            <a:r>
              <a:rPr sz="1500">
                <a:solidFill>
                  <a:srgbClr val="22282E"/>
                </a:solidFill>
              </a:rPr>
              <a:t>•  OpenVAS/GVM: en Kali puede instalarse nativo o vía Docker. Nativo:</a:t>
            </a:r>
          </a:p>
          <a:p>
            <a:pPr>
              <a:spcAft>
                <a:spcPts val="600"/>
              </a:spcAft>
            </a:pPr>
            <a:r>
              <a:rPr sz="1500">
                <a:solidFill>
                  <a:srgbClr val="22282E"/>
                </a:solidFill>
              </a:rPr>
              <a:t>•  sudo apt update &amp;&amp; sudo apt install -y openvas</a:t>
            </a:r>
          </a:p>
          <a:p>
            <a:pPr>
              <a:spcAft>
                <a:spcPts val="600"/>
              </a:spcAft>
            </a:pPr>
            <a:r>
              <a:rPr sz="1500">
                <a:solidFill>
                  <a:srgbClr val="22282E"/>
                </a:solidFill>
              </a:rPr>
              <a:t>•  sudo gvm-setup</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Laboratorio guiado</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Levantar la red interna en el hipervisor y confirmar que Kali y Metasploitable2 están en el mismo segmento sin salida a producción: ip a en Kali, ping &lt;IP-metasploitable&gt;.</a:t>
            </a:r>
          </a:p>
          <a:p>
            <a:pPr>
              <a:spcAft>
                <a:spcPts val="600"/>
              </a:spcAft>
            </a:pPr>
            <a:r>
              <a:rPr sz="1500">
                <a:solidFill>
                  <a:srgbClr val="22282E"/>
                </a:solidFill>
              </a:rPr>
              <a:t>•  Iniciar el servicio de Nessus (sudo systemctl start nessusd) y acceder a https://localhost:8834, completando el asistente con el activation code.</a:t>
            </a:r>
          </a:p>
          <a:p>
            <a:pPr>
              <a:spcAft>
                <a:spcPts val="600"/>
              </a:spcAft>
            </a:pPr>
            <a:r>
              <a:rPr sz="1500">
                <a:solidFill>
                  <a:srgbClr val="22282E"/>
                </a:solidFill>
              </a:rPr>
              <a:t>•  Crear un nuevo escaneo: New Scan → Basic Network Scan, definir Name: Lab-Metasploitable2, Targets: 192.168.56.101 (IP de la víctima).</a:t>
            </a:r>
          </a:p>
          <a:p>
            <a:pPr>
              <a:spcAft>
                <a:spcPts val="600"/>
              </a:spcAft>
            </a:pPr>
            <a:r>
              <a:rPr sz="1500">
                <a:solidFill>
                  <a:srgbClr val="22282E"/>
                </a:solidFill>
              </a:rPr>
              <a:t>•  Configurar credenciales SSH en la pestaña Credentials para habilitar escaneo autenticado (usuario msfadmin, contraseña msfadmin — credenciales por defecto documentadas de Metasploitable2).</a:t>
            </a:r>
          </a:p>
          <a:p>
            <a:pPr>
              <a:spcAft>
                <a:spcPts val="600"/>
              </a:spcAft>
            </a:pPr>
            <a:r>
              <a:rPr sz="1500">
                <a:solidFill>
                  <a:srgbClr val="22282E"/>
                </a:solidFill>
              </a:rPr>
              <a:t>•  Lanzar el escaneo y esperar finalización; revisar el resumen por severidad (Critical/High/Medium/Low/Info).</a:t>
            </a:r>
          </a:p>
          <a:p>
            <a:pPr>
              <a:spcAft>
                <a:spcPts val="600"/>
              </a:spcAft>
            </a:pPr>
            <a:r>
              <a:rPr sz="1500">
                <a:solidFill>
                  <a:srgbClr val="22282E"/>
                </a:solidFill>
              </a:rPr>
              <a:t>•  Abrir un hallazgo "Critical", leer el Synopsis, Description, Solution y el vector CVSS asociado (ej. AV:N/AC:L/PR:N/UI:N/S:U/C:H/I:H/A:H).</a:t>
            </a:r>
          </a:p>
          <a:p>
            <a:pPr>
              <a:spcAft>
                <a:spcPts val="600"/>
              </a:spcAft>
            </a:pPr>
            <a:r>
              <a:rPr sz="1500">
                <a:solidFill>
                  <a:srgbClr val="22282E"/>
                </a:solidFill>
              </a:rPr>
              <a:t>•  Levantar GVM (sudo gvm-start o docker-compose up -d según la instalación) y esperar sincronización del feed comunitario (puede tardar horas la primera vez).</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Ejercicios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Instalar Nessus Essentials y realizar un escaneo de descubrimiento (host discovery) sobre el rango 192.168.56.0/24.</a:t>
            </a:r>
          </a:p>
          <a:p>
            <a:pPr>
              <a:spcAft>
                <a:spcPts val="600"/>
              </a:spcAft>
            </a:pPr>
            <a:r>
              <a:rPr sz="1500">
                <a:solidFill>
                  <a:srgbClr val="22282E"/>
                </a:solidFill>
              </a:rPr>
              <a:t>•  Configurar un escaneo autenticado completo contra Metasploitable2 y exportar el reporte en formato PDF/HTML.</a:t>
            </a:r>
          </a:p>
          <a:p>
            <a:pPr>
              <a:spcAft>
                <a:spcPts val="600"/>
              </a:spcAft>
            </a:pPr>
            <a:r>
              <a:rPr sz="1500">
                <a:solidFill>
                  <a:srgbClr val="22282E"/>
                </a:solidFill>
              </a:rPr>
              <a:t>•  Instalar GVM y ejecutar una tarea "Full and fast" contra la misma víctima, comparando tiempos de ejecución con Nessus.</a:t>
            </a:r>
          </a:p>
          <a:p>
            <a:pPr>
              <a:spcAft>
                <a:spcPts val="600"/>
              </a:spcAft>
            </a:pPr>
            <a:r>
              <a:rPr sz="1500">
                <a:solidFill>
                  <a:srgbClr val="22282E"/>
                </a:solidFill>
              </a:rPr>
              <a:t>•  Tomar los cinco hallazgos "Critical" de Nessus, buscar su CVE en NVD y documentar el vector CVSS y el EPSS de cada uno.</a:t>
            </a:r>
          </a:p>
          <a:p>
            <a:pPr>
              <a:spcAft>
                <a:spcPts val="600"/>
              </a:spcAft>
            </a:pPr>
            <a:r>
              <a:rPr sz="1500">
                <a:solidFill>
                  <a:srgbClr val="22282E"/>
                </a:solidFill>
              </a:rPr>
              <a:t>•  Identificar al menos un falso positivo en los resultados y justificar por escrito por qué no representa riesgo real.</a:t>
            </a:r>
          </a:p>
          <a:p>
            <a:pPr>
              <a:spcAft>
                <a:spcPts val="600"/>
              </a:spcAft>
            </a:pPr>
            <a:r>
              <a:rPr sz="1500">
                <a:solidFill>
                  <a:srgbClr val="22282E"/>
                </a:solidFill>
              </a:rPr>
              <a:t>•  Redactar una tabla de priorización de remediación (Critical → Info) considerando explotabilidad (EPSS), exposición e impacto de negocio simulado.</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Reto verificable</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Reto: Ejecutar escaneos autenticados con Nessus y GVM contra Metasploitable2 y producir un informe consolidado que incluya: (a) total de hallazgos por severidad de cada herramienta, (b) al menos 5 CVEs verificados manualmente en NVD con su vector CVSS y EPSS, y (c) una tabla de priorización con al menos 3 hallazgos marcados como falso positivo con justificación.</a:t>
            </a:r>
          </a:p>
          <a:p>
            <a:pPr>
              <a:spcAft>
                <a:spcPts val="600"/>
              </a:spcAft>
            </a:pPr>
            <a:r>
              <a:rPr sz="1500">
                <a:solidFill>
                  <a:srgbClr val="22282E"/>
                </a:solidFill>
              </a:rPr>
              <a:t>•  Criterio de aceptación: El informe debe listar como mínimo un hallazgo "Critical" (ej. vsftpd 2.3.4 backdoor, CVE-2011-2523) detectado por ambas herramientas, con su vector CVSS transcrito correctamente y una recomendación de remediación coherente con la solución sugerida por el escáner.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Errores comunes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Nessus queda en "Activating..." indefinidamente — Falta conexión a internet para validar el activation code la primera vez; verificar DNS/proxy y reintentar</a:t>
            </a:r>
          </a:p>
          <a:p>
            <a:pPr>
              <a:spcAft>
                <a:spcPts val="600"/>
              </a:spcAft>
            </a:pPr>
            <a:r>
              <a:rPr sz="1500">
                <a:solidFill>
                  <a:srgbClr val="22282E"/>
                </a:solidFill>
              </a:rPr>
              <a:t>•  GVM: "No suitable feed found" o tarea nunca inicia — El feed comunitario aún no terminó de sincronizar; esperar con sudo greenbone-feed-sync y revisar logs de notus-scanner</a:t>
            </a:r>
          </a:p>
          <a:p>
            <a:pPr>
              <a:spcAft>
                <a:spcPts val="600"/>
              </a:spcAft>
            </a:pPr>
            <a:r>
              <a:rPr sz="1500">
                <a:solidFill>
                  <a:srgbClr val="22282E"/>
                </a:solidFill>
              </a:rPr>
              <a:t>•  Escaneo autenticado marcado como "Credentialed checks: no" — Credenciales SSH incorrectas o servicio SSH deshabilitado en el target; validar con ssh msfadmin@&lt;IP&gt; manualmente</a:t>
            </a:r>
          </a:p>
          <a:p>
            <a:pPr>
              <a:spcAft>
                <a:spcPts val="600"/>
              </a:spcAft>
            </a:pPr>
            <a:r>
              <a:rPr sz="1500">
                <a:solidFill>
                  <a:srgbClr val="22282E"/>
                </a:solidFill>
              </a:rPr>
              <a:t>•  El escáner tumba un servicio de la víctima — Política demasiado agresiva (plugins de DoS habilitados); usar plantilla "Basic Network Scan" sin plugins destructivos en labs frágiles</a:t>
            </a:r>
          </a:p>
          <a:p>
            <a:pPr>
              <a:spcAft>
                <a:spcPts val="600"/>
              </a:spcAft>
            </a:pPr>
            <a:r>
              <a:rPr sz="1500">
                <a:solidFill>
                  <a:srgbClr val="22282E"/>
                </a:solidFill>
              </a:rPr>
              <a:t>•  Reporte lleno de "Info" sin hallazgos accionables — Escaneo no autenticado contra un host bien parchado externamente; complementar con escaneo autenticado y revisión manual de servicios</a:t>
            </a:r>
          </a:p>
          <a:p>
            <a:pPr>
              <a:spcAft>
                <a:spcPts val="600"/>
              </a:spcAft>
            </a:pPr>
            <a:r>
              <a:rPr sz="1500">
                <a:solidFill>
                  <a:srgbClr val="22282E"/>
                </a:solidFill>
              </a:rPr>
              <a:t>•  Discrepancia grande entre Nessus y GVM para el mismo host — Feeds de plugins/NVTs distintos y con distinta fecha de actualización; documentar la discrepancia en vez de descartarla sin análisis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Preguntas frecuentes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 ¿Es legal usar Nessus u OpenVAS contra cualquier IP que yo elija?</a:t>
            </a:r>
          </a:p>
          <a:p>
            <a:pPr>
              <a:spcAft>
                <a:spcPts val="600"/>
              </a:spcAft>
            </a:pPr>
            <a:r>
              <a:rPr sz="1500">
                <a:solidFill>
                  <a:srgbClr val="22282E"/>
                </a:solidFill>
              </a:rPr>
              <a:t>•  No. Solo es legal contra sistemas propios o con autorización explícita por escrito (contrato de pentesting con reglas de engagement). Escanear activos de terceros sin permiso puede constituir un delito informático incluso sin explotación posterior.</a:t>
            </a:r>
          </a:p>
          <a:p>
            <a:pPr>
              <a:spcAft>
                <a:spcPts val="600"/>
              </a:spcAft>
            </a:pPr>
            <a:r>
              <a:rPr sz="1500">
                <a:solidFill>
                  <a:srgbClr val="22282E"/>
                </a:solidFill>
              </a:rPr>
              <a:t>•  ❓ ¿Un escáner de vulnerabilidades reemplaza el pentest completo?</a:t>
            </a:r>
          </a:p>
          <a:p>
            <a:pPr>
              <a:spcAft>
                <a:spcPts val="600"/>
              </a:spcAft>
            </a:pPr>
            <a:r>
              <a:rPr sz="1500">
                <a:solidFill>
                  <a:srgbClr val="22282E"/>
                </a:solidFill>
              </a:rPr>
              <a:t>•  No. El escáner detecta vulnerabilidades conocidas por firma, pero no encadena ataques, no valida impacto real ni encuentra fallos de lógica de negocio. Es una herramienta dentro del proceso de pentest, no un sustituto.</a:t>
            </a:r>
          </a:p>
          <a:p>
            <a:pPr>
              <a:spcAft>
                <a:spcPts val="600"/>
              </a:spcAft>
            </a:pPr>
            <a:r>
              <a:rPr sz="1500">
                <a:solidFill>
                  <a:srgbClr val="22282E"/>
                </a:solidFill>
              </a:rPr>
              <a:t>•  ❓ ¿Un puntaje CVSS alto significa que debo remediar primero esa vulnerabilidad?</a:t>
            </a:r>
          </a:p>
          <a:p>
            <a:pPr>
              <a:spcAft>
                <a:spcPts val="600"/>
              </a:spcAft>
            </a:pPr>
            <a:r>
              <a:rPr sz="1500">
                <a:solidFill>
                  <a:srgbClr val="22282E"/>
                </a:solidFill>
              </a:rPr>
              <a:t>•  No necesariamente. CVSS base no considera si el activo es crítico para el negocio ni si el exploit está siendo usado activamente; para eso existen el vector temporal, el ambiental, EPSS y fuentes como CISA KEV.</a:t>
            </a:r>
          </a:p>
          <a:p>
            <a:pPr>
              <a:spcAft>
                <a:spcPts val="600"/>
              </a:spcAft>
            </a:pPr>
            <a:r>
              <a:rPr sz="1500">
                <a:solidFill>
                  <a:srgbClr val="22282E"/>
                </a:solidFill>
              </a:rPr>
              <a:t>•  ❓ ¿Nessus Essentials sirve para un pentest profesional real?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Referencias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Rapid7, documentación oficial de Metasploitable2/3: &lt;https://github.com/rapid7/metasploitable3&gt;</a:t>
            </a:r>
          </a:p>
          <a:p>
            <a:pPr>
              <a:spcAft>
                <a:spcPts val="600"/>
              </a:spcAft>
            </a:pPr>
            <a:r>
              <a:rPr sz="1500">
                <a:solidFill>
                  <a:srgbClr val="22282E"/>
                </a:solidFill>
              </a:rPr>
              <a:t>•  Tenable, Nessus Essentials: &lt;https://www.tenable.com/products/nessus/nessus-essentials&gt;</a:t>
            </a:r>
          </a:p>
          <a:p>
            <a:pPr>
              <a:spcAft>
                <a:spcPts val="600"/>
              </a:spcAft>
            </a:pPr>
            <a:r>
              <a:rPr sz="1500">
                <a:solidFill>
                  <a:srgbClr val="22282E"/>
                </a:solidFill>
              </a:rPr>
              <a:t>•  Greenbone Networks, documentación de GVM: &lt;https://greenbone.github.io/docs/&gt;</a:t>
            </a:r>
          </a:p>
          <a:p>
            <a:pPr>
              <a:spcAft>
                <a:spcPts val="600"/>
              </a:spcAft>
            </a:pPr>
            <a:r>
              <a:rPr sz="1500">
                <a:solidFill>
                  <a:srgbClr val="22282E"/>
                </a:solidFill>
              </a:rPr>
              <a:t>•  FIRST, CVSS v3.1 Specification Document y EPSS: &lt;https://www.first.org/cvss/v3.1/specification-document&gt; · &lt;https://www.first.org/epss/&gt;</a:t>
            </a:r>
          </a:p>
          <a:p>
            <a:pPr>
              <a:spcAft>
                <a:spcPts val="600"/>
              </a:spcAft>
            </a:pPr>
            <a:r>
              <a:rPr sz="1500">
                <a:solidFill>
                  <a:srgbClr val="22282E"/>
                </a:solidFill>
              </a:rPr>
              <a:t>•  NIST National Vulnerability Database: &lt;https://nvd.nist.gov&gt;</a:t>
            </a:r>
          </a:p>
          <a:p>
            <a:pPr>
              <a:spcAft>
                <a:spcPts val="600"/>
              </a:spcAft>
            </a:pPr>
            <a:r>
              <a:rPr sz="1500">
                <a:solidFill>
                  <a:srgbClr val="22282E"/>
                </a:solidFill>
              </a:rPr>
              <a:t>•  PTES (Penetration Testing Execution Standard), fase Vulnerability Analysis: &lt;http://www.pentest-standard.org&gt;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