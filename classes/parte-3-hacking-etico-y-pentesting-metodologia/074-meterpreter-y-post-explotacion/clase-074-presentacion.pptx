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074 — Meterpreter y post-explotación</a:t>
            </a:r>
          </a:p>
          <a:p>
            <a:r>
              <a:rPr sz="1600">
                <a:solidFill>
                  <a:srgbClr val="2E8B57"/>
                </a:solidFill>
              </a:rPr>
              <a:t>parte 3 hacking etico y pentesting metodologia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dominará Meterpreter, el payload avanzado de Metasploit que se ejecuta en memoria, y las tareas fundamentales de post-explotación: reconocimiento del sistema comprometido, migración de proceso, recolección de credenciales y uso de módulos post para automatizar enumeración interna. La post-explotación es la fase donde se demuestra el impacto real de una vulnerabilidad ante un cliente o evaluador.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Operar los comandos esenciales de Meterpreter sobre sistema de archivos, procesos y red.</a:t>
            </a:r>
          </a:p>
          <a:p>
            <a:pPr>
              <a:spcAft>
                <a:spcPts val="600"/>
              </a:spcAft>
            </a:pPr>
            <a:r>
              <a:rPr sz="1500">
                <a:solidFill>
                  <a:srgbClr val="22282E"/>
                </a:solidFill>
              </a:rPr>
              <a:t>•  Migrar Meterpreter a un proceso más estable para sobrevivir al cierre del proceso explotado originalmente.</a:t>
            </a:r>
          </a:p>
          <a:p>
            <a:pPr>
              <a:spcAft>
                <a:spcPts val="600"/>
              </a:spcAft>
            </a:pPr>
            <a:r>
              <a:rPr sz="1500">
                <a:solidFill>
                  <a:srgbClr val="22282E"/>
                </a:solidFill>
              </a:rPr>
              <a:t>•  Recolectar información del sistema comprometido y credenciales mediante módulos post.</a:t>
            </a:r>
          </a:p>
          <a:p>
            <a:pPr>
              <a:spcAft>
                <a:spcPts val="600"/>
              </a:spcAft>
            </a:pPr>
            <a:r>
              <a:rPr sz="1500">
                <a:solidFill>
                  <a:srgbClr val="22282E"/>
                </a:solidFill>
              </a:rPr>
              <a:t>•  Intentar elevar privilegios con getsystem y evaluar honestamente cuándo esta técnica funciona y cuándo no.</a:t>
            </a:r>
          </a:p>
          <a:p>
            <a:pPr>
              <a:spcAft>
                <a:spcPts val="600"/>
              </a:spcAft>
            </a:pPr>
            <a:r>
              <a:rPr sz="1500">
                <a:solidFill>
                  <a:srgbClr val="22282E"/>
                </a:solidFill>
              </a:rPr>
              <a:t>•  Documentar el loot obtenido (hashes, archivos, capturas) como evidencia reproducible para un informe de pentesting.</a:t>
            </a:r>
          </a:p>
          <a:p>
            <a:pPr>
              <a:spcAft>
                <a:spcPts val="600"/>
              </a:spcAft>
            </a:pPr>
            <a:r>
              <a:rPr sz="1500">
                <a:solidFill>
                  <a:srgbClr val="22282E"/>
                </a:solidFill>
              </a:rPr>
              <a:t>•  Justificar el tratamiento seguro y confidencial de las credenciales extraídas durante un engagement.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Arquitectura de Meterpreter (ejecución en memoria)</a:t>
            </a:r>
          </a:p>
          <a:p>
            <a:pPr>
              <a:spcAft>
                <a:spcPts val="600"/>
              </a:spcAft>
            </a:pPr>
            <a:r>
              <a:rPr sz="1500">
                <a:solidFill>
                  <a:srgbClr val="22282E"/>
                </a:solidFill>
              </a:rPr>
              <a:t>•  2 — Comandos de sistema, archivos y procesos</a:t>
            </a:r>
          </a:p>
          <a:p>
            <a:pPr>
              <a:spcAft>
                <a:spcPts val="600"/>
              </a:spcAft>
            </a:pPr>
            <a:r>
              <a:rPr sz="1500">
                <a:solidFill>
                  <a:srgbClr val="22282E"/>
                </a:solidFill>
              </a:rPr>
              <a:t>•  3 — migrate y estabilidad de la sesión</a:t>
            </a:r>
          </a:p>
          <a:p>
            <a:pPr>
              <a:spcAft>
                <a:spcPts val="600"/>
              </a:spcAft>
            </a:pPr>
            <a:r>
              <a:rPr sz="1500">
                <a:solidFill>
                  <a:srgbClr val="22282E"/>
                </a:solidFill>
              </a:rPr>
              <a:t>•  4 — Recolección de credenciales (hashdump, kiwi)</a:t>
            </a:r>
          </a:p>
          <a:p>
            <a:pPr>
              <a:spcAft>
                <a:spcPts val="600"/>
              </a:spcAft>
            </a:pPr>
            <a:r>
              <a:rPr sz="1500">
                <a:solidFill>
                  <a:srgbClr val="22282E"/>
                </a:solidFill>
              </a:rPr>
              <a:t>•  5 — Módulos post</a:t>
            </a:r>
          </a:p>
          <a:p>
            <a:pPr>
              <a:spcAft>
                <a:spcPts val="600"/>
              </a:spcAft>
            </a:pPr>
            <a:r>
              <a:rPr sz="1500">
                <a:solidFill>
                  <a:srgbClr val="22282E"/>
                </a:solidFill>
              </a:rPr>
              <a:t>•  6 — getsystem y elevación de privilegios</a:t>
            </a:r>
          </a:p>
          <a:p>
            <a:pPr>
              <a:spcAft>
                <a:spcPts val="600"/>
              </a:spcAft>
            </a:pPr>
            <a:r>
              <a:rPr sz="1500">
                <a:solidFill>
                  <a:srgbClr val="22282E"/>
                </a:solidFill>
              </a:rPr>
              <a:t>•  7 — Loot y evidencias en la base de datos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Meterpreter: payload avanzado que se inyecta en memoria y expone un intérprete de comandos extensible mediante extensiones (stdapi, priv, kiwi). Característica clave: no escribe en disco por defecto, lo que dificulta su detección por antivirus tradicionales basados en archivos.</a:t>
            </a:r>
          </a:p>
          <a:p>
            <a:pPr>
              <a:spcAft>
                <a:spcPts val="600"/>
              </a:spcAft>
            </a:pPr>
            <a:r>
              <a:rPr sz="1500">
                <a:solidFill>
                  <a:srgbClr val="22282E"/>
                </a:solidFill>
              </a:rPr>
              <a:t>•  migrate: comando que mueve la sesión de Meterpreter a otro proceso en ejecución. Característica clave: aporta estabilidad y en ocasiones permite heredar el contexto de privilegios de un proceso más privilegiado.</a:t>
            </a:r>
          </a:p>
          <a:p>
            <a:pPr>
              <a:spcAft>
                <a:spcPts val="600"/>
              </a:spcAft>
            </a:pPr>
            <a:r>
              <a:rPr sz="1500">
                <a:solidFill>
                  <a:srgbClr val="22282E"/>
                </a:solidFill>
              </a:rPr>
              <a:t>•  hashdump: comando que vuelca los hashes de contraseñas almacenados localmente (SAM en Windows, /etc/shadow equivalente en Linux vía módulos). Característica clave: requiere privilegios elevados (SYSTEM o root) para ejecutarse con éxito.</a:t>
            </a:r>
          </a:p>
          <a:p>
            <a:pPr>
              <a:spcAft>
                <a:spcPts val="600"/>
              </a:spcAft>
            </a:pPr>
            <a:r>
              <a:rPr sz="1500">
                <a:solidFill>
                  <a:srgbClr val="22282E"/>
                </a:solidFill>
              </a:rPr>
              <a:t>•  kiwi (integración de Mimikatz): extensión de Meterpreter que extrae credenciales en texto claro y tickets Kerberos de la memoria de procesos Windows. Característica clave: solo funciona si la arquitectura del proceso migrado coincide con la del payload cargado.</a:t>
            </a:r>
          </a:p>
          <a:p>
            <a:pPr>
              <a:spcAft>
                <a:spcPts val="600"/>
              </a:spcAft>
            </a:pPr>
            <a:r>
              <a:rPr sz="1500">
                <a:solidFill>
                  <a:srgbClr val="22282E"/>
                </a:solidFill>
              </a:rPr>
              <a:t>•  Módulo post: script que se ejecuta sobre una sesión ya establecida para automatizar tareas de post-explotación. Característica clave: post/multi/recon/localexploitsuggester analiza el sistema y sugiere rutas de escalada de privilegios conocidas.</a:t>
            </a:r>
          </a:p>
          <a:p>
            <a:pPr>
              <a:spcAft>
                <a:spcPts val="600"/>
              </a:spcAft>
            </a:pPr>
            <a:r>
              <a:rPr sz="1500">
                <a:solidFill>
                  <a:srgbClr val="22282E"/>
                </a:solidFill>
              </a:rPr>
              <a:t>•  Loot: conjunto de datos extraídos del objetivo (hashes, archivos, capturas de pantalla) almacenados y catalogados por Metasploit. Característica clave: queda registrado en la base de datos del workspace y sirve como evidencia verificable para el informe final.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Una sesión de Meterpreter activa, obtenida en la clase anterior contra Metasploitable2/3 o, idealmente, contra una VM Windows de laboratorio propia con un servicio deliberadamente vulnerable (para poder practicar hashdump y kiwi, que son específicos de Windows).</a:t>
            </a:r>
          </a:p>
          <a:p>
            <a:pPr>
              <a:spcAft>
                <a:spcPts val="600"/>
              </a:spcAft>
            </a:pPr>
            <a:r>
              <a:rPr sz="1500">
                <a:solidFill>
                  <a:srgbClr val="22282E"/>
                </a:solidFill>
              </a:rPr>
              <a:t>•  Confirmar que la sesión sigue activa con sessions -l antes de iniciar el laboratorio.</a:t>
            </a:r>
          </a:p>
          <a:p>
            <a:pPr>
              <a:spcAft>
                <a:spcPts val="600"/>
              </a:spcAft>
            </a:pPr>
            <a:r>
              <a:rPr sz="1500">
                <a:solidFill>
                  <a:srgbClr val="22282E"/>
                </a:solidFill>
              </a:rPr>
              <a:t>•  Espacio en disco local (loot/) para almacenar los archivos descargados durante la práctica.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 una sesión Meterpreter activa (confirmada con sessions -i 1):</a:t>
            </a:r>
          </a:p>
          <a:p>
            <a:pPr>
              <a:spcAft>
                <a:spcPts val="600"/>
              </a:spcAft>
            </a:pPr>
            <a:r>
              <a:rPr sz="1500">
                <a:solidFill>
                  <a:srgbClr val="22282E"/>
                </a:solidFill>
              </a:rPr>
              <a:t>•  Reconoce el sistema comprometido: sysinfo, getuid, ps.</a:t>
            </a:r>
          </a:p>
          <a:p>
            <a:pPr>
              <a:spcAft>
                <a:spcPts val="600"/>
              </a:spcAft>
            </a:pPr>
            <a:r>
              <a:rPr sz="1500">
                <a:solidFill>
                  <a:srgbClr val="22282E"/>
                </a:solidFill>
              </a:rPr>
              <a:t>•  Explora el sistema de archivos remoto: pwd, ls, y descarga un archivo de interés: download /etc/passwd loot/passwd (o su equivalente en Windows).</a:t>
            </a:r>
          </a:p>
          <a:p>
            <a:pPr>
              <a:spcAft>
                <a:spcPts val="600"/>
              </a:spcAft>
            </a:pPr>
            <a:r>
              <a:rPr sz="1500">
                <a:solidFill>
                  <a:srgbClr val="22282E"/>
                </a:solidFill>
              </a:rPr>
              <a:t>•  Migra la sesión a un proceso más estable para evitar perderla si el servicio original se cierra: migrate -N explorer.exe (Windows) o al PID de un proceso persistente en Linux.</a:t>
            </a:r>
          </a:p>
          <a:p>
            <a:pPr>
              <a:spcAft>
                <a:spcPts val="600"/>
              </a:spcAft>
            </a:pPr>
            <a:r>
              <a:rPr sz="1500">
                <a:solidFill>
                  <a:srgbClr val="22282E"/>
                </a:solidFill>
              </a:rPr>
              <a:t>•  Ejecuta un módulo post de reconocimiento desde msfconsole (con la sesión en background, background primero): run post/multi/recon/localexploitsuggester.</a:t>
            </a:r>
          </a:p>
          <a:p>
            <a:pPr>
              <a:spcAft>
                <a:spcPts val="600"/>
              </a:spcAft>
            </a:pPr>
            <a:r>
              <a:rPr sz="1500">
                <a:solidFill>
                  <a:srgbClr val="22282E"/>
                </a:solidFill>
              </a:rPr>
              <a:t>•  Ejecuta un módulo post de enumeración de usuarios conectados (Windows): run post/windows/gather/enumloggedonusers.</a:t>
            </a:r>
          </a:p>
          <a:p>
            <a:pPr>
              <a:spcAft>
                <a:spcPts val="600"/>
              </a:spcAft>
            </a:pPr>
            <a:r>
              <a:rPr sz="1500">
                <a:solidFill>
                  <a:srgbClr val="22282E"/>
                </a:solidFill>
              </a:rPr>
              <a:t>•  Intenta elevar privilegios: getsystem, y si tiene éxito, vuelca los hashes locales: hashdump.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por qué Meterpreter es considerado más sigiloso que una shell de comandos tradicional.</a:t>
            </a:r>
          </a:p>
          <a:p>
            <a:pPr>
              <a:spcAft>
                <a:spcPts val="600"/>
              </a:spcAft>
            </a:pPr>
            <a:r>
              <a:rPr sz="1500">
                <a:solidFill>
                  <a:srgbClr val="22282E"/>
                </a:solidFill>
              </a:rPr>
              <a:t>•  Migra la sesión a otro proceso y demuestra que sobrevive al cierre del proceso originalmente explotado.</a:t>
            </a:r>
          </a:p>
          <a:p>
            <a:pPr>
              <a:spcAft>
                <a:spcPts val="600"/>
              </a:spcAft>
            </a:pPr>
            <a:r>
              <a:rPr sz="1500">
                <a:solidFill>
                  <a:srgbClr val="22282E"/>
                </a:solidFill>
              </a:rPr>
              <a:t>•  Ejecuta localexploitsuggester y elige una de las rutas de escalada sugeridas, explicando por qué aplicaría en ese sistema.</a:t>
            </a:r>
          </a:p>
          <a:p>
            <a:pPr>
              <a:spcAft>
                <a:spcPts val="600"/>
              </a:spcAft>
            </a:pPr>
            <a:r>
              <a:rPr sz="1500">
                <a:solidFill>
                  <a:srgbClr val="22282E"/>
                </a:solidFill>
              </a:rPr>
              <a:t>•  Descarga un archivo del objetivo con download y verifica su integridad comparándolo en tu máquina Kali.</a:t>
            </a:r>
          </a:p>
          <a:p>
            <a:pPr>
              <a:spcAft>
                <a:spcPts val="600"/>
              </a:spcAft>
            </a:pPr>
            <a:r>
              <a:rPr sz="1500">
                <a:solidFill>
                  <a:srgbClr val="22282E"/>
                </a:solidFill>
              </a:rPr>
              <a:t>•  Explica qué privilegios necesita específicamente hashdump para funcionar y qué ocurre si se ejecuta sin ellos.</a:t>
            </a:r>
          </a:p>
          <a:p>
            <a:pPr>
              <a:spcAft>
                <a:spcPts val="600"/>
              </a:spcAft>
            </a:pPr>
            <a:r>
              <a:rPr sz="1500">
                <a:solidFill>
                  <a:srgbClr val="22282E"/>
                </a:solidFill>
              </a:rPr>
              <a:t>•  Documenta tres artefactos de loot distintos (por ejemplo, hash, archivo de configuración, captura de pantalla) que incluirías como evidencia en un informe real.</a:t>
            </a:r>
          </a:p>
          <a:p>
            <a:pPr>
              <a:spcAft>
                <a:spcPts val="600"/>
              </a:spcAft>
            </a:pPr>
            <a:r>
              <a:rPr sz="1500">
                <a:solidFill>
                  <a:srgbClr val="22282E"/>
                </a:solidFill>
              </a:rPr>
              <a:t>•  Desde la perspectiva de un equipo de respuesta a incidentes, describe qué artefacto forense (proceso inyectado, conexión de red, clave de registro) permitiría detectar una sesión Meterpreter activa en el sistema comprometido.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Desde una sesión Meterpreter activa en el laboratorio propio, recolectar evidencia verificable de impacto: información del sistema, al menos un archivo descargado, y, si el nivel de privilegio obtenido lo permite, un volcado de hashes o credenciales.</a:t>
            </a:r>
          </a:p>
          <a:p>
            <a:pPr>
              <a:spcAft>
                <a:spcPts val="600"/>
              </a:spcAft>
            </a:pPr>
            <a:r>
              <a:rPr sz="1500">
                <a:solidFill>
                  <a:srgbClr val="22282E"/>
                </a:solidFill>
              </a:rPr>
              <a:t>•  Criterio de aceptación: se presenta la salida de sysinfo/getuid del objetivo, un archivo efectivamente descargado a la máquina atacante, y al menos una entrada visible en loot o creds dentro del workspace de Metasploit. Se documenta explícitamente si hubo elevación exitosa con getsystem y, si no la hubo, se explica por qué. Todo el ejercicio se realiza en un entorno propio o autorizado.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getsystem falla en todos los intentos — No existe una ruta de escalada conocida disponible; ejecutar localexploitsuggester para identificar alternativas</a:t>
            </a:r>
          </a:p>
          <a:p>
            <a:pPr>
              <a:spcAft>
                <a:spcPts val="600"/>
              </a:spcAft>
            </a:pPr>
            <a:r>
              <a:rPr sz="1500">
                <a:solidFill>
                  <a:srgbClr val="22282E"/>
                </a:solidFill>
              </a:rPr>
              <a:t>•  hashdump devuelve "Insufficient privileges" — La sesión no corre como SYSTEM/root; intentar elevar primero con getsystem o un exploit local</a:t>
            </a:r>
          </a:p>
          <a:p>
            <a:pPr>
              <a:spcAft>
                <a:spcPts val="600"/>
              </a:spcAft>
            </a:pPr>
            <a:r>
              <a:rPr sz="1500">
                <a:solidFill>
                  <a:srgbClr val="22282E"/>
                </a:solidFill>
              </a:rPr>
              <a:t>•  La sesión Meterpreter se cae al detener el servicio explotado — No se realizó migrate; migrar a un proceso estable apenas se obtiene la sesión</a:t>
            </a:r>
          </a:p>
          <a:p>
            <a:pPr>
              <a:spcAft>
                <a:spcPts val="600"/>
              </a:spcAft>
            </a:pPr>
            <a:r>
              <a:rPr sz="1500">
                <a:solidFill>
                  <a:srgbClr val="22282E"/>
                </a:solidFill>
              </a:rPr>
              <a:t>•  load kiwi falla con error de arquitectura — El proceso migrado no coincide en arquitectura (x86 vs x64) con el payload cargado; migrar a un proceso de la arquitectura correcta</a:t>
            </a:r>
          </a:p>
          <a:p>
            <a:pPr>
              <a:spcAft>
                <a:spcPts val="600"/>
              </a:spcAft>
            </a:pPr>
            <a:r>
              <a:rPr sz="1500">
                <a:solidFill>
                  <a:srgbClr val="22282E"/>
                </a:solidFill>
              </a:rPr>
              <a:t>•  No aparece nada en loot tras ejecutar un módulo post — El módulo no guarda loot por diseño, o guardó en notes; revisar ambos comandos desde msfconsole</a:t>
            </a:r>
          </a:p>
          <a:p>
            <a:pPr>
              <a:spcAft>
                <a:spcPts val="600"/>
              </a:spcAft>
            </a:pPr>
            <a:r>
              <a:rPr sz="1500">
                <a:solidFill>
                  <a:srgbClr val="22282E"/>
                </a:solidFill>
              </a:rPr>
              <a:t>•  download falla con permisos denegados — El usuario actual no tiene acceso al archivo; intentar migrar a un proceso con más privilegios primero</a:t>
            </a:r>
          </a:p>
          <a:p>
            <a:pPr>
              <a:spcAft>
                <a:spcPts val="600"/>
              </a:spcAft>
            </a:pPr>
            <a:r>
              <a:rPr sz="1500">
                <a:solidFill>
                  <a:srgbClr val="22282E"/>
                </a:solidFill>
              </a:rPr>
              <a:t>•  La sesión se vuelve inestable tras migrate — Se migró a un proceso de corta duración (ej. un notepad.exe recién abierto); elegir un proceso del sistema estable y de larga vida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¿Meterpreter está siempre disponible tras cualquier exploit?</a:t>
            </a:r>
          </a:p>
          <a:p>
            <a:pPr>
              <a:spcAft>
                <a:spcPts val="600"/>
              </a:spcAft>
            </a:pPr>
            <a:r>
              <a:rPr sz="1500">
                <a:solidFill>
                  <a:srgbClr val="22282E"/>
                </a:solidFill>
              </a:rPr>
              <a:t>•  No. Depende del exploit y de la plataforma objetivo. En Linux, en ocasiones solo se obtiene una shell de comandos simple, que puede intentar actualizarse a Meterpreter con sessions -u &lt;id&gt;.</a:t>
            </a:r>
          </a:p>
          <a:p>
            <a:pPr>
              <a:spcAft>
                <a:spcPts val="600"/>
              </a:spcAft>
            </a:pPr>
            <a:r>
              <a:rPr sz="1500">
                <a:solidFill>
                  <a:srgbClr val="22282E"/>
                </a:solidFill>
              </a:rPr>
              <a:t>•  ❓ ¿Por qué es tan importante migrar de proceso?</a:t>
            </a:r>
          </a:p>
          <a:p>
            <a:pPr>
              <a:spcAft>
                <a:spcPts val="600"/>
              </a:spcAft>
            </a:pPr>
            <a:r>
              <a:rPr sz="1500">
                <a:solidFill>
                  <a:srgbClr val="22282E"/>
                </a:solidFill>
              </a:rPr>
              <a:t>•  Porque el proceso explotado inicialmente puede cerrarse (perdiendo la sesión) o pertenecer a un contexto de poco valor. Migrar a un proceso estable como explorer.exe en Windows mantiene el acceso durante toda la evaluación.</a:t>
            </a:r>
          </a:p>
          <a:p>
            <a:pPr>
              <a:spcAft>
                <a:spcPts val="600"/>
              </a:spcAft>
            </a:pPr>
            <a:r>
              <a:rPr sz="1500">
                <a:solidFill>
                  <a:srgbClr val="22282E"/>
                </a:solidFill>
              </a:rPr>
              <a:t>•  ❓ ¿getsystem es en sí mismo un exploit?</a:t>
            </a:r>
          </a:p>
          <a:p>
            <a:pPr>
              <a:spcAft>
                <a:spcPts val="600"/>
              </a:spcAft>
            </a:pPr>
            <a:r>
              <a:rPr sz="1500">
                <a:solidFill>
                  <a:srgbClr val="22282E"/>
                </a:solidFill>
              </a:rPr>
              <a:t>•  No exactamente; usa varias técnicas conocidas de elevación local (impersonación de named pipes, duplicación de tokens) que funcionan solo si el sistema es susceptible a ellas. Si fallan, se requiere un exploit local específico sugerido por localexploitsuggester.</a:t>
            </a:r>
          </a:p>
          <a:p>
            <a:pPr>
              <a:spcAft>
                <a:spcPts val="600"/>
              </a:spcAft>
            </a:pPr>
            <a:r>
              <a:rPr sz="1500">
                <a:solidFill>
                  <a:srgbClr val="22282E"/>
                </a:solidFill>
              </a:rPr>
              <a:t>•  ❓ ¿Cómo debo tratar las credenciales que extraigo durante un pentest real?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Kennedy, D. et al. "Metasploit: The Penetration Tester's Guide" (No Starch Press) — capítulo dedicado a Meterpreter y post-explotación.</a:t>
            </a:r>
          </a:p>
          <a:p>
            <a:pPr>
              <a:spcAft>
                <a:spcPts val="600"/>
              </a:spcAft>
            </a:pPr>
            <a:r>
              <a:rPr sz="1500">
                <a:solidFill>
                  <a:srgbClr val="22282E"/>
                </a:solidFill>
              </a:rPr>
              <a:t>•  Rapid7, documentación oficial de Meterpreter: &lt;https://docs.metasploit.com/docs/using-metasploit/advanced/meterpreter/meterpreter.html&gt;</a:t>
            </a:r>
          </a:p>
          <a:p>
            <a:pPr>
              <a:spcAft>
                <a:spcPts val="600"/>
              </a:spcAft>
            </a:pPr>
            <a:r>
              <a:rPr sz="1500">
                <a:solidFill>
                  <a:srgbClr val="22282E"/>
                </a:solidFill>
              </a:rPr>
              <a:t>•  MITRE ATT&amp;CK, táctica TA0006 (Credential Access): &lt;https://attack.mitre.org/tactics/TA0006/&gt;</a:t>
            </a:r>
          </a:p>
          <a:p>
            <a:pPr>
              <a:spcAft>
                <a:spcPts val="600"/>
              </a:spcAft>
            </a:pPr>
            <a:r>
              <a:rPr sz="1500">
                <a:solidFill>
                  <a:srgbClr val="22282E"/>
                </a:solidFill>
              </a:rPr>
              <a:t>•  MITRE ATT&amp;CK, táctica TA0004 (Privilege Escalation): &lt;https://attack.mitre.org/tactics/TA0004/&gt;</a:t>
            </a:r>
          </a:p>
          <a:p>
            <a:pPr>
              <a:spcAft>
                <a:spcPts val="600"/>
              </a:spcAft>
            </a:pPr>
            <a:r>
              <a:rPr sz="1500">
                <a:solidFill>
                  <a:srgbClr val="22282E"/>
                </a:solidFill>
              </a:rPr>
              <a:t>•  Kim, P. "The Hacker Playbook 3" (2018) — metodología de post-explotación en engagements reales.</a:t>
            </a:r>
          </a:p>
          <a:p>
            <a:pPr>
              <a:spcAft>
                <a:spcPts val="600"/>
              </a:spcAft>
            </a:pPr>
            <a:r>
              <a:rPr sz="1500">
                <a:solidFill>
                  <a:srgbClr val="22282E"/>
                </a:solidFill>
              </a:rPr>
              <a:t>•  MITRE ATT&amp;CK, técnica T1055 (Process Injection), relevante para detección de Meterpreter: &lt;https://attack.mitre.org/techniques/T1055/&gt;</a:t>
            </a:r>
          </a:p>
          <a:p>
            <a:pPr>
              <a:spcAft>
                <a:spcPts val="600"/>
              </a:spcAft>
            </a:pPr>
            <a:r>
              <a:rPr sz="1500">
                <a:solidFill>
                  <a:srgbClr val="22282E"/>
                </a:solidFill>
              </a:rPr>
              <a:t>•  MITRE ATT&amp;CK, técnica T1003 (OS Credential Dumping), relevante para hashdump y kiwi: &lt;https://attack.mitre.org/techniques/T1003/&gt;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